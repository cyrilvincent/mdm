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7"/>
  </p:notesMasterIdLst>
  <p:handoutMasterIdLst>
    <p:handoutMasterId r:id="rId48"/>
  </p:handoutMasterIdLst>
  <p:sldIdLst>
    <p:sldId id="264" r:id="rId2"/>
    <p:sldId id="449" r:id="rId3"/>
    <p:sldId id="353" r:id="rId4"/>
    <p:sldId id="550" r:id="rId5"/>
    <p:sldId id="552" r:id="rId6"/>
    <p:sldId id="257" r:id="rId7"/>
    <p:sldId id="258" r:id="rId8"/>
    <p:sldId id="259" r:id="rId9"/>
    <p:sldId id="263" r:id="rId10"/>
    <p:sldId id="265" r:id="rId11"/>
    <p:sldId id="269" r:id="rId12"/>
    <p:sldId id="275" r:id="rId13"/>
    <p:sldId id="281" r:id="rId14"/>
    <p:sldId id="287" r:id="rId15"/>
    <p:sldId id="293" r:id="rId16"/>
    <p:sldId id="299" r:id="rId17"/>
    <p:sldId id="305" r:id="rId18"/>
    <p:sldId id="256" r:id="rId19"/>
    <p:sldId id="553" r:id="rId20"/>
    <p:sldId id="554" r:id="rId21"/>
    <p:sldId id="260" r:id="rId22"/>
    <p:sldId id="556" r:id="rId23"/>
    <p:sldId id="558" r:id="rId24"/>
    <p:sldId id="266" r:id="rId25"/>
    <p:sldId id="559" r:id="rId26"/>
    <p:sldId id="271" r:id="rId27"/>
    <p:sldId id="272" r:id="rId28"/>
    <p:sldId id="274" r:id="rId29"/>
    <p:sldId id="560" r:id="rId30"/>
    <p:sldId id="276" r:id="rId31"/>
    <p:sldId id="277" r:id="rId32"/>
    <p:sldId id="278" r:id="rId33"/>
    <p:sldId id="280" r:id="rId34"/>
    <p:sldId id="561" r:id="rId35"/>
    <p:sldId id="282" r:id="rId36"/>
    <p:sldId id="283" r:id="rId37"/>
    <p:sldId id="284" r:id="rId38"/>
    <p:sldId id="286" r:id="rId39"/>
    <p:sldId id="562" r:id="rId40"/>
    <p:sldId id="288" r:id="rId41"/>
    <p:sldId id="289" r:id="rId42"/>
    <p:sldId id="290" r:id="rId43"/>
    <p:sldId id="563" r:id="rId44"/>
    <p:sldId id="300" r:id="rId45"/>
    <p:sldId id="301" r:id="rId46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1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1956" y="-1386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BDEA8-EB22-42D4-B8E2-0C26FFC92FC1}" type="datetimeFigureOut">
              <a:rPr lang="fr-FR" smtClean="0"/>
              <a:t>30/12/2025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B6F03-2704-4FB7-B539-03DC9F576B43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0" y="0"/>
            <a:ext cx="4550228" cy="7674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3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4634" y="29354"/>
            <a:ext cx="4284966" cy="72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>
              <a:defRPr sz="1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fr-FR" dirty="0"/>
              <a:t>Ecran xx</a:t>
            </a:r>
            <a:br>
              <a:rPr lang="fr-FR" dirty="0"/>
            </a:br>
            <a:r>
              <a:rPr lang="fr-FR" dirty="0"/>
              <a:t>Titre de l’écran</a:t>
            </a:r>
          </a:p>
        </p:txBody>
      </p:sp>
      <p:sp>
        <p:nvSpPr>
          <p:cNvPr id="7" name="Rectangle 6"/>
          <p:cNvSpPr/>
          <p:nvPr userDrawn="1"/>
        </p:nvSpPr>
        <p:spPr bwMode="auto">
          <a:xfrm>
            <a:off x="4550229" y="0"/>
            <a:ext cx="4593772" cy="7674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3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Espace réservé du texte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0" y="62245"/>
            <a:ext cx="4572000" cy="65781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350" baseline="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825"/>
            </a:lvl2pPr>
            <a:lvl3pPr>
              <a:defRPr sz="788"/>
            </a:lvl3pPr>
            <a:lvl4pPr>
              <a:defRPr sz="675"/>
            </a:lvl4pPr>
            <a:lvl5pPr>
              <a:defRPr sz="600"/>
            </a:lvl5pPr>
          </a:lstStyle>
          <a:p>
            <a:pPr lvl="0"/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631817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/>
              <a:t>MDM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7</a:t>
            </a:r>
          </a:p>
          <a:p>
            <a:pPr eaLnBrk="1" hangingPunct="1"/>
            <a:r>
              <a:rPr lang="fr-FR" altLang="fr-FR"/>
              <a:t>Le légal</a:t>
            </a:r>
            <a:endParaRPr lang="fr-FR" alt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2051720" y="2132856"/>
            <a:ext cx="55194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Master Data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à coins arrondis 35"/>
          <p:cNvSpPr/>
          <p:nvPr/>
        </p:nvSpPr>
        <p:spPr>
          <a:xfrm rot="21216247">
            <a:off x="5505724" y="5441060"/>
            <a:ext cx="1859775" cy="29097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BCBS-239</a:t>
            </a:r>
          </a:p>
        </p:txBody>
      </p:sp>
      <p:sp>
        <p:nvSpPr>
          <p:cNvPr id="47" name="Titre 46"/>
          <p:cNvSpPr>
            <a:spLocks noGrp="1"/>
          </p:cNvSpPr>
          <p:nvPr>
            <p:ph type="title"/>
          </p:nvPr>
        </p:nvSpPr>
        <p:spPr>
          <a:xfrm>
            <a:off x="11802" y="879266"/>
            <a:ext cx="4628627" cy="542700"/>
          </a:xfrm>
        </p:spPr>
        <p:txBody>
          <a:bodyPr/>
          <a:lstStyle/>
          <a:p>
            <a:r>
              <a:rPr lang="fr-FR" sz="1500" b="1" dirty="0">
                <a:latin typeface="+mn-lt"/>
              </a:rPr>
              <a:t>Ecran n°17</a:t>
            </a:r>
            <a:br>
              <a:rPr lang="fr-FR" sz="1500" dirty="0">
                <a:latin typeface="+mn-lt"/>
              </a:rPr>
            </a:br>
            <a:r>
              <a:rPr lang="fr-FR" sz="1500" dirty="0">
                <a:latin typeface="+mn-lt"/>
              </a:rPr>
              <a:t>Règle 1 : Respect des contraintes qualité / réglementaires</a:t>
            </a:r>
          </a:p>
        </p:txBody>
      </p:sp>
      <p:sp>
        <p:nvSpPr>
          <p:cNvPr id="48" name="Espace réservé du texte 4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b="1" dirty="0"/>
              <a:t>Message clé :</a:t>
            </a:r>
          </a:p>
        </p:txBody>
      </p:sp>
      <p:sp>
        <p:nvSpPr>
          <p:cNvPr id="50" name="Espace réservé du texte 11"/>
          <p:cNvSpPr txBox="1">
            <a:spLocks/>
          </p:cNvSpPr>
          <p:nvPr/>
        </p:nvSpPr>
        <p:spPr>
          <a:xfrm>
            <a:off x="6593482" y="1953938"/>
            <a:ext cx="2455916" cy="3888969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5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4313" indent="-214313" algn="l"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6553404" y="1460730"/>
            <a:ext cx="249599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b="1" dirty="0">
                <a:solidFill>
                  <a:schemeClr val="bg1"/>
                </a:solidFill>
                <a:latin typeface="Calibri" panose="020F0502020204030204" pitchFamily="34" charset="0"/>
              </a:rPr>
              <a:t>Notes pour la mise en œuvre (explication animation, images, effets…) :</a:t>
            </a:r>
          </a:p>
        </p:txBody>
      </p:sp>
      <p:grpSp>
        <p:nvGrpSpPr>
          <p:cNvPr id="2" name="Groupe 1"/>
          <p:cNvGrpSpPr/>
          <p:nvPr/>
        </p:nvGrpSpPr>
        <p:grpSpPr>
          <a:xfrm>
            <a:off x="1030739" y="1619035"/>
            <a:ext cx="4501289" cy="414060"/>
            <a:chOff x="1374319" y="1015713"/>
            <a:chExt cx="6001718" cy="552080"/>
          </a:xfrm>
        </p:grpSpPr>
        <p:grpSp>
          <p:nvGrpSpPr>
            <p:cNvPr id="105" name="Groupe 104"/>
            <p:cNvGrpSpPr/>
            <p:nvPr/>
          </p:nvGrpSpPr>
          <p:grpSpPr>
            <a:xfrm>
              <a:off x="1374319" y="1015713"/>
              <a:ext cx="6001718" cy="552080"/>
              <a:chOff x="3755565" y="529120"/>
              <a:chExt cx="6001718" cy="552080"/>
            </a:xfrm>
          </p:grpSpPr>
          <p:sp>
            <p:nvSpPr>
              <p:cNvPr id="106" name="Pentagone 105"/>
              <p:cNvSpPr/>
              <p:nvPr/>
            </p:nvSpPr>
            <p:spPr>
              <a:xfrm>
                <a:off x="3755565" y="667723"/>
                <a:ext cx="6001718" cy="288000"/>
              </a:xfrm>
              <a:prstGeom prst="homePlat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123" name="Ellipse 122"/>
              <p:cNvSpPr/>
              <p:nvPr/>
            </p:nvSpPr>
            <p:spPr>
              <a:xfrm>
                <a:off x="5381632" y="529121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121" name="Ellipse 120"/>
              <p:cNvSpPr/>
              <p:nvPr/>
            </p:nvSpPr>
            <p:spPr>
              <a:xfrm>
                <a:off x="4264756" y="52912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117" name="Ellipse 116"/>
              <p:cNvSpPr/>
              <p:nvPr/>
            </p:nvSpPr>
            <p:spPr>
              <a:xfrm>
                <a:off x="6498508" y="529122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115" name="Ellipse 114"/>
              <p:cNvSpPr/>
              <p:nvPr/>
            </p:nvSpPr>
            <p:spPr>
              <a:xfrm>
                <a:off x="8732261" y="529120"/>
                <a:ext cx="551453" cy="54903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  <p:sp>
            <p:nvSpPr>
              <p:cNvPr id="113" name="Ellipse 112"/>
              <p:cNvSpPr/>
              <p:nvPr/>
            </p:nvSpPr>
            <p:spPr>
              <a:xfrm>
                <a:off x="7615384" y="532170"/>
                <a:ext cx="551453" cy="549030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800"/>
              </a:p>
            </p:txBody>
          </p:sp>
        </p:grpSp>
        <p:pic>
          <p:nvPicPr>
            <p:cNvPr id="26" name="Image 25"/>
            <p:cNvPicPr>
              <a:picLocks noChangeAspect="1"/>
            </p:cNvPicPr>
            <p:nvPr/>
          </p:nvPicPr>
          <p:blipFill>
            <a:blip r:embed="rId2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3094" y="1135025"/>
              <a:ext cx="358992" cy="358992"/>
            </a:xfrm>
            <a:prstGeom prst="rect">
              <a:avLst/>
            </a:prstGeom>
          </p:spPr>
        </p:pic>
        <p:pic>
          <p:nvPicPr>
            <p:cNvPr id="27" name="Image 26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20142" y="1118643"/>
              <a:ext cx="358992" cy="358992"/>
            </a:xfrm>
            <a:prstGeom prst="rect">
              <a:avLst/>
            </a:prstGeom>
          </p:spPr>
        </p:pic>
        <p:pic>
          <p:nvPicPr>
            <p:cNvPr id="28" name="Image 27"/>
            <p:cNvPicPr>
              <a:picLocks noChangeAspect="1"/>
            </p:cNvPicPr>
            <p:nvPr/>
          </p:nvPicPr>
          <p:blipFill>
            <a:blip r:embed="rId4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46684" y="1140670"/>
              <a:ext cx="327273" cy="327273"/>
            </a:xfrm>
            <a:prstGeom prst="rect">
              <a:avLst/>
            </a:prstGeom>
          </p:spPr>
        </p:pic>
        <p:pic>
          <p:nvPicPr>
            <p:cNvPr id="29" name="Image 28"/>
            <p:cNvPicPr>
              <a:picLocks noChangeAspect="1"/>
            </p:cNvPicPr>
            <p:nvPr/>
          </p:nvPicPr>
          <p:blipFill>
            <a:blip r:embed="rId6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3553" y="1150920"/>
              <a:ext cx="297521" cy="297521"/>
            </a:xfrm>
            <a:prstGeom prst="rect">
              <a:avLst/>
            </a:prstGeom>
          </p:spPr>
        </p:pic>
        <p:pic>
          <p:nvPicPr>
            <p:cNvPr id="30" name="Image 29"/>
            <p:cNvPicPr>
              <a:picLocks noChangeAspect="1"/>
            </p:cNvPicPr>
            <p:nvPr/>
          </p:nvPicPr>
          <p:blipFill>
            <a:blip r:embed="rId7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0062" y="1167848"/>
              <a:ext cx="288000" cy="288000"/>
            </a:xfrm>
            <a:prstGeom prst="rect">
              <a:avLst/>
            </a:prstGeom>
          </p:spPr>
        </p:pic>
      </p:grpSp>
      <p:sp>
        <p:nvSpPr>
          <p:cNvPr id="39" name="Rectangle 38"/>
          <p:cNvSpPr/>
          <p:nvPr/>
        </p:nvSpPr>
        <p:spPr>
          <a:xfrm>
            <a:off x="1316935" y="2631604"/>
            <a:ext cx="6495425" cy="1256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L’ensemble des contraintes réglementaires et qualité </a:t>
            </a:r>
            <a:b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</a:br>
            <a: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sur l’ensemble des activités </a:t>
            </a:r>
            <a:b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</a:br>
            <a: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s’appliquent aussi aux espaces et </a:t>
            </a:r>
            <a:b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</a:br>
            <a:r>
              <a:rPr lang="fr-FR" sz="1800" dirty="0">
                <a:solidFill>
                  <a:schemeClr val="tx1">
                    <a:lumMod val="75000"/>
                    <a:lumOff val="25000"/>
                  </a:schemeClr>
                </a:solidFill>
                <a:ea typeface="Yu Gothic Light" panose="020B0300000000000000" pitchFamily="34" charset="-128"/>
                <a:cs typeface="Times New Roman" panose="02020603050405020304" pitchFamily="18" charset="0"/>
              </a:rPr>
              <a:t>doivent être respectées lors des expérimentations.</a:t>
            </a:r>
            <a:endParaRPr lang="fr-FR" sz="1800" b="1" dirty="0">
              <a:solidFill>
                <a:schemeClr val="tx1">
                  <a:lumMod val="75000"/>
                  <a:lumOff val="25000"/>
                </a:schemeClr>
              </a:solidFill>
              <a:ea typeface="Yu Gothic Light" panose="020B0300000000000000" pitchFamily="34" charset="-128"/>
              <a:cs typeface="Times New Roman" panose="02020603050405020304" pitchFamily="18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89" y="2301419"/>
            <a:ext cx="435743" cy="435743"/>
          </a:xfrm>
          <a:prstGeom prst="rect">
            <a:avLst/>
          </a:prstGeom>
        </p:spPr>
      </p:pic>
      <p:pic>
        <p:nvPicPr>
          <p:cNvPr id="32" name="Image 31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631" y="3225092"/>
            <a:ext cx="1273428" cy="2205578"/>
          </a:xfrm>
          <a:prstGeom prst="rect">
            <a:avLst/>
          </a:prstGeom>
        </p:spPr>
      </p:pic>
      <p:sp>
        <p:nvSpPr>
          <p:cNvPr id="34" name="Rectangle à coins arrondis 33"/>
          <p:cNvSpPr/>
          <p:nvPr/>
        </p:nvSpPr>
        <p:spPr>
          <a:xfrm>
            <a:off x="4575837" y="4969390"/>
            <a:ext cx="1859775" cy="290975"/>
          </a:xfrm>
          <a:prstGeom prst="roundRect">
            <a:avLst/>
          </a:prstGeom>
          <a:solidFill>
            <a:schemeClr val="accent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GDPR</a:t>
            </a:r>
          </a:p>
        </p:txBody>
      </p:sp>
      <p:sp>
        <p:nvSpPr>
          <p:cNvPr id="11" name="Rectangle à coins arrondis 10"/>
          <p:cNvSpPr/>
          <p:nvPr/>
        </p:nvSpPr>
        <p:spPr>
          <a:xfrm rot="21000814">
            <a:off x="3011114" y="4904924"/>
            <a:ext cx="1859775" cy="642482"/>
          </a:xfrm>
          <a:prstGeom prst="round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Loi informatique et liberté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5016768" y="5177465"/>
            <a:ext cx="55262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FR" dirty="0">
                <a:solidFill>
                  <a:schemeClr val="accent5"/>
                </a:solidFill>
              </a:rPr>
              <a:t>…</a:t>
            </a:r>
          </a:p>
        </p:txBody>
      </p:sp>
      <p:sp>
        <p:nvSpPr>
          <p:cNvPr id="31" name="Rectangle à coins arrondis 30"/>
          <p:cNvSpPr/>
          <p:nvPr/>
        </p:nvSpPr>
        <p:spPr>
          <a:xfrm rot="522570">
            <a:off x="3512844" y="5842925"/>
            <a:ext cx="1859775" cy="29097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Ethique</a:t>
            </a:r>
          </a:p>
        </p:txBody>
      </p:sp>
    </p:spTree>
    <p:extLst>
      <p:ext uri="{BB962C8B-B14F-4D97-AF65-F5344CB8AC3E}">
        <p14:creationId xmlns:p14="http://schemas.microsoft.com/office/powerpoint/2010/main" val="2198115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85413E-F970-0CAC-863D-C181F355F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droit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135D29-15C3-E1A3-8E81-FEF6C3E0D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Au niveau mondial</a:t>
            </a:r>
          </a:p>
          <a:p>
            <a:pPr lvl="1"/>
            <a:r>
              <a:rPr lang="fr-FR" dirty="0"/>
              <a:t>Les droits de l'homme</a:t>
            </a:r>
          </a:p>
          <a:p>
            <a:pPr lvl="1"/>
            <a:r>
              <a:rPr lang="fr-FR" dirty="0"/>
              <a:t>Les droits d'auteurs</a:t>
            </a:r>
          </a:p>
          <a:p>
            <a:r>
              <a:rPr lang="fr-FR" dirty="0"/>
              <a:t>Au niveau européen</a:t>
            </a:r>
          </a:p>
          <a:p>
            <a:pPr lvl="1"/>
            <a:r>
              <a:rPr lang="fr-FR" dirty="0"/>
              <a:t>RGPD, AI </a:t>
            </a:r>
            <a:r>
              <a:rPr lang="fr-FR" dirty="0" err="1"/>
              <a:t>Act</a:t>
            </a:r>
            <a:endParaRPr lang="fr-FR" dirty="0"/>
          </a:p>
          <a:p>
            <a:r>
              <a:rPr lang="fr-FR" dirty="0"/>
              <a:t>Au niveau français</a:t>
            </a:r>
          </a:p>
          <a:p>
            <a:pPr lvl="1"/>
            <a:r>
              <a:rPr lang="fr-FR" dirty="0"/>
              <a:t>CNIL</a:t>
            </a:r>
          </a:p>
          <a:p>
            <a:pPr lvl="1"/>
            <a:r>
              <a:rPr lang="fr-FR" dirty="0"/>
              <a:t>Tout le droit français</a:t>
            </a:r>
          </a:p>
        </p:txBody>
      </p:sp>
      <p:pic>
        <p:nvPicPr>
          <p:cNvPr id="5" name="Image 4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2D1E02AE-6BC7-C3CA-C772-CFF3F346B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658" y="866284"/>
            <a:ext cx="4921904" cy="557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916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6BA8AF-0817-FA34-B864-295B99E2A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CNIL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38BC4C-EDE8-9592-E25E-9FD654C1D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Commission nationale de l'informatique et des libertés</a:t>
            </a:r>
          </a:p>
          <a:p>
            <a:pPr lvl="1"/>
            <a:r>
              <a:rPr lang="fr-FR" dirty="0"/>
              <a:t>Plus vieille institution liée à l'informatique au monde</a:t>
            </a:r>
          </a:p>
        </p:txBody>
      </p:sp>
    </p:spTree>
    <p:extLst>
      <p:ext uri="{BB962C8B-B14F-4D97-AF65-F5344CB8AC3E}">
        <p14:creationId xmlns:p14="http://schemas.microsoft.com/office/powerpoint/2010/main" val="1654807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1CFDF1-2EA0-AB6E-EF5E-40C060A3F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RGPD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326F16-00FD-8E95-79D9-3F177DE81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Règlement général sur la protection des données</a:t>
            </a:r>
          </a:p>
          <a:p>
            <a:pPr lvl="1"/>
            <a:r>
              <a:rPr lang="fr-FR" dirty="0"/>
              <a:t>Officiellement appelé règlement UE 2016/679 du Parlement européen et du Conseil du 27 avril 2016 relatif à la protection des personnes physiques à l'égard du traitement des données à caractère personnel et à la libre circulation de ces données est un règlement de l'Union européenne qui constitue le texte de référence en matière de protection des données à caractère personnel</a:t>
            </a:r>
          </a:p>
          <a:p>
            <a:pPr lvl="1"/>
            <a:r>
              <a:rPr lang="fr-FR" dirty="0"/>
              <a:t>Il renforce et unifie la protection des données pour les individus au sein de l'Union européenne.</a:t>
            </a:r>
          </a:p>
        </p:txBody>
      </p:sp>
    </p:spTree>
    <p:extLst>
      <p:ext uri="{BB962C8B-B14F-4D97-AF65-F5344CB8AC3E}">
        <p14:creationId xmlns:p14="http://schemas.microsoft.com/office/powerpoint/2010/main" val="1944592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Introduction au RGPD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3600" dirty="0"/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Cadre </a:t>
            </a:r>
            <a:r>
              <a:rPr sz="2400" dirty="0" err="1"/>
              <a:t>juridique</a:t>
            </a:r>
            <a:r>
              <a:rPr sz="2400" dirty="0"/>
              <a:t> </a:t>
            </a:r>
            <a:r>
              <a:rPr sz="2400" dirty="0" err="1"/>
              <a:t>européen</a:t>
            </a:r>
            <a:r>
              <a:rPr sz="2400" dirty="0"/>
              <a:t> pour la protection des données.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Applicable à </a:t>
            </a:r>
            <a:r>
              <a:rPr sz="2400" dirty="0" err="1"/>
              <a:t>toutes</a:t>
            </a:r>
            <a:r>
              <a:rPr sz="2400" dirty="0"/>
              <a:t> les </a:t>
            </a:r>
            <a:r>
              <a:rPr sz="2400" dirty="0" err="1"/>
              <a:t>organisations</a:t>
            </a:r>
            <a:r>
              <a:rPr sz="2400" dirty="0"/>
              <a:t> </a:t>
            </a:r>
            <a:r>
              <a:rPr sz="2400" dirty="0" err="1"/>
              <a:t>traitant</a:t>
            </a:r>
            <a:r>
              <a:rPr sz="2400" dirty="0"/>
              <a:t> des données de </a:t>
            </a:r>
            <a:r>
              <a:rPr sz="2400" dirty="0" err="1"/>
              <a:t>résidents</a:t>
            </a:r>
            <a:r>
              <a:rPr sz="2400" dirty="0"/>
              <a:t> de </a:t>
            </a:r>
            <a:r>
              <a:rPr sz="2400" dirty="0" err="1"/>
              <a:t>l'UE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 err="1"/>
              <a:t>Objectifs</a:t>
            </a:r>
            <a:r>
              <a:rPr sz="2400" dirty="0"/>
              <a:t> : Transparence, </a:t>
            </a:r>
            <a:r>
              <a:rPr sz="2400" dirty="0" err="1"/>
              <a:t>sécurité</a:t>
            </a:r>
            <a:r>
              <a:rPr sz="2400" dirty="0"/>
              <a:t>, droits des </a:t>
            </a:r>
            <a:r>
              <a:rPr sz="2400" dirty="0" err="1"/>
              <a:t>individus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Introduction au RGPD - Schéma explicatif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19672" y="2420888"/>
            <a:ext cx="5486400" cy="2743200"/>
          </a:xfrm>
          <a:prstGeom prst="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Cycle : Collecte → Traitement → Protection → Droits des individus.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Introduction au RGPD - Exemples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3600" dirty="0"/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Sites web demandant </a:t>
            </a:r>
            <a:r>
              <a:rPr sz="2400" dirty="0" err="1"/>
              <a:t>consentement</a:t>
            </a:r>
            <a:r>
              <a:rPr sz="2400" dirty="0"/>
              <a:t> pour cookies.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Applications mobiles avec politique de </a:t>
            </a:r>
            <a:r>
              <a:rPr sz="2400" dirty="0" err="1"/>
              <a:t>confidentialité</a:t>
            </a:r>
            <a:r>
              <a:rPr sz="2400" dirty="0"/>
              <a:t> </a:t>
            </a:r>
            <a:r>
              <a:rPr sz="2400" dirty="0" err="1"/>
              <a:t>claire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Principes fondamentaux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3600" dirty="0"/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 err="1"/>
              <a:t>Licéité</a:t>
            </a:r>
            <a:r>
              <a:rPr sz="2400" dirty="0"/>
              <a:t>, </a:t>
            </a:r>
            <a:r>
              <a:rPr sz="2400" dirty="0" err="1"/>
              <a:t>loyauté</a:t>
            </a:r>
            <a:r>
              <a:rPr sz="2400" dirty="0"/>
              <a:t> et transparence</a:t>
            </a:r>
            <a:r>
              <a:rPr lang="fr-FR" sz="2400" dirty="0"/>
              <a:t> (Licéité : caractère de ce qui est licite)</a:t>
            </a:r>
            <a:endParaRPr sz="2400" dirty="0"/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Limitation des </a:t>
            </a:r>
            <a:r>
              <a:rPr sz="2400" dirty="0" err="1"/>
              <a:t>finalités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 err="1"/>
              <a:t>Minimisation</a:t>
            </a:r>
            <a:r>
              <a:rPr sz="2400" dirty="0"/>
              <a:t> des données.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Exactitude.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Limitation de la conservation.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 err="1"/>
              <a:t>Intégrité</a:t>
            </a:r>
            <a:r>
              <a:rPr sz="2400" dirty="0"/>
              <a:t> et </a:t>
            </a:r>
            <a:r>
              <a:rPr sz="2400" dirty="0" err="1"/>
              <a:t>confidentialité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Principes fondamentaux - Exemples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3600" dirty="0"/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 err="1"/>
              <a:t>Collecte</a:t>
            </a:r>
            <a:r>
              <a:rPr sz="2400" dirty="0"/>
              <a:t> </a:t>
            </a:r>
            <a:r>
              <a:rPr sz="2400" dirty="0" err="1"/>
              <a:t>uniquement</a:t>
            </a:r>
            <a:r>
              <a:rPr sz="2400" dirty="0"/>
              <a:t> des données </a:t>
            </a:r>
            <a:r>
              <a:rPr sz="2400" dirty="0" err="1"/>
              <a:t>nécessaires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Suppression des données après usage.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Droits des personnes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3600" dirty="0"/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Droit </a:t>
            </a:r>
            <a:r>
              <a:rPr sz="2400" dirty="0" err="1"/>
              <a:t>d'accès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Droit de rectification.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Droit à </a:t>
            </a:r>
            <a:r>
              <a:rPr sz="2400" dirty="0" err="1"/>
              <a:t>l'effacement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Droit à la </a:t>
            </a:r>
            <a:r>
              <a:rPr sz="2400" dirty="0" err="1"/>
              <a:t>portabilité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Droit </a:t>
            </a:r>
            <a:r>
              <a:rPr sz="2400" dirty="0" err="1"/>
              <a:t>d'opposition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Droit à la limitation du </a:t>
            </a:r>
            <a:r>
              <a:rPr sz="2400" dirty="0" err="1"/>
              <a:t>traitement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Obligations des responsables de traitement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3600" dirty="0"/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Tenue d'un </a:t>
            </a:r>
            <a:r>
              <a:rPr sz="2400" dirty="0" err="1"/>
              <a:t>registre</a:t>
            </a:r>
            <a:r>
              <a:rPr sz="2400" dirty="0"/>
              <a:t> des </a:t>
            </a:r>
            <a:r>
              <a:rPr sz="2400" dirty="0" err="1"/>
              <a:t>traitements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 err="1"/>
              <a:t>Analyse</a:t>
            </a:r>
            <a:r>
              <a:rPr sz="2400" dirty="0"/>
              <a:t> </a:t>
            </a:r>
            <a:r>
              <a:rPr sz="2400" dirty="0" err="1"/>
              <a:t>d'impact</a:t>
            </a:r>
            <a:r>
              <a:rPr sz="2400" dirty="0"/>
              <a:t> (PIA) pour </a:t>
            </a:r>
            <a:r>
              <a:rPr sz="2400" dirty="0" err="1"/>
              <a:t>traitements</a:t>
            </a:r>
            <a:r>
              <a:rPr sz="2400" dirty="0"/>
              <a:t> </a:t>
            </a:r>
            <a:r>
              <a:rPr sz="2400" dirty="0" err="1"/>
              <a:t>sensibles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 err="1"/>
              <a:t>Sécurité</a:t>
            </a:r>
            <a:r>
              <a:rPr sz="2400" dirty="0"/>
              <a:t> des données.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Notification des violations.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Consentement et bases légales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3600" dirty="0"/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 err="1"/>
              <a:t>Consentement</a:t>
            </a:r>
            <a:r>
              <a:rPr sz="2400" dirty="0"/>
              <a:t> libre, </a:t>
            </a:r>
            <a:r>
              <a:rPr sz="2400" dirty="0" err="1"/>
              <a:t>éclairé</a:t>
            </a:r>
            <a:r>
              <a:rPr sz="2400" dirty="0"/>
              <a:t> et </a:t>
            </a:r>
            <a:r>
              <a:rPr sz="2400" dirty="0" err="1"/>
              <a:t>explicite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Bases </a:t>
            </a:r>
            <a:r>
              <a:rPr sz="2400" dirty="0" err="1"/>
              <a:t>légales</a:t>
            </a:r>
            <a:r>
              <a:rPr sz="2400" dirty="0"/>
              <a:t> : </a:t>
            </a:r>
            <a:r>
              <a:rPr sz="2400" dirty="0" err="1"/>
              <a:t>contrat</a:t>
            </a:r>
            <a:r>
              <a:rPr sz="2400" dirty="0"/>
              <a:t>, obligation </a:t>
            </a:r>
            <a:r>
              <a:rPr sz="2400" dirty="0" err="1"/>
              <a:t>légale</a:t>
            </a:r>
            <a:r>
              <a:rPr sz="2400" dirty="0"/>
              <a:t>, </a:t>
            </a:r>
            <a:r>
              <a:rPr sz="2400" dirty="0" err="1"/>
              <a:t>intérêt</a:t>
            </a:r>
            <a:r>
              <a:rPr sz="2400" dirty="0"/>
              <a:t> </a:t>
            </a:r>
            <a:r>
              <a:rPr sz="2400" dirty="0" err="1"/>
              <a:t>légitime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Délégué à la protection des données (DPO)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3600" dirty="0"/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 err="1"/>
              <a:t>Conseiller</a:t>
            </a:r>
            <a:r>
              <a:rPr sz="2400" dirty="0"/>
              <a:t> et </a:t>
            </a:r>
            <a:r>
              <a:rPr sz="2400" dirty="0" err="1"/>
              <a:t>contrôler</a:t>
            </a:r>
            <a:r>
              <a:rPr sz="2400" dirty="0"/>
              <a:t> la </a:t>
            </a:r>
            <a:r>
              <a:rPr sz="2400" dirty="0" err="1"/>
              <a:t>conformité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Point de contact avec </a:t>
            </a:r>
            <a:r>
              <a:rPr sz="2400" dirty="0" err="1"/>
              <a:t>l'autorité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Formation et </a:t>
            </a:r>
            <a:r>
              <a:rPr sz="2400" dirty="0" err="1"/>
              <a:t>sensibilisation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Violations de données et notifications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3600" dirty="0"/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Notification à </a:t>
            </a:r>
            <a:r>
              <a:rPr sz="2400" dirty="0" err="1"/>
              <a:t>l'autorité</a:t>
            </a:r>
            <a:r>
              <a:rPr sz="2400" dirty="0"/>
              <a:t> sous 72h.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Information des </a:t>
            </a:r>
            <a:r>
              <a:rPr sz="2400" dirty="0" err="1"/>
              <a:t>personnes</a:t>
            </a:r>
            <a:r>
              <a:rPr sz="2400" dirty="0"/>
              <a:t> </a:t>
            </a:r>
            <a:r>
              <a:rPr sz="2400" dirty="0" err="1"/>
              <a:t>concernées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Plan de </a:t>
            </a:r>
            <a:r>
              <a:rPr sz="2400" dirty="0" err="1"/>
              <a:t>réponse</a:t>
            </a:r>
            <a:r>
              <a:rPr sz="2400" dirty="0"/>
              <a:t> aux incidents.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Sanctions et pénalités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3600" dirty="0"/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 err="1"/>
              <a:t>Amendes</a:t>
            </a:r>
            <a:r>
              <a:rPr sz="2400" dirty="0"/>
              <a:t> </a:t>
            </a:r>
            <a:r>
              <a:rPr sz="2400" dirty="0" err="1"/>
              <a:t>jusqu'à</a:t>
            </a:r>
            <a:r>
              <a:rPr sz="2400" dirty="0"/>
              <a:t> 20 M€ </a:t>
            </a:r>
            <a:r>
              <a:rPr sz="2400" dirty="0" err="1"/>
              <a:t>ou</a:t>
            </a:r>
            <a:r>
              <a:rPr sz="2400" dirty="0"/>
              <a:t> 4% du CA </a:t>
            </a:r>
            <a:r>
              <a:rPr sz="2400" dirty="0" err="1"/>
              <a:t>mondial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Sanctions </a:t>
            </a:r>
            <a:r>
              <a:rPr sz="2400" dirty="0" err="1"/>
              <a:t>graduées</a:t>
            </a:r>
            <a:r>
              <a:rPr sz="2400" dirty="0"/>
              <a:t> </a:t>
            </a:r>
            <a:r>
              <a:rPr sz="2400" dirty="0" err="1"/>
              <a:t>selon</a:t>
            </a:r>
            <a:r>
              <a:rPr sz="2400" dirty="0"/>
              <a:t> </a:t>
            </a:r>
            <a:r>
              <a:rPr sz="2400" dirty="0" err="1"/>
              <a:t>gravité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Impact sur les entreprises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3600" dirty="0"/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Adaptation des processus.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Investissements </a:t>
            </a:r>
            <a:r>
              <a:rPr sz="2400" dirty="0" err="1"/>
              <a:t>en</a:t>
            </a:r>
            <a:r>
              <a:rPr sz="2400" dirty="0"/>
              <a:t> </a:t>
            </a:r>
            <a:r>
              <a:rPr sz="2400" dirty="0" err="1"/>
              <a:t>conformité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 err="1"/>
              <a:t>Opportunités</a:t>
            </a:r>
            <a:r>
              <a:rPr sz="2400" dirty="0"/>
              <a:t> de </a:t>
            </a:r>
            <a:r>
              <a:rPr sz="2400" dirty="0" err="1"/>
              <a:t>marché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Introduction à l’IA 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Objectif : Encadrer l’utilisation de l’IA dans l’UE pour garantir sécurité, transparence et respect des droits fondamentaux.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Points clés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Adopté en 2024 par l’Union européenne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Première réglementation mondiale dédiée à l’IA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Approche basée sur le risque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endParaRPr/>
          </a:p>
          <a:p>
            <a:pPr>
              <a:defRPr sz="1800">
                <a:solidFill>
                  <a:srgbClr val="505050"/>
                </a:solidFill>
              </a:defRPr>
            </a:pPr>
            <a:r>
              <a:t>Contexte : L’IA Act vise à créer un cadre juridique harmonisé pour l’IA.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Schéma explicatif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Schéma : Cycle de conformité (Développement → Évaluation → Certification → Surveillance)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Implications pratiques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Les entreprises doivent anticiper les audits, former leurs équipes et intégrer la conformité dès la conception.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Points clés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S’applique aux fournisseurs, importateurs, distributeurs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Couvre IA dans produits et services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Exclut usages militaires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endParaRPr/>
          </a:p>
          <a:p>
            <a:pPr>
              <a:defRPr sz="1800">
                <a:solidFill>
                  <a:srgbClr val="505050"/>
                </a:solidFill>
              </a:defRPr>
            </a:pPr>
            <a:r>
              <a:t>Contexte : Le champ d’application est large et inclut les systèmes intégrés.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Exemples concrets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Exemples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IA dans santé, finance, transport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endParaRPr/>
          </a:p>
          <a:p>
            <a:pPr>
              <a:defRPr sz="1800">
                <a:solidFill>
                  <a:srgbClr val="505050"/>
                </a:solidFill>
              </a:defRPr>
            </a:pPr>
            <a:r>
              <a:t>Ces secteurs sont fortement impactés par la réglementation.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Implications pratiques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Les entreprises doivent identifier leurs systèmes IA et vérifier leur classification.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fr-FR" dirty="0"/>
              <a:t>Les risques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Points clés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Risque minimal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Risque limité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Risque élevé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Risque interdit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endParaRPr/>
          </a:p>
          <a:p>
            <a:pPr>
              <a:defRPr sz="1800">
                <a:solidFill>
                  <a:srgbClr val="505050"/>
                </a:solidFill>
              </a:defRPr>
            </a:pPr>
            <a:r>
              <a:t>Chaque niveau impose des obligations différentes.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Exemples concrets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Exemples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Minimal : IA pour jeux vidéo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Élevé : IA pour recrutement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Interdit : Surveillance biométrique en temps réel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Implications pratiques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La classification détermine les obligations légales et les contrôles à mettre en place.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Obligations pour systèmes à haut risque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Objectif : Garantir sécurité et conformité des IA à haut risque.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Points clés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Évaluation de conformité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Documentation technique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Gestion des données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endParaRPr/>
          </a:p>
          <a:p>
            <a:pPr>
              <a:defRPr sz="1800">
                <a:solidFill>
                  <a:srgbClr val="505050"/>
                </a:solidFill>
              </a:defRPr>
            </a:pPr>
            <a:r>
              <a:t>Ces obligations sont strictes et détaillées.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Schéma explicatif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Schéma : Processus (Audit → Certification → Surveillance)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Exemples concrets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Exemples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IA médicale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IA pour crédit bancaire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Implications pratiques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Les entreprises doivent mettre en place des processus robustes et des audits réguliers.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Transparence et information des utilisateurs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Objectif : Informer clairement les utilisateurs.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Points clés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Indiquer qu’ils interagissent avec une IA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Expliquer la logique des décisions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Fournir des instructions d’usage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Schéma explicatif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Schéma : Interaction → Information → Consentement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Exemples concrets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Exemples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Chatbot qui annonce son statut IA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IA générative avec avertissement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Implications pratiques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La transparence renforce la confiance et réduit les risques juridiques.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Gouvernance et surveillance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Objectif : Mettre en place un cadre de contrôle.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Points clés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Autorités nationales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Comité européen de l’IA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Audits réguliers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Schéma explicatif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Schéma : Organigramme (UE → États membres → Entreprises)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Exemples concrets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Exemples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Contrôles annuels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Rapports de conformité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Implications pratiques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Les entreprises doivent coopérer avec les autorités et préparer des rapports détaillés.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fr-FR" dirty="0"/>
              <a:t>Sanctions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Points clés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Amendes jusqu’à 30 M€ ou 6 % CA mondial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Sanctions graduées selon gravité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Schéma explicatif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Schéma : Flux (Analyse → Mise en conformité → Avantage compétitif)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Exemples concrets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Exemples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Entreprises tech → audits IA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PME → solutions externalisées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3136</TotalTime>
  <Words>1039</Words>
  <Application>Microsoft Office PowerPoint</Application>
  <PresentationFormat>Affichage à l'écran (4:3)</PresentationFormat>
  <Paragraphs>193</Paragraphs>
  <Slides>45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45</vt:i4>
      </vt:variant>
    </vt:vector>
  </HeadingPairs>
  <TitlesOfParts>
    <vt:vector size="51" baseType="lpstr">
      <vt:lpstr>Yu Gothic Light</vt:lpstr>
      <vt:lpstr>Arial</vt:lpstr>
      <vt:lpstr>Calibri</vt:lpstr>
      <vt:lpstr>Monotype Sorts</vt:lpstr>
      <vt:lpstr>Times New Roman</vt:lpstr>
      <vt:lpstr>cvc</vt:lpstr>
      <vt:lpstr>Présentation PowerPoint</vt:lpstr>
      <vt:lpstr>Ecran n°17 Règle 1 : Respect des contraintes qualité / réglementaires</vt:lpstr>
      <vt:lpstr>Le droit</vt:lpstr>
      <vt:lpstr>CNIL</vt:lpstr>
      <vt:lpstr>RGPD</vt:lpstr>
      <vt:lpstr>Introduction au RGPD - Points clés</vt:lpstr>
      <vt:lpstr>Introduction au RGPD - Schéma explicatif</vt:lpstr>
      <vt:lpstr>Introduction au RGPD - Exemples</vt:lpstr>
      <vt:lpstr>Principes fondamentaux - Points clés</vt:lpstr>
      <vt:lpstr>Principes fondamentaux - Exemples</vt:lpstr>
      <vt:lpstr>Droits des personnes - Points clés</vt:lpstr>
      <vt:lpstr>Obligations des responsables de traitement - Points clés</vt:lpstr>
      <vt:lpstr>Consentement et bases légales - Points clés</vt:lpstr>
      <vt:lpstr>Délégué à la protection des données (DPO) - Points clés</vt:lpstr>
      <vt:lpstr>Violations de données et notifications - Points clés</vt:lpstr>
      <vt:lpstr>Sanctions et pénalités - Points clés</vt:lpstr>
      <vt:lpstr>Impact sur les entreprises - Points clés</vt:lpstr>
      <vt:lpstr>Introduction à l’IA Act</vt:lpstr>
      <vt:lpstr>Points clés</vt:lpstr>
      <vt:lpstr>Présentation PowerPoint</vt:lpstr>
      <vt:lpstr>Implications pratiques</vt:lpstr>
      <vt:lpstr>Points clés</vt:lpstr>
      <vt:lpstr>Exemples concrets</vt:lpstr>
      <vt:lpstr>Implications pratiques</vt:lpstr>
      <vt:lpstr>Les risques</vt:lpstr>
      <vt:lpstr>Exemples concrets</vt:lpstr>
      <vt:lpstr>Implications pratiques</vt:lpstr>
      <vt:lpstr>Obligations pour systèmes à haut risque</vt:lpstr>
      <vt:lpstr>Points clés</vt:lpstr>
      <vt:lpstr>Présentation PowerPoint</vt:lpstr>
      <vt:lpstr>Exemples concrets</vt:lpstr>
      <vt:lpstr>Implications pratiques</vt:lpstr>
      <vt:lpstr>Transparence et information des utilisateurs</vt:lpstr>
      <vt:lpstr>Points clés</vt:lpstr>
      <vt:lpstr>Présentation PowerPoint</vt:lpstr>
      <vt:lpstr>Exemples concrets</vt:lpstr>
      <vt:lpstr>Implications pratiques</vt:lpstr>
      <vt:lpstr>Gouvernance et surveillance</vt:lpstr>
      <vt:lpstr>Points clés</vt:lpstr>
      <vt:lpstr>Présentation PowerPoint</vt:lpstr>
      <vt:lpstr>Exemples concrets</vt:lpstr>
      <vt:lpstr>Implications pratiques</vt:lpstr>
      <vt:lpstr>Sanctions</vt:lpstr>
      <vt:lpstr>Présentation PowerPoint</vt:lpstr>
      <vt:lpstr>Exemples concrets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253</cp:revision>
  <dcterms:created xsi:type="dcterms:W3CDTF">2000-04-10T19:33:12Z</dcterms:created>
  <dcterms:modified xsi:type="dcterms:W3CDTF">2025-12-30T16:25:03Z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