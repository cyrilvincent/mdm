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50"/>
  </p:notesMasterIdLst>
  <p:handoutMasterIdLst>
    <p:handoutMasterId r:id="rId51"/>
  </p:handoutMasterIdLst>
  <p:sldIdLst>
    <p:sldId id="264" r:id="rId2"/>
    <p:sldId id="344" r:id="rId3"/>
    <p:sldId id="439" r:id="rId4"/>
    <p:sldId id="441" r:id="rId5"/>
    <p:sldId id="449" r:id="rId6"/>
    <p:sldId id="353" r:id="rId7"/>
    <p:sldId id="550" r:id="rId8"/>
    <p:sldId id="552" r:id="rId9"/>
    <p:sldId id="257" r:id="rId10"/>
    <p:sldId id="258" r:id="rId11"/>
    <p:sldId id="259" r:id="rId12"/>
    <p:sldId id="263" r:id="rId13"/>
    <p:sldId id="265" r:id="rId14"/>
    <p:sldId id="269" r:id="rId15"/>
    <p:sldId id="275" r:id="rId16"/>
    <p:sldId id="281" r:id="rId17"/>
    <p:sldId id="287" r:id="rId18"/>
    <p:sldId id="293" r:id="rId19"/>
    <p:sldId id="299" r:id="rId20"/>
    <p:sldId id="305" r:id="rId21"/>
    <p:sldId id="256" r:id="rId22"/>
    <p:sldId id="553" r:id="rId23"/>
    <p:sldId id="554" r:id="rId24"/>
    <p:sldId id="260" r:id="rId25"/>
    <p:sldId id="556" r:id="rId26"/>
    <p:sldId id="558" r:id="rId27"/>
    <p:sldId id="266" r:id="rId28"/>
    <p:sldId id="559" r:id="rId29"/>
    <p:sldId id="271" r:id="rId30"/>
    <p:sldId id="272" r:id="rId31"/>
    <p:sldId id="274" r:id="rId32"/>
    <p:sldId id="560" r:id="rId33"/>
    <p:sldId id="276" r:id="rId34"/>
    <p:sldId id="277" r:id="rId35"/>
    <p:sldId id="278" r:id="rId36"/>
    <p:sldId id="280" r:id="rId37"/>
    <p:sldId id="561" r:id="rId38"/>
    <p:sldId id="282" r:id="rId39"/>
    <p:sldId id="283" r:id="rId40"/>
    <p:sldId id="284" r:id="rId41"/>
    <p:sldId id="286" r:id="rId42"/>
    <p:sldId id="562" r:id="rId43"/>
    <p:sldId id="288" r:id="rId44"/>
    <p:sldId id="289" r:id="rId45"/>
    <p:sldId id="290" r:id="rId46"/>
    <p:sldId id="563" r:id="rId47"/>
    <p:sldId id="300" r:id="rId48"/>
    <p:sldId id="301" r:id="rId4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BDEA8-EB22-42D4-B8E2-0C26FFC92FC1}" type="datetimeFigureOut">
              <a:rPr lang="fr-FR" smtClean="0"/>
              <a:t>28/12/2025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5462720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BDEA8-EB22-42D4-B8E2-0C26FFC92FC1}" type="datetimeFigureOut">
              <a:rPr lang="fr-FR" smtClean="0"/>
              <a:t>28/12/2025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45939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BDEA8-EB22-42D4-B8E2-0C26FFC92FC1}" type="datetimeFigureOut">
              <a:rPr lang="fr-FR" smtClean="0"/>
              <a:t>28/12/2025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31817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BDEA8-EB22-42D4-B8E2-0C26FFC92FC1}" type="datetimeFigureOut">
              <a:rPr lang="fr-FR" smtClean="0"/>
              <a:t>28/12/2025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91030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MDM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9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7</a:t>
            </a:r>
          </a:p>
          <a:p>
            <a:pPr eaLnBrk="1" hangingPunct="1"/>
            <a:r>
              <a:rPr lang="fr-FR" altLang="fr-FR"/>
              <a:t>Le légal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051720" y="2132856"/>
            <a:ext cx="55194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Master 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b="1" dirty="0">
                <a:latin typeface="+mn-lt"/>
              </a:rPr>
              <a:t>Ecran n°6</a:t>
            </a:r>
            <a:br>
              <a:rPr lang="fr-FR" sz="1500" dirty="0">
                <a:latin typeface="+mn-lt"/>
              </a:rPr>
            </a:br>
            <a:r>
              <a:rPr lang="fr-FR" sz="1500" dirty="0">
                <a:latin typeface="+mn-lt"/>
              </a:rPr>
              <a:t>Riche de données… mais sécurisée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b="1" dirty="0"/>
              <a:t>Message clé :</a:t>
            </a:r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Afficher d’abord le texte introductif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afficher l’image centrale et le texte de gauche accompagné de son image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affiche le texte en haut à droite sur le traitement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finir en affichant le dernier bloc de texte.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1030739" y="1619035"/>
            <a:ext cx="4501289" cy="414060"/>
            <a:chOff x="1374319" y="1015713"/>
            <a:chExt cx="6001718" cy="552080"/>
          </a:xfrm>
        </p:grpSpPr>
        <p:grpSp>
          <p:nvGrpSpPr>
            <p:cNvPr id="105" name="Groupe 104"/>
            <p:cNvGrpSpPr/>
            <p:nvPr/>
          </p:nvGrpSpPr>
          <p:grpSpPr>
            <a:xfrm>
              <a:off x="1374319" y="1015713"/>
              <a:ext cx="6001718" cy="552080"/>
              <a:chOff x="3755565" y="529120"/>
              <a:chExt cx="6001718" cy="552080"/>
            </a:xfrm>
          </p:grpSpPr>
          <p:sp>
            <p:nvSpPr>
              <p:cNvPr id="106" name="Pentagone 105"/>
              <p:cNvSpPr/>
              <p:nvPr/>
            </p:nvSpPr>
            <p:spPr>
              <a:xfrm>
                <a:off x="3755565" y="667723"/>
                <a:ext cx="6001718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3" name="Ellipse 122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1" name="Ellipse 12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7" name="Ellipse 116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5" name="Ellipse 114"/>
              <p:cNvSpPr/>
              <p:nvPr/>
            </p:nvSpPr>
            <p:spPr>
              <a:xfrm>
                <a:off x="8732261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3" name="Ellipse 112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6" name="Image 25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3094" y="1135025"/>
              <a:ext cx="358992" cy="358992"/>
            </a:xfrm>
            <a:prstGeom prst="rect">
              <a:avLst/>
            </a:prstGeom>
          </p:spPr>
        </p:pic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3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0142" y="1118643"/>
              <a:ext cx="358992" cy="358992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6684" y="1140670"/>
              <a:ext cx="327273" cy="327273"/>
            </a:xfrm>
            <a:prstGeom prst="rect">
              <a:avLst/>
            </a:prstGeom>
          </p:spPr>
        </p:pic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3553" y="1150920"/>
              <a:ext cx="297521" cy="297521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0062" y="1167848"/>
              <a:ext cx="288000" cy="288000"/>
            </a:xfrm>
            <a:prstGeom prst="rect">
              <a:avLst/>
            </a:prstGeom>
          </p:spPr>
        </p:pic>
      </p:grpSp>
      <p:pic>
        <p:nvPicPr>
          <p:cNvPr id="33" name="Image 32"/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290" y="2421543"/>
            <a:ext cx="2242855" cy="232654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134634" y="4991719"/>
            <a:ext cx="6284494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peux demander la mise à disposition de données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riches et hétérogènes sur un espace DataLab,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mais des règles sont à respecter et tout n’est pas possible.</a:t>
            </a:r>
          </a:p>
        </p:txBody>
      </p:sp>
    </p:spTree>
    <p:extLst>
      <p:ext uri="{BB962C8B-B14F-4D97-AF65-F5344CB8AC3E}">
        <p14:creationId xmlns:p14="http://schemas.microsoft.com/office/powerpoint/2010/main" val="755103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b="1" dirty="0">
                <a:latin typeface="+mn-lt"/>
              </a:rPr>
              <a:t>Ecran n°7</a:t>
            </a:r>
            <a:br>
              <a:rPr lang="fr-FR" sz="1500" dirty="0">
                <a:latin typeface="+mn-lt"/>
              </a:rPr>
            </a:br>
            <a:r>
              <a:rPr lang="fr-FR" sz="1500" dirty="0">
                <a:latin typeface="+mn-lt"/>
              </a:rPr>
              <a:t>Conformité des données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b="1" dirty="0"/>
              <a:t>Message clé :</a:t>
            </a:r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Afficher d’abord le texte introductif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afficher l’image centrale et le texte de gauche accompagné de son image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affiche le texte en haut à droite sur le traitement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finir en affichant le dernier bloc de texte.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935009" y="1619035"/>
            <a:ext cx="4597019" cy="414060"/>
            <a:chOff x="1246678" y="1015713"/>
            <a:chExt cx="6129359" cy="552080"/>
          </a:xfrm>
        </p:grpSpPr>
        <p:grpSp>
          <p:nvGrpSpPr>
            <p:cNvPr id="105" name="Groupe 104"/>
            <p:cNvGrpSpPr/>
            <p:nvPr/>
          </p:nvGrpSpPr>
          <p:grpSpPr>
            <a:xfrm>
              <a:off x="1246678" y="1015713"/>
              <a:ext cx="6129359" cy="552080"/>
              <a:chOff x="3627924" y="529120"/>
              <a:chExt cx="6129359" cy="552080"/>
            </a:xfrm>
          </p:grpSpPr>
          <p:sp>
            <p:nvSpPr>
              <p:cNvPr id="106" name="Pentagone 105"/>
              <p:cNvSpPr/>
              <p:nvPr/>
            </p:nvSpPr>
            <p:spPr>
              <a:xfrm>
                <a:off x="3627924" y="667722"/>
                <a:ext cx="6129359" cy="294125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3" name="Ellipse 122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1" name="Ellipse 12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7" name="Ellipse 116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5" name="Ellipse 114"/>
              <p:cNvSpPr/>
              <p:nvPr/>
            </p:nvSpPr>
            <p:spPr>
              <a:xfrm>
                <a:off x="8732261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3" name="Ellipse 112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6" name="Image 25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3094" y="1135025"/>
              <a:ext cx="358992" cy="358992"/>
            </a:xfrm>
            <a:prstGeom prst="rect">
              <a:avLst/>
            </a:prstGeom>
          </p:spPr>
        </p:pic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3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0142" y="1118643"/>
              <a:ext cx="358992" cy="358992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6684" y="1140670"/>
              <a:ext cx="327273" cy="327273"/>
            </a:xfrm>
            <a:prstGeom prst="rect">
              <a:avLst/>
            </a:prstGeom>
          </p:spPr>
        </p:pic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3553" y="1150920"/>
              <a:ext cx="297521" cy="297521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0062" y="1167848"/>
              <a:ext cx="288000" cy="288000"/>
            </a:xfrm>
            <a:prstGeom prst="rect">
              <a:avLst/>
            </a:prstGeom>
          </p:spPr>
        </p:pic>
      </p:grpSp>
      <p:pic>
        <p:nvPicPr>
          <p:cNvPr id="33" name="Image 32"/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1205" y="2984224"/>
            <a:ext cx="2242855" cy="2326544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5292080" y="2456012"/>
            <a:ext cx="3366959" cy="723112"/>
          </a:xfrm>
          <a:prstGeom prst="roundRect">
            <a:avLst>
              <a:gd name="adj" fmla="val 50000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/>
              <a:t>Respect des règles de conformité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57148" y="3284984"/>
            <a:ext cx="3345932" cy="27381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Lorsque je demande la mise à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disposition de mon espace DataLab et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son approvisionnement avec des données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du DataLake, le CDMO vérifie systématiquement le périmètre des données et valide ou non cette demande.</a:t>
            </a:r>
          </a:p>
        </p:txBody>
      </p:sp>
    </p:spTree>
    <p:extLst>
      <p:ext uri="{BB962C8B-B14F-4D97-AF65-F5344CB8AC3E}">
        <p14:creationId xmlns:p14="http://schemas.microsoft.com/office/powerpoint/2010/main" val="913495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b="1" dirty="0">
                <a:latin typeface="+mn-lt"/>
              </a:rPr>
              <a:t>Ecran n°9</a:t>
            </a:r>
            <a:br>
              <a:rPr lang="fr-FR" sz="1500" dirty="0">
                <a:latin typeface="+mn-lt"/>
              </a:rPr>
            </a:br>
            <a:r>
              <a:rPr lang="fr-FR" sz="1500" dirty="0">
                <a:latin typeface="+mn-lt"/>
              </a:rPr>
              <a:t>Des espaces sans adhérence avec la production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b="1" dirty="0"/>
              <a:t>Message clé :</a:t>
            </a:r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Griser la règle 1 « Respect des règles de conformité »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Afficher le bloc de la règle 2 « Données datalab = copies désensibilisées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Puis afficher le bloc de texte explicatif.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935009" y="1619035"/>
            <a:ext cx="4597019" cy="414060"/>
            <a:chOff x="1246678" y="1015713"/>
            <a:chExt cx="6129359" cy="552080"/>
          </a:xfrm>
        </p:grpSpPr>
        <p:grpSp>
          <p:nvGrpSpPr>
            <p:cNvPr id="105" name="Groupe 104"/>
            <p:cNvGrpSpPr/>
            <p:nvPr/>
          </p:nvGrpSpPr>
          <p:grpSpPr>
            <a:xfrm>
              <a:off x="1246678" y="1015713"/>
              <a:ext cx="6129359" cy="552080"/>
              <a:chOff x="3627924" y="529120"/>
              <a:chExt cx="6129359" cy="552080"/>
            </a:xfrm>
          </p:grpSpPr>
          <p:sp>
            <p:nvSpPr>
              <p:cNvPr id="106" name="Pentagone 105"/>
              <p:cNvSpPr/>
              <p:nvPr/>
            </p:nvSpPr>
            <p:spPr>
              <a:xfrm>
                <a:off x="3627924" y="667722"/>
                <a:ext cx="6129359" cy="294125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3" name="Ellipse 122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1" name="Ellipse 12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7" name="Ellipse 116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5" name="Ellipse 114"/>
              <p:cNvSpPr/>
              <p:nvPr/>
            </p:nvSpPr>
            <p:spPr>
              <a:xfrm>
                <a:off x="8732261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3" name="Ellipse 112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6" name="Image 25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3094" y="1135025"/>
              <a:ext cx="358992" cy="358992"/>
            </a:xfrm>
            <a:prstGeom prst="rect">
              <a:avLst/>
            </a:prstGeom>
          </p:spPr>
        </p:pic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3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0142" y="1118643"/>
              <a:ext cx="358992" cy="358992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6684" y="1140670"/>
              <a:ext cx="327273" cy="327273"/>
            </a:xfrm>
            <a:prstGeom prst="rect">
              <a:avLst/>
            </a:prstGeom>
          </p:spPr>
        </p:pic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3553" y="1150920"/>
              <a:ext cx="297521" cy="297521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0062" y="1167848"/>
              <a:ext cx="288000" cy="288000"/>
            </a:xfrm>
            <a:prstGeom prst="rect">
              <a:avLst/>
            </a:prstGeom>
          </p:spPr>
        </p:pic>
      </p:grpSp>
      <p:pic>
        <p:nvPicPr>
          <p:cNvPr id="33" name="Image 32"/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1205" y="2984224"/>
            <a:ext cx="2242855" cy="2326544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2737044" y="4790123"/>
            <a:ext cx="3366959" cy="265037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/>
              <a:t>Respect des règles de conformité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5312" y="2561216"/>
            <a:ext cx="4048577" cy="3407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Lorsque mon espace DataLab m’est mis à disposition, il n’est pas en adhérence directe avec les données de production.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Les données rendues disponibles sont des copies des données originales et des traitements sont appliqués sur celles-ci pour les désensibilisées en suivant les instructions du CDMO (anonymisation, cryptage…).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5577063" y="1647368"/>
            <a:ext cx="3366959" cy="815937"/>
          </a:xfrm>
          <a:prstGeom prst="roundRect">
            <a:avLst>
              <a:gd name="adj" fmla="val 50000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/>
              <a:t>Données DataLab = copies désensibilisées</a:t>
            </a:r>
          </a:p>
        </p:txBody>
      </p:sp>
    </p:spTree>
    <p:extLst>
      <p:ext uri="{BB962C8B-B14F-4D97-AF65-F5344CB8AC3E}">
        <p14:creationId xmlns:p14="http://schemas.microsoft.com/office/powerpoint/2010/main" val="2387814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à coins arrondis 35"/>
          <p:cNvSpPr/>
          <p:nvPr/>
        </p:nvSpPr>
        <p:spPr>
          <a:xfrm rot="21216247">
            <a:off x="5505724" y="5441060"/>
            <a:ext cx="1859775" cy="290975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BCBS-239</a:t>
            </a:r>
          </a:p>
        </p:txBody>
      </p:sp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11802" y="879266"/>
            <a:ext cx="4628627" cy="542700"/>
          </a:xfrm>
        </p:spPr>
        <p:txBody>
          <a:bodyPr/>
          <a:lstStyle/>
          <a:p>
            <a:r>
              <a:rPr lang="fr-FR" sz="1500" b="1" dirty="0">
                <a:latin typeface="+mn-lt"/>
              </a:rPr>
              <a:t>Ecran n°17</a:t>
            </a:r>
            <a:br>
              <a:rPr lang="fr-FR" sz="1500" dirty="0">
                <a:latin typeface="+mn-lt"/>
              </a:rPr>
            </a:br>
            <a:r>
              <a:rPr lang="fr-FR" sz="1500" dirty="0">
                <a:latin typeface="+mn-lt"/>
              </a:rPr>
              <a:t>Règle 1 : Respect des contraintes qualité / réglementaires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b="1" dirty="0"/>
              <a:t>Message clé :</a:t>
            </a:r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1030739" y="1619035"/>
            <a:ext cx="4501289" cy="414060"/>
            <a:chOff x="1374319" y="1015713"/>
            <a:chExt cx="6001718" cy="552080"/>
          </a:xfrm>
        </p:grpSpPr>
        <p:grpSp>
          <p:nvGrpSpPr>
            <p:cNvPr id="105" name="Groupe 104"/>
            <p:cNvGrpSpPr/>
            <p:nvPr/>
          </p:nvGrpSpPr>
          <p:grpSpPr>
            <a:xfrm>
              <a:off x="1374319" y="1015713"/>
              <a:ext cx="6001718" cy="552080"/>
              <a:chOff x="3755565" y="529120"/>
              <a:chExt cx="6001718" cy="552080"/>
            </a:xfrm>
          </p:grpSpPr>
          <p:sp>
            <p:nvSpPr>
              <p:cNvPr id="106" name="Pentagone 105"/>
              <p:cNvSpPr/>
              <p:nvPr/>
            </p:nvSpPr>
            <p:spPr>
              <a:xfrm>
                <a:off x="3755565" y="667723"/>
                <a:ext cx="6001718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3" name="Ellipse 122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21" name="Ellipse 12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7" name="Ellipse 116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5" name="Ellipse 114"/>
              <p:cNvSpPr/>
              <p:nvPr/>
            </p:nvSpPr>
            <p:spPr>
              <a:xfrm>
                <a:off x="8732261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13" name="Ellipse 112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6" name="Image 25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3094" y="1135025"/>
              <a:ext cx="358992" cy="358992"/>
            </a:xfrm>
            <a:prstGeom prst="rect">
              <a:avLst/>
            </a:prstGeom>
          </p:spPr>
        </p:pic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0142" y="1118643"/>
              <a:ext cx="358992" cy="358992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4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6684" y="1140670"/>
              <a:ext cx="327273" cy="327273"/>
            </a:xfrm>
            <a:prstGeom prst="rect">
              <a:avLst/>
            </a:prstGeom>
          </p:spPr>
        </p:pic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3553" y="1150920"/>
              <a:ext cx="297521" cy="297521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0062" y="1167848"/>
              <a:ext cx="288000" cy="288000"/>
            </a:xfrm>
            <a:prstGeom prst="rect">
              <a:avLst/>
            </a:prstGeom>
          </p:spPr>
        </p:pic>
      </p:grpSp>
      <p:sp>
        <p:nvSpPr>
          <p:cNvPr id="39" name="Rectangle 38"/>
          <p:cNvSpPr/>
          <p:nvPr/>
        </p:nvSpPr>
        <p:spPr>
          <a:xfrm>
            <a:off x="1316935" y="2631604"/>
            <a:ext cx="6495425" cy="1256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L’ensemble des contraintes réglementaires et qualité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sur l’ensemble des activités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s’appliquent aussi aux espaces et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doivent être respectées lors des expérimentations.</a:t>
            </a:r>
            <a:endParaRPr lang="fr-FR" sz="1800" b="1" dirty="0">
              <a:solidFill>
                <a:schemeClr val="tx1">
                  <a:lumMod val="75000"/>
                  <a:lumOff val="25000"/>
                </a:schemeClr>
              </a:solidFill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89" y="2301419"/>
            <a:ext cx="435743" cy="435743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631" y="3225092"/>
            <a:ext cx="1273428" cy="2205578"/>
          </a:xfrm>
          <a:prstGeom prst="rect">
            <a:avLst/>
          </a:prstGeom>
        </p:spPr>
      </p:pic>
      <p:sp>
        <p:nvSpPr>
          <p:cNvPr id="34" name="Rectangle à coins arrondis 33"/>
          <p:cNvSpPr/>
          <p:nvPr/>
        </p:nvSpPr>
        <p:spPr>
          <a:xfrm>
            <a:off x="4575837" y="4969390"/>
            <a:ext cx="1859775" cy="290975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GDPR</a:t>
            </a:r>
          </a:p>
        </p:txBody>
      </p:sp>
      <p:sp>
        <p:nvSpPr>
          <p:cNvPr id="11" name="Rectangle à coins arrondis 10"/>
          <p:cNvSpPr/>
          <p:nvPr/>
        </p:nvSpPr>
        <p:spPr>
          <a:xfrm rot="21000814">
            <a:off x="3011114" y="4904924"/>
            <a:ext cx="1859775" cy="642482"/>
          </a:xfrm>
          <a:prstGeom prst="roundRect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Loi informatique et liberté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016768" y="5177465"/>
            <a:ext cx="552621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…</a:t>
            </a:r>
          </a:p>
        </p:txBody>
      </p:sp>
      <p:sp>
        <p:nvSpPr>
          <p:cNvPr id="31" name="Rectangle à coins arrondis 30"/>
          <p:cNvSpPr/>
          <p:nvPr/>
        </p:nvSpPr>
        <p:spPr>
          <a:xfrm rot="522570">
            <a:off x="3512844" y="5842925"/>
            <a:ext cx="1859775" cy="290975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Ethique</a:t>
            </a:r>
          </a:p>
        </p:txBody>
      </p:sp>
    </p:spTree>
    <p:extLst>
      <p:ext uri="{BB962C8B-B14F-4D97-AF65-F5344CB8AC3E}">
        <p14:creationId xmlns:p14="http://schemas.microsoft.com/office/powerpoint/2010/main" val="2198115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85413E-F970-0CAC-863D-C181F355F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droit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135D29-15C3-E1A3-8E81-FEF6C3E0D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Au niveau mondial</a:t>
            </a:r>
          </a:p>
          <a:p>
            <a:pPr lvl="1"/>
            <a:r>
              <a:rPr lang="fr-FR" dirty="0"/>
              <a:t>Les droits de l'homme</a:t>
            </a:r>
          </a:p>
          <a:p>
            <a:pPr lvl="1"/>
            <a:r>
              <a:rPr lang="fr-FR" dirty="0"/>
              <a:t>Les droits d'auteurs</a:t>
            </a:r>
          </a:p>
          <a:p>
            <a:r>
              <a:rPr lang="fr-FR" dirty="0"/>
              <a:t>Au niveau européen</a:t>
            </a:r>
          </a:p>
          <a:p>
            <a:pPr lvl="1"/>
            <a:r>
              <a:rPr lang="fr-FR" dirty="0"/>
              <a:t>RGPD, AI </a:t>
            </a:r>
            <a:r>
              <a:rPr lang="fr-FR" dirty="0" err="1"/>
              <a:t>Act</a:t>
            </a:r>
            <a:endParaRPr lang="fr-FR" dirty="0"/>
          </a:p>
          <a:p>
            <a:r>
              <a:rPr lang="fr-FR" dirty="0"/>
              <a:t>Au niveau français</a:t>
            </a:r>
          </a:p>
          <a:p>
            <a:pPr lvl="1"/>
            <a:r>
              <a:rPr lang="fr-FR" dirty="0"/>
              <a:t>CNIL</a:t>
            </a:r>
          </a:p>
          <a:p>
            <a:pPr lvl="1"/>
            <a:r>
              <a:rPr lang="fr-FR" dirty="0"/>
              <a:t>Tous le droit français</a:t>
            </a:r>
          </a:p>
        </p:txBody>
      </p:sp>
    </p:spTree>
    <p:extLst>
      <p:ext uri="{BB962C8B-B14F-4D97-AF65-F5344CB8AC3E}">
        <p14:creationId xmlns:p14="http://schemas.microsoft.com/office/powerpoint/2010/main" val="328591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6BA8AF-0817-FA34-B864-295B99E2A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CNIL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38BC4C-EDE8-9592-E25E-9FD654C1D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Commission nationale de l'informatique et des libertés</a:t>
            </a:r>
          </a:p>
          <a:p>
            <a:pPr lvl="1"/>
            <a:r>
              <a:rPr lang="fr-FR" dirty="0"/>
              <a:t>Plus vieille institution liée à l'informatique au monde</a:t>
            </a:r>
          </a:p>
        </p:txBody>
      </p:sp>
    </p:spTree>
    <p:extLst>
      <p:ext uri="{BB962C8B-B14F-4D97-AF65-F5344CB8AC3E}">
        <p14:creationId xmlns:p14="http://schemas.microsoft.com/office/powerpoint/2010/main" val="1654807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1CFDF1-2EA0-AB6E-EF5E-40C060A3F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RGPD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326F16-00FD-8E95-79D9-3F177DE81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Règlement général sur la protection des données</a:t>
            </a:r>
          </a:p>
          <a:p>
            <a:pPr lvl="1"/>
            <a:r>
              <a:rPr lang="fr-FR" dirty="0"/>
              <a:t>Officiellement appelé règlement UE 2016/679 du Parlement européen et du Conseil du 27 avril 2016 relatif à la protection des personnes physiques à l'égard du traitement des données à caractère personnel et à la libre circulation de ces données est un règlement de l'Union européenne qui constitue le texte de référence en matière de protection des données à caractère personnel</a:t>
            </a:r>
          </a:p>
          <a:p>
            <a:pPr lvl="1"/>
            <a:r>
              <a:rPr lang="fr-FR" dirty="0"/>
              <a:t>Il renforce et unifie la protection des données pour les individus au sein de l'Union européenne.</a:t>
            </a:r>
          </a:p>
        </p:txBody>
      </p:sp>
    </p:spTree>
    <p:extLst>
      <p:ext uri="{BB962C8B-B14F-4D97-AF65-F5344CB8AC3E}">
        <p14:creationId xmlns:p14="http://schemas.microsoft.com/office/powerpoint/2010/main" val="1944592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Introduction au RGPD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Cadre </a:t>
            </a:r>
            <a:r>
              <a:rPr sz="2400" dirty="0" err="1"/>
              <a:t>juridique</a:t>
            </a:r>
            <a:r>
              <a:rPr sz="2400" dirty="0"/>
              <a:t> </a:t>
            </a:r>
            <a:r>
              <a:rPr sz="2400" dirty="0" err="1"/>
              <a:t>européen</a:t>
            </a:r>
            <a:r>
              <a:rPr sz="2400" dirty="0"/>
              <a:t> pour la protection des données.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Applicable à </a:t>
            </a:r>
            <a:r>
              <a:rPr sz="2400" dirty="0" err="1"/>
              <a:t>toutes</a:t>
            </a:r>
            <a:r>
              <a:rPr sz="2400" dirty="0"/>
              <a:t> les </a:t>
            </a:r>
            <a:r>
              <a:rPr sz="2400" dirty="0" err="1"/>
              <a:t>organisations</a:t>
            </a:r>
            <a:r>
              <a:rPr sz="2400" dirty="0"/>
              <a:t> </a:t>
            </a:r>
            <a:r>
              <a:rPr sz="2400" dirty="0" err="1"/>
              <a:t>traitant</a:t>
            </a:r>
            <a:r>
              <a:rPr sz="2400" dirty="0"/>
              <a:t> des données de </a:t>
            </a:r>
            <a:r>
              <a:rPr sz="2400" dirty="0" err="1"/>
              <a:t>résidents</a:t>
            </a:r>
            <a:r>
              <a:rPr sz="2400" dirty="0"/>
              <a:t> de </a:t>
            </a:r>
            <a:r>
              <a:rPr sz="2400" dirty="0" err="1"/>
              <a:t>l'UE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Objectifs</a:t>
            </a:r>
            <a:r>
              <a:rPr sz="2400" dirty="0"/>
              <a:t> : Transparence, </a:t>
            </a:r>
            <a:r>
              <a:rPr sz="2400" dirty="0" err="1"/>
              <a:t>sécurité</a:t>
            </a:r>
            <a:r>
              <a:rPr sz="2400" dirty="0"/>
              <a:t>, droits des </a:t>
            </a:r>
            <a:r>
              <a:rPr sz="2400" dirty="0" err="1"/>
              <a:t>individus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Introduction au RGPD - Schéma explicatif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19672" y="2420888"/>
            <a:ext cx="5486400" cy="2743200"/>
          </a:xfrm>
          <a:prstGeom prst="rect">
            <a:avLst/>
          </a:prstGeom>
          <a:solidFill>
            <a:srgbClr val="C8E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05050"/>
                </a:solidFill>
              </a:defRPr>
            </a:pPr>
            <a:r>
              <a:t>Cycle : Collecte → Traitement → Protection → Droits des individus.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Introduction au RGPD - Exemples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Sites web demandant </a:t>
            </a:r>
            <a:r>
              <a:rPr sz="2400" dirty="0" err="1"/>
              <a:t>consentement</a:t>
            </a:r>
            <a:r>
              <a:rPr sz="2400" dirty="0"/>
              <a:t> pour cookies.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Applications mobiles avec politique de </a:t>
            </a:r>
            <a:r>
              <a:rPr sz="2400" dirty="0" err="1"/>
              <a:t>confidentialité</a:t>
            </a:r>
            <a:r>
              <a:rPr sz="2400" dirty="0"/>
              <a:t> </a:t>
            </a:r>
            <a:r>
              <a:rPr sz="2400" dirty="0" err="1"/>
              <a:t>claire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Principes fondamentaux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Licéité</a:t>
            </a:r>
            <a:r>
              <a:rPr sz="2400" dirty="0"/>
              <a:t>, </a:t>
            </a:r>
            <a:r>
              <a:rPr sz="2400" dirty="0" err="1"/>
              <a:t>loyauté</a:t>
            </a:r>
            <a:r>
              <a:rPr sz="2400" dirty="0"/>
              <a:t> et transparence</a:t>
            </a:r>
            <a:r>
              <a:rPr lang="fr-FR" sz="2400" dirty="0"/>
              <a:t> (Licéité : caractère de ce qui est licite)</a:t>
            </a:r>
            <a:endParaRPr sz="24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Limitation des </a:t>
            </a:r>
            <a:r>
              <a:rPr sz="2400" dirty="0" err="1"/>
              <a:t>finalités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Minimisation</a:t>
            </a:r>
            <a:r>
              <a:rPr sz="2400" dirty="0"/>
              <a:t> des données.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Exactitude.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Limitation de la conservation.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Intégrité</a:t>
            </a:r>
            <a:r>
              <a:rPr sz="2400" dirty="0"/>
              <a:t> et </a:t>
            </a:r>
            <a:r>
              <a:rPr sz="2400" dirty="0" err="1"/>
              <a:t>confidentialité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Principes fondamentaux - Exemples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Collecte</a:t>
            </a:r>
            <a:r>
              <a:rPr sz="2400" dirty="0"/>
              <a:t> </a:t>
            </a:r>
            <a:r>
              <a:rPr sz="2400" dirty="0" err="1"/>
              <a:t>uniquement</a:t>
            </a:r>
            <a:r>
              <a:rPr sz="2400" dirty="0"/>
              <a:t> des données </a:t>
            </a:r>
            <a:r>
              <a:rPr sz="2400" dirty="0" err="1"/>
              <a:t>nécessaires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Suppression des données après usage.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Droits des personnes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</a:t>
            </a:r>
            <a:r>
              <a:rPr sz="2400" dirty="0" err="1"/>
              <a:t>d'accès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de rectification.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à </a:t>
            </a:r>
            <a:r>
              <a:rPr sz="2400" dirty="0" err="1"/>
              <a:t>l'effacement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à la </a:t>
            </a:r>
            <a:r>
              <a:rPr sz="2400" dirty="0" err="1"/>
              <a:t>portabilité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</a:t>
            </a:r>
            <a:r>
              <a:rPr sz="2400" dirty="0" err="1"/>
              <a:t>d'opposition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Droit à la limitation du </a:t>
            </a:r>
            <a:r>
              <a:rPr sz="2400" dirty="0" err="1"/>
              <a:t>traitement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Obligations des responsables de traitement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Tenue d'un </a:t>
            </a:r>
            <a:r>
              <a:rPr sz="2400" dirty="0" err="1"/>
              <a:t>registre</a:t>
            </a:r>
            <a:r>
              <a:rPr sz="2400" dirty="0"/>
              <a:t> des </a:t>
            </a:r>
            <a:r>
              <a:rPr sz="2400" dirty="0" err="1"/>
              <a:t>traitements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Analyse</a:t>
            </a:r>
            <a:r>
              <a:rPr sz="2400" dirty="0"/>
              <a:t> </a:t>
            </a:r>
            <a:r>
              <a:rPr sz="2400" dirty="0" err="1"/>
              <a:t>d'impact</a:t>
            </a:r>
            <a:r>
              <a:rPr sz="2400" dirty="0"/>
              <a:t> (PIA) pour </a:t>
            </a:r>
            <a:r>
              <a:rPr sz="2400" dirty="0" err="1"/>
              <a:t>traitements</a:t>
            </a:r>
            <a:r>
              <a:rPr sz="2400" dirty="0"/>
              <a:t> </a:t>
            </a:r>
            <a:r>
              <a:rPr sz="2400" dirty="0" err="1"/>
              <a:t>sensibles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Sécurité</a:t>
            </a:r>
            <a:r>
              <a:rPr sz="2400" dirty="0"/>
              <a:t> des données.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Notification des violations.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Consentement et bases légales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Consentement</a:t>
            </a:r>
            <a:r>
              <a:rPr sz="2400" dirty="0"/>
              <a:t> libre, </a:t>
            </a:r>
            <a:r>
              <a:rPr sz="2400" dirty="0" err="1"/>
              <a:t>éclairé</a:t>
            </a:r>
            <a:r>
              <a:rPr sz="2400" dirty="0"/>
              <a:t> et </a:t>
            </a:r>
            <a:r>
              <a:rPr sz="2400" dirty="0" err="1"/>
              <a:t>explicite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Bases </a:t>
            </a:r>
            <a:r>
              <a:rPr sz="2400" dirty="0" err="1"/>
              <a:t>légales</a:t>
            </a:r>
            <a:r>
              <a:rPr sz="2400" dirty="0"/>
              <a:t> : </a:t>
            </a:r>
            <a:r>
              <a:rPr sz="2400" dirty="0" err="1"/>
              <a:t>contrat</a:t>
            </a:r>
            <a:r>
              <a:rPr sz="2400" dirty="0"/>
              <a:t>, obligation </a:t>
            </a:r>
            <a:r>
              <a:rPr sz="2400" dirty="0" err="1"/>
              <a:t>légale</a:t>
            </a:r>
            <a:r>
              <a:rPr sz="2400" dirty="0"/>
              <a:t>, </a:t>
            </a:r>
            <a:r>
              <a:rPr sz="2400" dirty="0" err="1"/>
              <a:t>intérêt</a:t>
            </a:r>
            <a:r>
              <a:rPr sz="2400" dirty="0"/>
              <a:t> </a:t>
            </a:r>
            <a:r>
              <a:rPr sz="2400" dirty="0" err="1"/>
              <a:t>légitime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Délégué à la protection des données (DPO)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Conseiller</a:t>
            </a:r>
            <a:r>
              <a:rPr sz="2400" dirty="0"/>
              <a:t> et </a:t>
            </a:r>
            <a:r>
              <a:rPr sz="2400" dirty="0" err="1"/>
              <a:t>contrôler</a:t>
            </a:r>
            <a:r>
              <a:rPr sz="2400" dirty="0"/>
              <a:t> la </a:t>
            </a:r>
            <a:r>
              <a:rPr sz="2400" dirty="0" err="1"/>
              <a:t>conformité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Point de contact avec </a:t>
            </a:r>
            <a:r>
              <a:rPr sz="2400" dirty="0" err="1"/>
              <a:t>l'autorité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Formation et </a:t>
            </a:r>
            <a:r>
              <a:rPr sz="2400" dirty="0" err="1"/>
              <a:t>sensibilisation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Violations de données et notifications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Notification à </a:t>
            </a:r>
            <a:r>
              <a:rPr sz="2400" dirty="0" err="1"/>
              <a:t>l'autorité</a:t>
            </a:r>
            <a:r>
              <a:rPr sz="2400" dirty="0"/>
              <a:t> sous 72h.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Information des </a:t>
            </a:r>
            <a:r>
              <a:rPr sz="2400" dirty="0" err="1"/>
              <a:t>personnes</a:t>
            </a:r>
            <a:r>
              <a:rPr sz="2400" dirty="0"/>
              <a:t> </a:t>
            </a:r>
            <a:r>
              <a:rPr sz="2400" dirty="0" err="1"/>
              <a:t>concernées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Plan de </a:t>
            </a:r>
            <a:r>
              <a:rPr sz="2400" dirty="0" err="1"/>
              <a:t>réponse</a:t>
            </a:r>
            <a:r>
              <a:rPr sz="2400" dirty="0"/>
              <a:t> aux incidents.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Sanctions et pénalités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Amendes</a:t>
            </a:r>
            <a:r>
              <a:rPr sz="2400" dirty="0"/>
              <a:t> </a:t>
            </a:r>
            <a:r>
              <a:rPr sz="2400" dirty="0" err="1"/>
              <a:t>jusqu'à</a:t>
            </a:r>
            <a:r>
              <a:rPr sz="2400" dirty="0"/>
              <a:t> 20 M€ </a:t>
            </a:r>
            <a:r>
              <a:rPr sz="2400" dirty="0" err="1"/>
              <a:t>ou</a:t>
            </a:r>
            <a:r>
              <a:rPr sz="2400" dirty="0"/>
              <a:t> 4% du CA </a:t>
            </a:r>
            <a:r>
              <a:rPr sz="2400" dirty="0" err="1"/>
              <a:t>mondial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Sanctions </a:t>
            </a:r>
            <a:r>
              <a:rPr sz="2400" dirty="0" err="1"/>
              <a:t>graduées</a:t>
            </a:r>
            <a:r>
              <a:rPr sz="2400" dirty="0"/>
              <a:t> </a:t>
            </a:r>
            <a:r>
              <a:rPr sz="2400" dirty="0" err="1"/>
              <a:t>selon</a:t>
            </a:r>
            <a:r>
              <a:rPr sz="2400" dirty="0"/>
              <a:t> </a:t>
            </a:r>
            <a:r>
              <a:rPr sz="2400" dirty="0" err="1"/>
              <a:t>gravité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Impact sur les entreprises - 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sz="3600" dirty="0"/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Adaptation des processus.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/>
              <a:t>Investissements </a:t>
            </a:r>
            <a:r>
              <a:rPr sz="2400" dirty="0" err="1"/>
              <a:t>en</a:t>
            </a:r>
            <a:r>
              <a:rPr sz="2400" dirty="0"/>
              <a:t> </a:t>
            </a:r>
            <a:r>
              <a:rPr sz="2400" dirty="0" err="1"/>
              <a:t>conformité</a:t>
            </a:r>
            <a:r>
              <a:rPr sz="2400" dirty="0"/>
              <a:t>.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rPr sz="2400" dirty="0" err="1"/>
              <a:t>Opportunités</a:t>
            </a:r>
            <a:r>
              <a:rPr sz="2400" dirty="0"/>
              <a:t> de </a:t>
            </a:r>
            <a:r>
              <a:rPr sz="2400" dirty="0" err="1"/>
              <a:t>marché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Introduction à l’IA 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Objectif : Encadrer l’utilisation de l’IA dans l’UE pour garantir sécurité, transparence et respect des droits fondamentaux.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Adopté en 2024 par l’Union européenne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Première réglementation mondiale dédiée à l’IA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Approche basée sur le risque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endParaRPr/>
          </a:p>
          <a:p>
            <a:pPr>
              <a:defRPr sz="1800">
                <a:solidFill>
                  <a:srgbClr val="505050"/>
                </a:solidFill>
              </a:defRPr>
            </a:pPr>
            <a:r>
              <a:t>Contexte : L’IA Act vise à créer un cadre juridique harmonisé pour l’IA.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Schéma explicatif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06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Schéma : Cycle de conformité (Développement → Évaluation → Certification → Surveillance)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Les entreprises doivent anticiper les audits, former leurs équipes et intégrer la conformité dès la conception.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S’applique aux fournisseurs, importateurs, distributeurs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Couvre IA dans produits et services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Exclut usages militaires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endParaRPr/>
          </a:p>
          <a:p>
            <a:pPr>
              <a:defRPr sz="1800">
                <a:solidFill>
                  <a:srgbClr val="505050"/>
                </a:solidFill>
              </a:defRPr>
            </a:pPr>
            <a:r>
              <a:t>Contexte : Le champ d’application est large et inclut les systèmes intégrés.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IA dans santé, finance, transport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endParaRPr/>
          </a:p>
          <a:p>
            <a:pPr>
              <a:defRPr sz="1800">
                <a:solidFill>
                  <a:srgbClr val="505050"/>
                </a:solidFill>
              </a:defRPr>
            </a:pPr>
            <a:r>
              <a:t>Ces secteurs sont fortement impactés par la réglementation.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Les entreprises doivent identifier leurs systèmes IA et vérifier leur classification.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rPr lang="fr-FR" dirty="0"/>
              <a:t>Les risques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Risque minimal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Risque limité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Risque élevé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Risque interdit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endParaRPr/>
          </a:p>
          <a:p>
            <a:pPr>
              <a:defRPr sz="1800">
                <a:solidFill>
                  <a:srgbClr val="505050"/>
                </a:solidFill>
              </a:defRPr>
            </a:pPr>
            <a:r>
              <a:t>Chaque niveau impose des obligations différentes.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Minimal : IA pour jeux vidéo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Élevé : IA pour recrutement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Interdit : Surveillance biométrique en temps réel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La classification détermine les obligations légales et les contrôles à mettre en place.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Obligations pour systèmes à haut risque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Objectif : Garantir sécurité et conformité des IA à haut risque.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Évaluation de conformité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Documentation technique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Gestion des données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endParaRPr/>
          </a:p>
          <a:p>
            <a:pPr>
              <a:defRPr sz="1800">
                <a:solidFill>
                  <a:srgbClr val="505050"/>
                </a:solidFill>
              </a:defRPr>
            </a:pPr>
            <a:r>
              <a:t>Ces obligations sont strictes et détaillées.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Schéma explicatif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06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Schéma : Processus (Audit → Certification → Surveillance)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IA médicale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IA pour crédit bancaire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Les entreprises doivent mettre en place des processus robustes et des audits réguliers.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Transparence et information des utilisateurs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Objectif : Informer clairement les utilisateurs.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Indiquer qu’ils interagissent avec une IA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Expliquer la logique des décisions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Fournir des instructions d’usage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Schéma explicatif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06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Schéma : Interaction → Information → Consentement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Chatbot qui annonce son statut IA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IA générative avec avertissement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La transparence renforce la confiance et réduit les risques juridiques.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Gouvernance et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Objectif : Mettre en place un cadre de contrôle.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Points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Autorités nationales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Comité européen de l’IA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Audits réguliers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Schéma explicatif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06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Schéma : Organigramme (UE → États membres → Entreprises)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Contrôles annuels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Rapports de conformité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Implications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Implications pratiques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Les entreprises doivent coopérer avec les autorités et préparer des rapports détaillés.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rPr lang="fr-FR" dirty="0"/>
              <a:t>Sanctions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Points clés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Amendes jusqu’à 30 M€ ou 6 % CA mondial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Sanctions graduées selon gravité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Schéma explicatif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06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Schéma : Flux (Analyse → Mise en conformité → Avantage compétitif)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Exemples concrets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05050"/>
                </a:solidFill>
              </a:defRPr>
            </a:pPr>
            <a:r>
              <a:t>Exemples :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Entreprises tech → audits IA</a:t>
            </a:r>
          </a:p>
          <a:p>
            <a:pPr>
              <a:defRPr sz="1800">
                <a:solidFill>
                  <a:srgbClr val="505050"/>
                </a:solidFill>
              </a:defRPr>
            </a:pPr>
            <a:r>
              <a:t>- PME → solutions externalisées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3136</TotalTime>
  <Words>1370</Words>
  <Application>Microsoft Office PowerPoint</Application>
  <PresentationFormat>Affichage à l'écran (4:3)</PresentationFormat>
  <Paragraphs>220</Paragraphs>
  <Slides>48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</vt:vector>
  </HeadingPairs>
  <TitlesOfParts>
    <vt:vector size="54" baseType="lpstr">
      <vt:lpstr>Yu Gothic Light</vt:lpstr>
      <vt:lpstr>Arial</vt:lpstr>
      <vt:lpstr>Calibri</vt:lpstr>
      <vt:lpstr>Monotype Sorts</vt:lpstr>
      <vt:lpstr>Times New Roman</vt:lpstr>
      <vt:lpstr>cvc</vt:lpstr>
      <vt:lpstr>Présentation PowerPoint</vt:lpstr>
      <vt:lpstr>Ecran n°6 Riche de données… mais sécurisée</vt:lpstr>
      <vt:lpstr>Ecran n°7 Conformité des données</vt:lpstr>
      <vt:lpstr>Ecran n°9 Des espaces sans adhérence avec la production</vt:lpstr>
      <vt:lpstr>Ecran n°17 Règle 1 : Respect des contraintes qualité / réglementaires</vt:lpstr>
      <vt:lpstr>Le droit</vt:lpstr>
      <vt:lpstr>CNIL</vt:lpstr>
      <vt:lpstr>RGPD</vt:lpstr>
      <vt:lpstr>Introduction au RGPD - Points clés</vt:lpstr>
      <vt:lpstr>Introduction au RGPD - Schéma explicatif</vt:lpstr>
      <vt:lpstr>Introduction au RGPD - Exemples</vt:lpstr>
      <vt:lpstr>Principes fondamentaux - Points clés</vt:lpstr>
      <vt:lpstr>Principes fondamentaux - Exemples</vt:lpstr>
      <vt:lpstr>Droits des personnes - Points clés</vt:lpstr>
      <vt:lpstr>Obligations des responsables de traitement - Points clés</vt:lpstr>
      <vt:lpstr>Consentement et bases légales - Points clés</vt:lpstr>
      <vt:lpstr>Délégué à la protection des données (DPO) - Points clés</vt:lpstr>
      <vt:lpstr>Violations de données et notifications - Points clés</vt:lpstr>
      <vt:lpstr>Sanctions et pénalités - Points clés</vt:lpstr>
      <vt:lpstr>Impact sur les entreprises - Points clés</vt:lpstr>
      <vt:lpstr>Introduction à l’IA Act</vt:lpstr>
      <vt:lpstr>Points clés</vt:lpstr>
      <vt:lpstr>Présentation PowerPoint</vt:lpstr>
      <vt:lpstr>Implications pratiques</vt:lpstr>
      <vt:lpstr>Points clés</vt:lpstr>
      <vt:lpstr>Exemples concrets</vt:lpstr>
      <vt:lpstr>Implications pratiques</vt:lpstr>
      <vt:lpstr>Les risques</vt:lpstr>
      <vt:lpstr>Exemples concrets</vt:lpstr>
      <vt:lpstr>Implications pratiques</vt:lpstr>
      <vt:lpstr>Obligations pour systèmes à haut risque</vt:lpstr>
      <vt:lpstr>Points clés</vt:lpstr>
      <vt:lpstr>Présentation PowerPoint</vt:lpstr>
      <vt:lpstr>Exemples concrets</vt:lpstr>
      <vt:lpstr>Implications pratiques</vt:lpstr>
      <vt:lpstr>Transparence et information des utilisateurs</vt:lpstr>
      <vt:lpstr>Points clés</vt:lpstr>
      <vt:lpstr>Présentation PowerPoint</vt:lpstr>
      <vt:lpstr>Exemples concrets</vt:lpstr>
      <vt:lpstr>Implications pratiques</vt:lpstr>
      <vt:lpstr>Gouvernance et surveillance</vt:lpstr>
      <vt:lpstr>Points clés</vt:lpstr>
      <vt:lpstr>Présentation PowerPoint</vt:lpstr>
      <vt:lpstr>Exemples concrets</vt:lpstr>
      <vt:lpstr>Implications pratiques</vt:lpstr>
      <vt:lpstr>Sanctions</vt:lpstr>
      <vt:lpstr>Présentation PowerPoint</vt:lpstr>
      <vt:lpstr>Exemples concrets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252</cp:revision>
  <dcterms:created xsi:type="dcterms:W3CDTF">2000-04-10T19:33:12Z</dcterms:created>
  <dcterms:modified xsi:type="dcterms:W3CDTF">2025-12-28T11:08:14Z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