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64" r:id="rId2"/>
    <p:sldId id="342" r:id="rId3"/>
    <p:sldId id="343" r:id="rId4"/>
    <p:sldId id="344" r:id="rId5"/>
    <p:sldId id="345" r:id="rId6"/>
    <p:sldId id="347" r:id="rId7"/>
    <p:sldId id="348" r:id="rId8"/>
    <p:sldId id="358" r:id="rId9"/>
    <p:sldId id="349" r:id="rId10"/>
    <p:sldId id="350" r:id="rId11"/>
    <p:sldId id="346" r:id="rId12"/>
    <p:sldId id="351" r:id="rId13"/>
    <p:sldId id="352" r:id="rId14"/>
    <p:sldId id="354" r:id="rId15"/>
    <p:sldId id="353" r:id="rId16"/>
    <p:sldId id="355" r:id="rId17"/>
    <p:sldId id="324" r:id="rId18"/>
    <p:sldId id="325" r:id="rId19"/>
    <p:sldId id="357" r:id="rId20"/>
    <p:sldId id="326" r:id="rId21"/>
    <p:sldId id="356" r:id="rId2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0ABDEA8-EB22-42D4-B8E2-0C26FFC92FC1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B6F03-2704-4FB7-B539-03DC9F576B4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4550228" cy="7674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634" y="29354"/>
            <a:ext cx="4284966" cy="72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Ecran xx</a:t>
            </a:r>
            <a:br>
              <a:rPr lang="fr-FR" dirty="0"/>
            </a:br>
            <a:r>
              <a:rPr lang="fr-FR" dirty="0"/>
              <a:t>Titre de l’écran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550229" y="0"/>
            <a:ext cx="4593772" cy="7674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2245"/>
            <a:ext cx="4572000" cy="6578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350" baseline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825"/>
            </a:lvl2pPr>
            <a:lvl3pPr>
              <a:defRPr sz="788"/>
            </a:lvl3pPr>
            <a:lvl4pPr>
              <a:defRPr sz="675"/>
            </a:lvl4pPr>
            <a:lvl5pPr>
              <a:defRPr sz="600"/>
            </a:lvl5pPr>
          </a:lstStyle>
          <a:p>
            <a:pPr lvl="0"/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8048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MDM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2</a:t>
            </a:r>
          </a:p>
          <a:p>
            <a:pPr eaLnBrk="1" hangingPunct="1"/>
            <a:r>
              <a:rPr lang="fr-FR" altLang="fr-FR" dirty="0"/>
              <a:t>Data Management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699792" y="2060848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C3D03-4819-3428-B519-FBF5F96A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6AC47-C50C-26CE-2EA2-BC10765F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définitions classiques des données mettent l'accent sur leur rôle dans la représentation des faits concernant le monde</a:t>
            </a:r>
          </a:p>
          <a:p>
            <a:r>
              <a:rPr lang="fr-FR" dirty="0"/>
              <a:t>En lien avec les technologies de l'information, les données sont également comprises comme des informations stockées sous forme numérique</a:t>
            </a:r>
          </a:p>
        </p:txBody>
      </p:sp>
    </p:spTree>
    <p:extLst>
      <p:ext uri="{BB962C8B-B14F-4D97-AF65-F5344CB8AC3E}">
        <p14:creationId xmlns:p14="http://schemas.microsoft.com/office/powerpoint/2010/main" val="138335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9B80-99B7-1789-A197-6C500B00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2814F9-3F32-30D9-C3AB-5CD22E07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données en tant qu'actif organisationnel</a:t>
            </a:r>
          </a:p>
          <a:p>
            <a:r>
              <a:rPr lang="fr-FR" dirty="0"/>
              <a:t>Les données représentent un actif (asset) de la société</a:t>
            </a:r>
          </a:p>
          <a:p>
            <a:pPr lvl="1"/>
            <a:r>
              <a:rPr lang="fr-FR" dirty="0"/>
              <a:t>Essor de l'IA</a:t>
            </a:r>
          </a:p>
        </p:txBody>
      </p:sp>
    </p:spTree>
    <p:extLst>
      <p:ext uri="{BB962C8B-B14F-4D97-AF65-F5344CB8AC3E}">
        <p14:creationId xmlns:p14="http://schemas.microsoft.com/office/powerpoint/2010/main" val="257303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3F0F2-0338-3B32-44A8-E4952B65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755F80-BAB7-3F50-E7A1-40C2AB89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donnée est un actif avec des propriétés uniques</a:t>
            </a:r>
          </a:p>
          <a:p>
            <a:pPr lvl="1"/>
            <a:r>
              <a:rPr lang="fr-FR" dirty="0"/>
              <a:t>Contrairement aux autres actifs, la data n'est pas consommée quand elle est utilisée</a:t>
            </a:r>
          </a:p>
          <a:p>
            <a:r>
              <a:rPr lang="fr-FR" dirty="0"/>
              <a:t>La donnée a une valeur</a:t>
            </a:r>
          </a:p>
          <a:p>
            <a:pPr lvl="1"/>
            <a:r>
              <a:rPr lang="fr-FR" dirty="0"/>
              <a:t>Qui doit être exprimée</a:t>
            </a:r>
          </a:p>
          <a:p>
            <a:r>
              <a:rPr lang="fr-FR" dirty="0"/>
              <a:t>Data management = </a:t>
            </a:r>
            <a:r>
              <a:rPr lang="fr-FR" dirty="0" err="1"/>
              <a:t>quality</a:t>
            </a:r>
            <a:r>
              <a:rPr lang="fr-FR" dirty="0"/>
              <a:t> management</a:t>
            </a:r>
          </a:p>
          <a:p>
            <a:pPr lvl="1"/>
            <a:r>
              <a:rPr lang="fr-FR" dirty="0"/>
              <a:t>Gérer la donnée c'est géré sa qualité</a:t>
            </a:r>
          </a:p>
          <a:p>
            <a:r>
              <a:rPr lang="fr-FR" dirty="0"/>
              <a:t>Il faut des métadonnées pour gérer les données</a:t>
            </a:r>
          </a:p>
          <a:p>
            <a:pPr lvl="1"/>
            <a:r>
              <a:rPr lang="fr-FR" dirty="0"/>
              <a:t>Tout actif a des données (nombre d'employé, CA, …)</a:t>
            </a:r>
          </a:p>
          <a:p>
            <a:pPr lvl="1"/>
            <a:r>
              <a:rPr lang="fr-FR" dirty="0"/>
              <a:t>Les données des données =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873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F48BC-1C9B-077D-04EA-9864583D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2D9CC5-FAE0-9D48-218F-38395434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Planification</a:t>
            </a:r>
          </a:p>
          <a:p>
            <a:pPr lvl="1"/>
            <a:r>
              <a:rPr lang="fr-FR" dirty="0"/>
              <a:t>La gestion des données nécessite une planification</a:t>
            </a:r>
          </a:p>
          <a:p>
            <a:r>
              <a:rPr lang="fr-FR" dirty="0"/>
              <a:t>La gestion des données est transversale</a:t>
            </a:r>
          </a:p>
          <a:p>
            <a:pPr lvl="1"/>
            <a:r>
              <a:rPr lang="fr-FR" dirty="0"/>
              <a:t>Elle requiert un large éventail de compétences et d'expertises</a:t>
            </a:r>
          </a:p>
          <a:p>
            <a:r>
              <a:rPr lang="fr-FR" dirty="0"/>
              <a:t>Nécessite une perspective d'entreprise</a:t>
            </a:r>
          </a:p>
          <a:p>
            <a:pPr lvl="1"/>
            <a:r>
              <a:rPr lang="fr-FR" dirty="0"/>
              <a:t>Cycle de vie</a:t>
            </a:r>
          </a:p>
          <a:p>
            <a:pPr lvl="1"/>
            <a:r>
              <a:rPr lang="fr-FR" dirty="0"/>
              <a:t>Gestion du risque</a:t>
            </a:r>
          </a:p>
          <a:p>
            <a:pPr lvl="1"/>
            <a:r>
              <a:rPr lang="fr-FR" dirty="0"/>
              <a:t>Décisions techniques</a:t>
            </a:r>
          </a:p>
          <a:p>
            <a:pPr lvl="1"/>
            <a:r>
              <a:rPr lang="fr-FR" dirty="0"/>
              <a:t>Gouvernance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055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F307D3-EB18-05D6-B49F-21BBA6A3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D3E84-F37E-E578-61D7-1D676224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BE99C2D-0573-68FA-70DA-C4CB0361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19" y="0"/>
            <a:ext cx="4652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207ED9-7C47-1600-C821-A96996D0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Cycle de vie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752A0-1221-5E63-6F8A-D8D335FE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donnée a un cycle de vie qui peut être complexe</a:t>
            </a:r>
          </a:p>
        </p:txBody>
      </p:sp>
      <p:pic>
        <p:nvPicPr>
          <p:cNvPr id="5" name="Image 4" descr="Une image contenant texte, cercl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33B1D7EE-C540-66B6-4909-0D706016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34" y="1847778"/>
            <a:ext cx="434400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8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BAF54-86CC-87DD-76BA-BF00E9B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Cycle de </a:t>
            </a:r>
            <a:r>
              <a:rPr lang="fr-FR"/>
              <a:t>vie détaillé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EEE10-5455-E415-7334-370E6698E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Data Life Cycle">
            <a:extLst>
              <a:ext uri="{FF2B5EF4-FFF2-40B4-BE49-F238E27FC236}">
                <a16:creationId xmlns:a16="http://schemas.microsoft.com/office/drawing/2014/main" id="{E2796AE9-8780-6E55-8E4E-147C31E14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908720"/>
            <a:ext cx="5733256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69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36691-1484-E1AE-EFD8-2AD89561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A0B18E-8919-E9F9-2ED2-E59BFCB69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création une des étapes la plus critique du cycle de vie des données</a:t>
            </a:r>
          </a:p>
          <a:p>
            <a:r>
              <a:rPr lang="fr-FR" dirty="0"/>
              <a:t>La gestion des données doit être menée en comprenant comment elles sont produites ou obtenues</a:t>
            </a:r>
          </a:p>
          <a:p>
            <a:r>
              <a:rPr lang="fr-FR" dirty="0"/>
              <a:t>Produire des données a un coût</a:t>
            </a:r>
          </a:p>
        </p:txBody>
      </p:sp>
    </p:spTree>
    <p:extLst>
      <p:ext uri="{BB962C8B-B14F-4D97-AF65-F5344CB8AC3E}">
        <p14:creationId xmlns:p14="http://schemas.microsoft.com/office/powerpoint/2010/main" val="278901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82C2B-4DF8-7E20-595E-5F96A18C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1759E4-33C4-D5F7-D3C8-190A2843B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L'utilisation est également une des étapes la plus critique du cycle de vie des données</a:t>
            </a:r>
          </a:p>
          <a:p>
            <a:r>
              <a:rPr lang="fr-FR" dirty="0"/>
              <a:t>La gestion des données doit être menée en comprenant comment elles sont utilisées</a:t>
            </a:r>
          </a:p>
          <a:p>
            <a:r>
              <a:rPr lang="fr-FR" dirty="0"/>
              <a:t>Les données n'ont de valeur que lorsqu'elles sont utilisées ou mises en application</a:t>
            </a:r>
          </a:p>
          <a:p>
            <a:r>
              <a:rPr lang="fr-FR" dirty="0"/>
              <a:t>La gestion de la qualité des données doit être gérée dans tous le cycle de vie</a:t>
            </a:r>
          </a:p>
          <a:p>
            <a:pPr lvl="1"/>
            <a:r>
              <a:rPr lang="fr-FR" dirty="0"/>
              <a:t>Ainsi que leur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Leur sécurité</a:t>
            </a:r>
          </a:p>
        </p:txBody>
      </p:sp>
    </p:spTree>
    <p:extLst>
      <p:ext uri="{BB962C8B-B14F-4D97-AF65-F5344CB8AC3E}">
        <p14:creationId xmlns:p14="http://schemas.microsoft.com/office/powerpoint/2010/main" val="263739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6B2F7-4411-F28A-7918-9683A7AE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valeur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FC2983-6516-6404-4AAA-4E8F7E61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Contrairement aux autres actifs il est parfois difficile de connaitre la valeur d'une donnée</a:t>
            </a:r>
          </a:p>
          <a:p>
            <a:r>
              <a:rPr lang="fr-FR" dirty="0"/>
              <a:t>Comment connaitre son coût ?</a:t>
            </a:r>
          </a:p>
          <a:p>
            <a:pPr lvl="1"/>
            <a:r>
              <a:rPr lang="fr-FR" dirty="0"/>
              <a:t>Acquisition</a:t>
            </a:r>
          </a:p>
          <a:p>
            <a:pPr lvl="1"/>
            <a:r>
              <a:rPr lang="fr-FR" dirty="0"/>
              <a:t>Stockage</a:t>
            </a:r>
          </a:p>
          <a:p>
            <a:pPr lvl="1"/>
            <a:r>
              <a:rPr lang="fr-FR" dirty="0"/>
              <a:t>Coût de remplacement en cas de perte</a:t>
            </a:r>
          </a:p>
          <a:p>
            <a:pPr lvl="1"/>
            <a:r>
              <a:rPr lang="fr-FR" dirty="0"/>
              <a:t>Impact en cas de perte</a:t>
            </a:r>
          </a:p>
          <a:p>
            <a:pPr lvl="1"/>
            <a:r>
              <a:rPr lang="fr-FR" dirty="0"/>
              <a:t>Qui peut payer pour la data ?</a:t>
            </a:r>
          </a:p>
          <a:p>
            <a:pPr lvl="1"/>
            <a:r>
              <a:rPr lang="fr-FR" dirty="0"/>
              <a:t>Quel est ma perte si la data fuite ?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642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2C393-5D7A-241A-65B7-72DA2D83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EF9797-B1E9-FACE-3D8D-9E5F13A6E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stratégie est un ensemble de choix et de décisions qui, ensemble, définissent une ligne de conduite générale pour atteindre des objectifs de haut niveau</a:t>
            </a:r>
          </a:p>
          <a:p>
            <a:pPr lvl="1"/>
            <a:r>
              <a:rPr lang="fr-FR" dirty="0"/>
              <a:t>Aux échecs, une stratégie est une suite de coups visant à gagner par échec et mat ou à survivre par pat</a:t>
            </a:r>
          </a:p>
          <a:p>
            <a:pPr lvl="1"/>
            <a:r>
              <a:rPr lang="fr-FR" dirty="0"/>
              <a:t>Un plan stratégique est une ligne de conduite générale pour atteindre des objectifs de haut niveau.</a:t>
            </a:r>
          </a:p>
        </p:txBody>
      </p:sp>
    </p:spTree>
    <p:extLst>
      <p:ext uri="{BB962C8B-B14F-4D97-AF65-F5344CB8AC3E}">
        <p14:creationId xmlns:p14="http://schemas.microsoft.com/office/powerpoint/2010/main" val="213804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C85E5-0ECF-F8D4-B2ED-D1D6AC0E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C55B2-B86B-0CB6-3870-DAFAADDBC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stratégie de données doit inclure des plans d'affaires visant à exploiter l'information pour obtenir un avantage concurrentiel et soutenir les objectifs de l'entreprise</a:t>
            </a:r>
          </a:p>
          <a:p>
            <a:r>
              <a:rPr lang="fr-FR" dirty="0"/>
              <a:t>Cette stratégie doit découler d'une compréhension des besoins en données inhérents à la stratégie d'entreprise</a:t>
            </a:r>
          </a:p>
          <a:p>
            <a:pPr lvl="1"/>
            <a:r>
              <a:rPr lang="fr-FR" dirty="0"/>
              <a:t>quelles données l'organisation a-t-elle besoin</a:t>
            </a:r>
          </a:p>
          <a:p>
            <a:pPr lvl="1"/>
            <a:r>
              <a:rPr lang="fr-FR" dirty="0"/>
              <a:t>comment les obtiendra-t-elle</a:t>
            </a:r>
          </a:p>
          <a:p>
            <a:pPr lvl="1"/>
            <a:r>
              <a:rPr lang="fr-FR" dirty="0"/>
              <a:t>comment les gérera-t-elle et garantira-t-elle leur fiabilité dans le temps</a:t>
            </a:r>
          </a:p>
          <a:p>
            <a:pPr lvl="1"/>
            <a:r>
              <a:rPr lang="fr-FR" dirty="0"/>
              <a:t>comment les utilisera-t-elle ?</a:t>
            </a:r>
          </a:p>
        </p:txBody>
      </p:sp>
    </p:spTree>
    <p:extLst>
      <p:ext uri="{BB962C8B-B14F-4D97-AF65-F5344CB8AC3E}">
        <p14:creationId xmlns:p14="http://schemas.microsoft.com/office/powerpoint/2010/main" val="450165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88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053" y="2884088"/>
            <a:ext cx="4430652" cy="2318205"/>
          </a:xfrm>
          <a:prstGeom prst="rect">
            <a:avLst/>
          </a:prstGeom>
        </p:spPr>
      </p:pic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-1169" r="81531"/>
          <a:stretch/>
        </p:blipFill>
        <p:spPr>
          <a:xfrm>
            <a:off x="798389" y="2884088"/>
            <a:ext cx="870045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Chief Data </a:t>
            </a:r>
            <a:r>
              <a:rPr lang="fr-FR" sz="1500" dirty="0" err="1">
                <a:latin typeface="+mn-lt"/>
              </a:rPr>
              <a:t>Officer</a:t>
            </a:r>
            <a:r>
              <a:rPr lang="fr-FR" sz="1500" dirty="0">
                <a:latin typeface="+mn-lt"/>
              </a:rPr>
              <a:t> 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-108520" y="4527566"/>
            <a:ext cx="1003841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CDO</a:t>
            </a:r>
          </a:p>
        </p:txBody>
      </p:sp>
      <p:grpSp>
        <p:nvGrpSpPr>
          <p:cNvPr id="64" name="Groupe 63"/>
          <p:cNvGrpSpPr/>
          <p:nvPr/>
        </p:nvGrpSpPr>
        <p:grpSpPr>
          <a:xfrm>
            <a:off x="901644" y="4567471"/>
            <a:ext cx="290146" cy="106121"/>
            <a:chOff x="6099805" y="6332333"/>
            <a:chExt cx="386861" cy="141494"/>
          </a:xfrm>
        </p:grpSpPr>
        <p:cxnSp>
          <p:nvCxnSpPr>
            <p:cNvPr id="65" name="Connecteur droit 64"/>
            <p:cNvCxnSpPr/>
            <p:nvPr/>
          </p:nvCxnSpPr>
          <p:spPr>
            <a:xfrm flipV="1">
              <a:off x="6373804" y="6332333"/>
              <a:ext cx="112862" cy="14114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à coins arrondis 87"/>
          <p:cNvSpPr/>
          <p:nvPr/>
        </p:nvSpPr>
        <p:spPr>
          <a:xfrm>
            <a:off x="2078253" y="3412001"/>
            <a:ext cx="4203511" cy="1038022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Le </a:t>
            </a:r>
            <a:r>
              <a:rPr lang="fr-FR" sz="1400" b="1" dirty="0"/>
              <a:t>CHIEF DATA OFFICER </a:t>
            </a:r>
            <a:r>
              <a:rPr lang="fr-FR" sz="1400" dirty="0"/>
              <a:t>est responsable de la mise en œuvre et du respect des règles de gestion des données</a:t>
            </a:r>
            <a:r>
              <a:rPr lang="fr-FR" sz="1400" i="1" dirty="0"/>
              <a:t> (sécurité, conformité, réglementaire…)</a:t>
            </a:r>
            <a:r>
              <a:rPr lang="fr-FR" sz="1400" dirty="0"/>
              <a:t>.</a:t>
            </a:r>
            <a:endParaRPr lang="fr-FR" sz="140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3" name="Groupe 3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39" name="Pentagone 3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0" name="Ellipse 3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4" name="Groupe 4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46" name="Ellipse 4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2" name="Image 51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5" name="Ellipse 4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6281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91C49-385D-8CA3-3809-DCE697E7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de la stratégie </a:t>
            </a:r>
            <a:r>
              <a:rPr lang="fr-FR"/>
              <a:t>du CDO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33F503-C57C-23F0-20B1-2D49FB3A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/>
              <a:t>Une vision convaincante de la gestion des données</a:t>
            </a:r>
          </a:p>
          <a:p>
            <a:r>
              <a:rPr lang="fr-FR" sz="1800" dirty="0"/>
              <a:t>Un argumentaire commercial synthétique pour la gestion des données, illustré d'exemples concrets</a:t>
            </a:r>
          </a:p>
          <a:p>
            <a:r>
              <a:rPr lang="fr-FR" sz="1800" dirty="0"/>
              <a:t>Principes directeurs, valeurs et perspectives de gestion</a:t>
            </a:r>
          </a:p>
          <a:p>
            <a:r>
              <a:rPr lang="fr-FR" sz="1800" dirty="0" err="1"/>
              <a:t>Mision</a:t>
            </a:r>
            <a:r>
              <a:rPr lang="fr-FR" sz="1800" dirty="0"/>
              <a:t> et objectifs stratégiques à long terme de la gestion des données</a:t>
            </a:r>
          </a:p>
          <a:p>
            <a:r>
              <a:rPr lang="fr-FR" sz="1800" dirty="0"/>
              <a:t>Indicateurs de réussite proposés pour la gestion des données</a:t>
            </a:r>
          </a:p>
          <a:p>
            <a:r>
              <a:rPr lang="fr-FR" sz="1800" dirty="0"/>
              <a:t>Objectifs SMART (spécifiques, mesurables, atteignables, réalistes et temporellement définis) du programme de gestion des données à court terme (12 à 24 mois)</a:t>
            </a:r>
          </a:p>
          <a:p>
            <a:r>
              <a:rPr lang="fr-FR" sz="1800" dirty="0"/>
              <a:t>Description des rôles et des organisations en charge de la gestion des données, ainsi qu'un résumé de leurs responsabilités et pouvoirs de décision</a:t>
            </a:r>
          </a:p>
          <a:p>
            <a:r>
              <a:rPr lang="fr-FR" sz="1800" dirty="0"/>
              <a:t>Description des composantes et initiatives du programme de gestion des données</a:t>
            </a:r>
          </a:p>
          <a:p>
            <a:r>
              <a:rPr lang="fr-FR" sz="1800" dirty="0"/>
              <a:t>Un programme de travail priorisé, délimité par un périmètre défini</a:t>
            </a:r>
          </a:p>
          <a:p>
            <a:r>
              <a:rPr lang="fr-FR" sz="1800" dirty="0"/>
              <a:t>Une feuille de route préliminaire pour la mise en œuvre, incluant les projets et les actions à entreprendre</a:t>
            </a:r>
          </a:p>
        </p:txBody>
      </p:sp>
    </p:spTree>
    <p:extLst>
      <p:ext uri="{BB962C8B-B14F-4D97-AF65-F5344CB8AC3E}">
        <p14:creationId xmlns:p14="http://schemas.microsoft.com/office/powerpoint/2010/main" val="244836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0B8C9-70A5-C958-D535-7F5AFDDA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919FF3-BA1A-C838-3B3E-A2031EA2B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DAMA</a:t>
            </a:r>
          </a:p>
          <a:p>
            <a:r>
              <a:rPr lang="fr-FR" dirty="0" err="1"/>
              <a:t>DMBok</a:t>
            </a:r>
            <a:endParaRPr lang="fr-FR" dirty="0"/>
          </a:p>
          <a:p>
            <a:r>
              <a:rPr lang="fr-FR" dirty="0" err="1"/>
              <a:t>DMBok</a:t>
            </a:r>
            <a:r>
              <a:rPr lang="fr-FR" dirty="0"/>
              <a:t> </a:t>
            </a:r>
            <a:r>
              <a:rPr lang="fr-FR" dirty="0" err="1"/>
              <a:t>framework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9479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E0232-3E22-D9CB-C262-67684897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DAMA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24447B-1021-8449-B069-9884319B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Data Management Association est une organisation mondiale à but non lucratif qui vise à promouvoir les concepts et les pratiques de gestion de l'information et des données.</a:t>
            </a:r>
          </a:p>
          <a:p>
            <a:r>
              <a:rPr lang="fr-FR" dirty="0"/>
              <a:t>Elle se décrit comme une organisation indépendante des fournisseurs et entièrement composée de bénévoles et ses membres sont des professionnels techniques et commerciaux</a:t>
            </a:r>
          </a:p>
        </p:txBody>
      </p:sp>
      <p:pic>
        <p:nvPicPr>
          <p:cNvPr id="7" name="Image 6" descr="Une image contenant logo, Police, cercle, Graphique&#10;&#10;Le contenu généré par l’IA peut être incorrect.">
            <a:extLst>
              <a:ext uri="{FF2B5EF4-FFF2-40B4-BE49-F238E27FC236}">
                <a16:creationId xmlns:a16="http://schemas.microsoft.com/office/drawing/2014/main" id="{56AA0E7D-0C15-2FC4-2BC1-BB6FEFFA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879"/>
            <a:ext cx="183858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6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F3DDA-B19D-6D99-512B-C5AC0666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DMBOK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71620-518E-72F0-AB51-B3B3FB59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4795831" cy="5040560"/>
          </a:xfrm>
        </p:spPr>
        <p:txBody>
          <a:bodyPr/>
          <a:lstStyle/>
          <a:p>
            <a:r>
              <a:rPr lang="en-US" dirty="0"/>
              <a:t>Data management body of knowledge est un livre qui </a:t>
            </a:r>
            <a:r>
              <a:rPr lang="en-US" dirty="0" err="1"/>
              <a:t>regroupe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pratiques du </a:t>
            </a:r>
            <a:r>
              <a:rPr lang="en-US"/>
              <a:t>data management</a:t>
            </a:r>
            <a:endParaRPr lang="fr-FR" dirty="0"/>
          </a:p>
        </p:txBody>
      </p:sp>
      <p:pic>
        <p:nvPicPr>
          <p:cNvPr id="5" name="Image 4" descr="Une image contenant texte, livre, Police, graphisme&#10;&#10;Le contenu généré par l’IA peut être incorrect.">
            <a:extLst>
              <a:ext uri="{FF2B5EF4-FFF2-40B4-BE49-F238E27FC236}">
                <a16:creationId xmlns:a16="http://schemas.microsoft.com/office/drawing/2014/main" id="{B75F1888-801F-1952-FDAC-8E0DB7991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3" y="1356234"/>
            <a:ext cx="4283968" cy="552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375B04-C7FC-336E-A439-4D588DE9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DMBok</a:t>
            </a:r>
            <a:r>
              <a:rPr lang="fr-FR" dirty="0"/>
              <a:t> Framework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C9249-844D-B379-EF04-F294B595A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boite à outils de documents pour vous aider dans la stratégie</a:t>
            </a:r>
          </a:p>
        </p:txBody>
      </p:sp>
      <p:pic>
        <p:nvPicPr>
          <p:cNvPr id="5" name="Image 4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8B93B72-29BE-2437-6E95-B4370226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648" y="2564904"/>
            <a:ext cx="3853777" cy="324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79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EF338D-4F6A-117C-3397-84193158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DAMA Wheel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1E5649-988E-01D0-7CE4-715B2438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ercl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276598C-16E8-E651-21DC-04F1346B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85" y="1156209"/>
            <a:ext cx="5401429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18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3DDF5-24D6-75B1-7A06-74BBFF70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8C2660-96AE-BBF3-2BCB-3A5C3617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Impact sur les personnes</a:t>
            </a:r>
          </a:p>
          <a:p>
            <a:r>
              <a:rPr lang="fr-FR" dirty="0"/>
              <a:t>Risque de mauvaise utilisation</a:t>
            </a:r>
          </a:p>
          <a:p>
            <a:r>
              <a:rPr lang="fr-FR" dirty="0"/>
              <a:t>La data a une valeur</a:t>
            </a:r>
          </a:p>
          <a:p>
            <a:pPr lvl="1"/>
            <a:r>
              <a:rPr lang="fr-FR" dirty="0"/>
              <a:t>Qui peut y accéder ?</a:t>
            </a:r>
          </a:p>
          <a:p>
            <a:pPr lvl="1"/>
            <a:r>
              <a:rPr lang="fr-FR" dirty="0"/>
              <a:t>Comment ?</a:t>
            </a:r>
          </a:p>
          <a:p>
            <a:r>
              <a:rPr lang="fr-FR" dirty="0"/>
              <a:t>La loi</a:t>
            </a:r>
          </a:p>
          <a:p>
            <a:pPr lvl="1"/>
            <a:r>
              <a:rPr lang="fr-FR" dirty="0"/>
              <a:t>RGPD</a:t>
            </a:r>
          </a:p>
          <a:p>
            <a:pPr lvl="1"/>
            <a:r>
              <a:rPr lang="fr-FR" dirty="0"/>
              <a:t>CNIL</a:t>
            </a:r>
          </a:p>
          <a:p>
            <a:pPr lvl="1"/>
            <a:r>
              <a:rPr lang="fr-FR" dirty="0"/>
              <a:t>AI </a:t>
            </a:r>
            <a:r>
              <a:rPr lang="fr-FR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346283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3200</TotalTime>
  <Words>798</Words>
  <Application>Microsoft Office PowerPoint</Application>
  <PresentationFormat>Affichage à l'écran (4:3)</PresentationFormat>
  <Paragraphs>102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Yu Gothic Light</vt:lpstr>
      <vt:lpstr>Arial</vt:lpstr>
      <vt:lpstr>Calibri</vt:lpstr>
      <vt:lpstr>Monotype Sorts</vt:lpstr>
      <vt:lpstr>Times New Roman</vt:lpstr>
      <vt:lpstr>cvc</vt:lpstr>
      <vt:lpstr>Présentation PowerPoint</vt:lpstr>
      <vt:lpstr>La Data</vt:lpstr>
      <vt:lpstr>Actif</vt:lpstr>
      <vt:lpstr>Principes</vt:lpstr>
      <vt:lpstr>Principes</vt:lpstr>
      <vt:lpstr>Présentation PowerPoint</vt:lpstr>
      <vt:lpstr>Cycle de vie</vt:lpstr>
      <vt:lpstr>Cycle de vie détaillé</vt:lpstr>
      <vt:lpstr>Création</vt:lpstr>
      <vt:lpstr>Utilisation</vt:lpstr>
      <vt:lpstr>La valeur des données</vt:lpstr>
      <vt:lpstr>Stratégie</vt:lpstr>
      <vt:lpstr>Stratégie Data</vt:lpstr>
      <vt:lpstr>L’équipe DataLab – le Chief Data Officer  </vt:lpstr>
      <vt:lpstr>Les composants de la stratégie du CDO</vt:lpstr>
      <vt:lpstr>Les frameworks</vt:lpstr>
      <vt:lpstr>DAMA</vt:lpstr>
      <vt:lpstr>DMBOK</vt:lpstr>
      <vt:lpstr>DMBok Framework</vt:lpstr>
      <vt:lpstr>La DAMA Wheel</vt:lpstr>
      <vt:lpstr>Ethique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264</cp:revision>
  <dcterms:created xsi:type="dcterms:W3CDTF">2000-04-10T19:33:12Z</dcterms:created>
  <dcterms:modified xsi:type="dcterms:W3CDTF">2025-12-28T21:56:39Z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