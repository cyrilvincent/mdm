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6" r:id="rId3"/>
    <p:sldId id="270" r:id="rId4"/>
    <p:sldId id="267" r:id="rId5"/>
    <p:sldId id="268" r:id="rId6"/>
    <p:sldId id="269" r:id="rId7"/>
    <p:sldId id="322" r:id="rId8"/>
    <p:sldId id="327" r:id="rId9"/>
    <p:sldId id="328" r:id="rId10"/>
    <p:sldId id="272" r:id="rId11"/>
    <p:sldId id="273" r:id="rId12"/>
    <p:sldId id="274" r:id="rId13"/>
    <p:sldId id="275" r:id="rId14"/>
    <p:sldId id="277" r:id="rId15"/>
    <p:sldId id="278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Big</a:t>
            </a:r>
            <a:r>
              <a:rPr lang="fr-FR" sz="1600" dirty="0"/>
              <a:t> Data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339752" y="2325469"/>
            <a:ext cx="3775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DataWharehouse</a:t>
            </a:r>
            <a:endParaRPr lang="fr-FR" sz="360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BD03518E-618C-4254-15E0-3B248E42D5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étape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les données</a:t>
            </a:r>
          </a:p>
          <a:p>
            <a:pPr lvl="1"/>
            <a:r>
              <a:rPr lang="fr-FR" dirty="0"/>
              <a:t>Mise à disposition d’un data </a:t>
            </a:r>
            <a:r>
              <a:rPr lang="fr-FR" dirty="0" err="1"/>
              <a:t>lake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07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Lake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lac de données est une méthode de stockage des données utilisée par le </a:t>
            </a:r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r>
              <a:rPr lang="fr-FR" dirty="0"/>
              <a:t>Ces données sont gardées dans leurs formats originaux ou sont très peu transformées</a:t>
            </a:r>
          </a:p>
          <a:p>
            <a:r>
              <a:rPr lang="fr-FR" dirty="0"/>
              <a:t>Le principe est d'avoir dans un lieu des données de natures différentes</a:t>
            </a:r>
          </a:p>
          <a:p>
            <a:pPr lvl="1"/>
            <a:r>
              <a:rPr lang="fr-FR" dirty="0"/>
              <a:t>Fichiers</a:t>
            </a:r>
          </a:p>
          <a:p>
            <a:pPr lvl="1"/>
            <a:r>
              <a:rPr lang="fr-FR" dirty="0"/>
              <a:t>Blobs</a:t>
            </a:r>
          </a:p>
          <a:p>
            <a:r>
              <a:rPr lang="fr-FR" dirty="0" err="1"/>
              <a:t>Hadoop</a:t>
            </a:r>
            <a:r>
              <a:rPr lang="fr-FR" dirty="0"/>
              <a:t> et Amazon Web Services S3 sont des plateformes utilisées pour les mettre en place.</a:t>
            </a:r>
          </a:p>
        </p:txBody>
      </p:sp>
    </p:spTree>
    <p:extLst>
      <p:ext uri="{BB962C8B-B14F-4D97-AF65-F5344CB8AC3E}">
        <p14:creationId xmlns:p14="http://schemas.microsoft.com/office/powerpoint/2010/main" val="390295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Cela peut être des images</a:t>
            </a:r>
          </a:p>
        </p:txBody>
      </p:sp>
      <p:pic>
        <p:nvPicPr>
          <p:cNvPr id="2050" name="Picture 2" descr="/// Petite explication de ce qu'on voit sur l'image ? /// (crédits : 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052736"/>
            <a:ext cx="5904656" cy="471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93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Peut être du texte brut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contenu de </a:t>
            </a:r>
            <a:r>
              <a:rPr lang="fr-FR" dirty="0" err="1"/>
              <a:t>wikipedia</a:t>
            </a:r>
            <a:endParaRPr lang="fr-FR" dirty="0"/>
          </a:p>
          <a:p>
            <a:r>
              <a:rPr lang="fr-FR" dirty="0"/>
              <a:t>Les ouvres complètes de Victor Hugo</a:t>
            </a:r>
          </a:p>
        </p:txBody>
      </p:sp>
    </p:spTree>
    <p:extLst>
      <p:ext uri="{BB962C8B-B14F-4D97-AF65-F5344CB8AC3E}">
        <p14:creationId xmlns:p14="http://schemas.microsoft.com/office/powerpoint/2010/main" val="134809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Peut être du texte écrit ou scanné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2132856"/>
            <a:ext cx="797342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5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nouvelles sources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6" name="Picture 2" descr="Nouvelles sources de données Big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7783550" cy="435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09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IoT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objets connectés sont une autre source de données brutes, qui récupèrent un grand nombre de données grâce à leurs capteurs</a:t>
            </a:r>
          </a:p>
        </p:txBody>
      </p:sp>
      <p:pic>
        <p:nvPicPr>
          <p:cNvPr id="2050" name="Picture 2" descr="Un exemple d'objet connecté : le thermostat intelligent de l'entreprise Nest. Source: http://nest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24944"/>
            <a:ext cx="4762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68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des loyers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88" y="1412776"/>
            <a:ext cx="7385981" cy="4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00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DataMart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datamart</a:t>
            </a:r>
            <a:r>
              <a:rPr lang="fr-FR" dirty="0"/>
              <a:t> est un ensemble de données ciblées, organisées, regroupées et agrégées pour répondre à un besoin spécifique à un métier ou un domaine donné</a:t>
            </a:r>
          </a:p>
          <a:p>
            <a:pPr lvl="1"/>
            <a:r>
              <a:rPr lang="fr-FR" dirty="0"/>
              <a:t>Il est donc destiné à être interrogé sur un panel de données restreint à son domaine fonctionnel, selon des paramètres qui auront été définis à l’avance lors de sa conception</a:t>
            </a:r>
          </a:p>
        </p:txBody>
      </p:sp>
    </p:spTree>
    <p:extLst>
      <p:ext uri="{BB962C8B-B14F-4D97-AF65-F5344CB8AC3E}">
        <p14:creationId xmlns:p14="http://schemas.microsoft.com/office/powerpoint/2010/main" val="409556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DataWarehouse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Définition de Kimball</a:t>
            </a:r>
          </a:p>
          <a:p>
            <a:r>
              <a:rPr lang="fr-FR" dirty="0"/>
              <a:t>L’ensemble des </a:t>
            </a:r>
            <a:r>
              <a:rPr lang="fr-FR" dirty="0" err="1"/>
              <a:t>DataMarts</a:t>
            </a:r>
            <a:r>
              <a:rPr lang="fr-FR" dirty="0"/>
              <a:t> de l’entreprise constitue le </a:t>
            </a:r>
            <a:r>
              <a:rPr lang="fr-FR" dirty="0" err="1"/>
              <a:t>DataWarehouse</a:t>
            </a:r>
            <a:r>
              <a:rPr lang="fr-FR" dirty="0"/>
              <a:t>.</a:t>
            </a:r>
          </a:p>
          <a:p>
            <a:r>
              <a:rPr lang="fr-FR" dirty="0"/>
              <a:t>Le </a:t>
            </a:r>
            <a:r>
              <a:rPr lang="fr-FR" dirty="0" err="1"/>
              <a:t>DataMart</a:t>
            </a:r>
            <a:r>
              <a:rPr lang="fr-FR" dirty="0"/>
              <a:t> est un sous-ensemble du </a:t>
            </a:r>
            <a:r>
              <a:rPr lang="fr-FR" dirty="0" err="1"/>
              <a:t>DataWarehouse</a:t>
            </a:r>
            <a:r>
              <a:rPr lang="fr-FR" dirty="0"/>
              <a:t>, constitué de tables au niveau détail et à des niveaux plus agrégés, permettant de restituer tout le spectre d’une activité métier</a:t>
            </a:r>
          </a:p>
        </p:txBody>
      </p:sp>
    </p:spTree>
    <p:extLst>
      <p:ext uri="{BB962C8B-B14F-4D97-AF65-F5344CB8AC3E}">
        <p14:creationId xmlns:p14="http://schemas.microsoft.com/office/powerpoint/2010/main" val="1708998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1026" name="Picture 2" descr="Cycle de travail du data scientist - en.wikipedia.org/wiki/Data_science poue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5415111" cy="406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91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Collecter les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Collecte des données</a:t>
            </a:r>
          </a:p>
          <a:p>
            <a:pPr lvl="1"/>
            <a:r>
              <a:rPr lang="fr-FR" dirty="0"/>
              <a:t>Fichiers</a:t>
            </a:r>
          </a:p>
          <a:p>
            <a:pPr lvl="1"/>
            <a:r>
              <a:rPr lang="fr-FR" dirty="0"/>
              <a:t>Scan</a:t>
            </a:r>
          </a:p>
          <a:p>
            <a:pPr lvl="1"/>
            <a:r>
              <a:rPr lang="fr-FR" dirty="0"/>
              <a:t>Web</a:t>
            </a:r>
          </a:p>
          <a:p>
            <a:pPr lvl="1"/>
            <a:r>
              <a:rPr lang="fr-FR" dirty="0"/>
              <a:t>Base de données</a:t>
            </a:r>
          </a:p>
          <a:p>
            <a:pPr lvl="1"/>
            <a:r>
              <a:rPr lang="fr-FR" dirty="0"/>
              <a:t>Office</a:t>
            </a:r>
          </a:p>
          <a:p>
            <a:pPr lvl="1"/>
            <a:r>
              <a:rPr lang="fr-FR" dirty="0"/>
              <a:t>Les images</a:t>
            </a:r>
          </a:p>
          <a:p>
            <a:pPr lvl="1"/>
            <a:r>
              <a:rPr lang="fr-FR" dirty="0" err="1"/>
              <a:t>IoT</a:t>
            </a:r>
            <a:endParaRPr lang="fr-FR" dirty="0"/>
          </a:p>
          <a:p>
            <a:r>
              <a:rPr lang="fr-FR" dirty="0"/>
              <a:t>Difficile</a:t>
            </a:r>
          </a:p>
          <a:p>
            <a:r>
              <a:rPr lang="fr-FR" dirty="0"/>
              <a:t>Stockage dans le </a:t>
            </a:r>
            <a:r>
              <a:rPr lang="fr-FR" dirty="0" err="1"/>
              <a:t>DataLake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331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 le </a:t>
            </a:r>
            <a:r>
              <a:rPr lang="fr-FR" dirty="0" err="1"/>
              <a:t>DataLake</a:t>
            </a:r>
            <a:r>
              <a:rPr lang="fr-FR" dirty="0"/>
              <a:t> en </a:t>
            </a:r>
            <a:r>
              <a:rPr lang="fr-FR" dirty="0" err="1"/>
              <a:t>DataMart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 de données structurées</a:t>
            </a:r>
          </a:p>
          <a:p>
            <a:r>
              <a:rPr lang="fr-FR" dirty="0"/>
              <a:t>Base de données relationnelles</a:t>
            </a:r>
          </a:p>
          <a:p>
            <a:r>
              <a:rPr lang="fr-FR" dirty="0"/>
              <a:t>Base de données </a:t>
            </a:r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Hadoop</a:t>
            </a:r>
            <a:r>
              <a:rPr lang="fr-FR" dirty="0"/>
              <a:t> + </a:t>
            </a:r>
            <a:r>
              <a:rPr lang="fr-FR" dirty="0" err="1"/>
              <a:t>Stucturation</a:t>
            </a:r>
            <a:endParaRPr lang="fr-FR" dirty="0"/>
          </a:p>
          <a:p>
            <a:pPr lvl="1"/>
            <a:r>
              <a:rPr lang="fr-FR" dirty="0"/>
              <a:t>Base de types JSON : </a:t>
            </a:r>
            <a:r>
              <a:rPr lang="fr-FR" dirty="0" err="1"/>
              <a:t>MongoDB</a:t>
            </a:r>
            <a:endParaRPr lang="fr-FR" dirty="0"/>
          </a:p>
          <a:p>
            <a:r>
              <a:rPr lang="fr-FR" dirty="0"/>
              <a:t>Fichiers</a:t>
            </a:r>
          </a:p>
          <a:p>
            <a:pPr lvl="1"/>
            <a:r>
              <a:rPr lang="fr-FR" dirty="0"/>
              <a:t>CSV, JSON, XML</a:t>
            </a:r>
          </a:p>
        </p:txBody>
      </p:sp>
    </p:spTree>
    <p:extLst>
      <p:ext uri="{BB962C8B-B14F-4D97-AF65-F5344CB8AC3E}">
        <p14:creationId xmlns:p14="http://schemas.microsoft.com/office/powerpoint/2010/main" val="266316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Nettoyage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nettoyer les données</a:t>
            </a:r>
          </a:p>
          <a:p>
            <a:pPr lvl="1"/>
            <a:r>
              <a:rPr lang="fr-FR" dirty="0"/>
              <a:t>Aberration</a:t>
            </a:r>
          </a:p>
          <a:p>
            <a:pPr lvl="1"/>
            <a:r>
              <a:rPr lang="fr-FR" dirty="0"/>
              <a:t>Hors contexte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En dehors de la loi</a:t>
            </a:r>
          </a:p>
          <a:p>
            <a:pPr lvl="1"/>
            <a:r>
              <a:rPr lang="fr-FR" dirty="0"/>
              <a:t>Prétraitement</a:t>
            </a:r>
          </a:p>
          <a:p>
            <a:pPr lvl="1"/>
            <a:r>
              <a:rPr lang="fr-FR"/>
              <a:t>RGPD</a:t>
            </a:r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876462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3340</TotalTime>
  <Words>305</Words>
  <Application>Microsoft Office PowerPoint</Application>
  <PresentationFormat>Affichage à l'écran (4:3)</PresentationFormat>
  <Paragraphs>56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Monotype Sorts</vt:lpstr>
      <vt:lpstr>Times New Roman</vt:lpstr>
      <vt:lpstr>cvc</vt:lpstr>
      <vt:lpstr>Présentation PowerPoint</vt:lpstr>
      <vt:lpstr>1ère étape</vt:lpstr>
      <vt:lpstr>Data Lake</vt:lpstr>
      <vt:lpstr>Cela peut être des images</vt:lpstr>
      <vt:lpstr>Peut être du texte brut</vt:lpstr>
      <vt:lpstr>Peut être du texte écrit ou scanné</vt:lpstr>
      <vt:lpstr>Les nouvelles sources de données</vt:lpstr>
      <vt:lpstr>IoT</vt:lpstr>
      <vt:lpstr>Exemple des loyers</vt:lpstr>
      <vt:lpstr>DataMart</vt:lpstr>
      <vt:lpstr>DataWarehouse</vt:lpstr>
      <vt:lpstr>Workflow</vt:lpstr>
      <vt:lpstr>Collecter les données</vt:lpstr>
      <vt:lpstr>Transformer le DataLake en DataMart</vt:lpstr>
      <vt:lpstr>Nettoyage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263</cp:revision>
  <dcterms:created xsi:type="dcterms:W3CDTF">2000-04-10T19:33:12Z</dcterms:created>
  <dcterms:modified xsi:type="dcterms:W3CDTF">2025-12-28T11:26:20Z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