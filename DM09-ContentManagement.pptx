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3"/>
  </p:notesMasterIdLst>
  <p:handoutMasterIdLst>
    <p:handoutMasterId r:id="rId14"/>
  </p:handoutMasterIdLst>
  <p:sldIdLst>
    <p:sldId id="264" r:id="rId2"/>
    <p:sldId id="265" r:id="rId3"/>
    <p:sldId id="266" r:id="rId4"/>
    <p:sldId id="267" r:id="rId5"/>
    <p:sldId id="268" r:id="rId6"/>
    <p:sldId id="269" r:id="rId7"/>
    <p:sldId id="270" r:id="rId8"/>
    <p:sldId id="271" r:id="rId9"/>
    <p:sldId id="272" r:id="rId10"/>
    <p:sldId id="273" r:id="rId11"/>
    <p:sldId id="274" r:id="rId12"/>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57" autoAdjust="0"/>
    <p:restoredTop sz="94590" autoAdjust="0"/>
  </p:normalViewPr>
  <p:slideViewPr>
    <p:cSldViewPr>
      <p:cViewPr varScale="1">
        <p:scale>
          <a:sx n="70" d="100"/>
          <a:sy n="70" d="100"/>
        </p:scale>
        <p:origin x="1474"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latin typeface="+mj-lt"/>
              </a:rPr>
              <a:t>MDM</a:t>
            </a:r>
            <a:endParaRPr lang="fr-FR" dirty="0">
              <a:latin typeface="+mj-lt"/>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8</a:t>
            </a:r>
          </a:p>
          <a:p>
            <a:pPr eaLnBrk="1" hangingPunct="1"/>
            <a:r>
              <a:rPr lang="fr-FR" altLang="fr-FR" dirty="0"/>
              <a:t>Content Management</a:t>
            </a:r>
          </a:p>
        </p:txBody>
      </p:sp>
      <p:sp>
        <p:nvSpPr>
          <p:cNvPr id="3" name="ZoneTexte 2"/>
          <p:cNvSpPr txBox="1"/>
          <p:nvPr/>
        </p:nvSpPr>
        <p:spPr>
          <a:xfrm>
            <a:off x="2581711" y="1988840"/>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44DCAE-EC72-A49D-35B0-16F1DEF03794}"/>
              </a:ext>
            </a:extLst>
          </p:cNvPr>
          <p:cNvSpPr>
            <a:spLocks noGrp="1"/>
          </p:cNvSpPr>
          <p:nvPr>
            <p:ph type="title"/>
          </p:nvPr>
        </p:nvSpPr>
        <p:spPr/>
        <p:txBody>
          <a:bodyPr/>
          <a:lstStyle/>
          <a:p>
            <a:r>
              <a:rPr lang="fr-FR" dirty="0"/>
              <a:t>Document &amp; Content Management</a:t>
            </a:r>
          </a:p>
        </p:txBody>
      </p:sp>
      <p:sp>
        <p:nvSpPr>
          <p:cNvPr id="3" name="Espace réservé du contenu 2">
            <a:extLst>
              <a:ext uri="{FF2B5EF4-FFF2-40B4-BE49-F238E27FC236}">
                <a16:creationId xmlns:a16="http://schemas.microsoft.com/office/drawing/2014/main" id="{204B59C8-C22F-7217-9A8F-4C26E7EA3158}"/>
              </a:ext>
            </a:extLst>
          </p:cNvPr>
          <p:cNvSpPr>
            <a:spLocks noGrp="1"/>
          </p:cNvSpPr>
          <p:nvPr>
            <p:ph idx="1"/>
          </p:nvPr>
        </p:nvSpPr>
        <p:spPr/>
        <p:txBody>
          <a:bodyPr/>
          <a:lstStyle/>
          <a:p>
            <a:endParaRPr lang="fr-FR"/>
          </a:p>
        </p:txBody>
      </p:sp>
      <p:pic>
        <p:nvPicPr>
          <p:cNvPr id="5" name="Image 4" descr="Une image contenant texte, cercle, disque compact, Police&#10;&#10;Le contenu généré par l’IA peut être incorrect.">
            <a:extLst>
              <a:ext uri="{FF2B5EF4-FFF2-40B4-BE49-F238E27FC236}">
                <a16:creationId xmlns:a16="http://schemas.microsoft.com/office/drawing/2014/main" id="{87248E1A-E6D3-61AD-F6C9-15DAC8DA6CDA}"/>
              </a:ext>
            </a:extLst>
          </p:cNvPr>
          <p:cNvPicPr>
            <a:picLocks noChangeAspect="1"/>
          </p:cNvPicPr>
          <p:nvPr/>
        </p:nvPicPr>
        <p:blipFill>
          <a:blip r:embed="rId2"/>
          <a:stretch>
            <a:fillRect/>
          </a:stretch>
        </p:blipFill>
        <p:spPr>
          <a:xfrm>
            <a:off x="2152312" y="999786"/>
            <a:ext cx="4839375" cy="4858428"/>
          </a:xfrm>
          <a:prstGeom prst="rect">
            <a:avLst/>
          </a:prstGeom>
        </p:spPr>
      </p:pic>
    </p:spTree>
    <p:extLst>
      <p:ext uri="{BB962C8B-B14F-4D97-AF65-F5344CB8AC3E}">
        <p14:creationId xmlns:p14="http://schemas.microsoft.com/office/powerpoint/2010/main" val="174683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B7445-89C2-7A61-67A6-37BFA1414E12}"/>
              </a:ext>
            </a:extLst>
          </p:cNvPr>
          <p:cNvSpPr>
            <a:spLocks noGrp="1"/>
          </p:cNvSpPr>
          <p:nvPr>
            <p:ph type="title"/>
          </p:nvPr>
        </p:nvSpPr>
        <p:spPr/>
        <p:txBody>
          <a:bodyPr/>
          <a:lstStyle/>
          <a:p>
            <a:r>
              <a:rPr lang="fr-FR" dirty="0"/>
              <a:t>Définition</a:t>
            </a:r>
          </a:p>
        </p:txBody>
      </p:sp>
      <p:sp>
        <p:nvSpPr>
          <p:cNvPr id="3" name="Espace réservé du contenu 2">
            <a:extLst>
              <a:ext uri="{FF2B5EF4-FFF2-40B4-BE49-F238E27FC236}">
                <a16:creationId xmlns:a16="http://schemas.microsoft.com/office/drawing/2014/main" id="{A8F50F5F-52DA-EA9B-481B-B61F1A9EC1A6}"/>
              </a:ext>
            </a:extLst>
          </p:cNvPr>
          <p:cNvSpPr>
            <a:spLocks noGrp="1"/>
          </p:cNvSpPr>
          <p:nvPr>
            <p:ph idx="1"/>
          </p:nvPr>
        </p:nvSpPr>
        <p:spPr/>
        <p:txBody>
          <a:bodyPr/>
          <a:lstStyle/>
          <a:p>
            <a:r>
              <a:rPr lang="fr-FR" dirty="0"/>
              <a:t>Activités de planification, de mise en œuvre et de contrôle de la gestion du cycle de vie des données et des informations, quel que soit leur format ou leur support.</a:t>
            </a:r>
          </a:p>
        </p:txBody>
      </p:sp>
    </p:spTree>
    <p:extLst>
      <p:ext uri="{BB962C8B-B14F-4D97-AF65-F5344CB8AC3E}">
        <p14:creationId xmlns:p14="http://schemas.microsoft.com/office/powerpoint/2010/main" val="20675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C635DD-F7BE-F10B-30FB-2CA6A55181DD}"/>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2A9568B6-73A1-39D5-AC35-E70C31ED9947}"/>
              </a:ext>
            </a:extLst>
          </p:cNvPr>
          <p:cNvSpPr>
            <a:spLocks noGrp="1"/>
          </p:cNvSpPr>
          <p:nvPr>
            <p:ph idx="1"/>
          </p:nvPr>
        </p:nvSpPr>
        <p:spPr/>
        <p:txBody>
          <a:bodyPr/>
          <a:lstStyle/>
          <a:p>
            <a:r>
              <a:rPr lang="fr-FR" dirty="0"/>
              <a:t>Se conformer aux obligations légales et aux attentes des clients en matière de gestion des documents</a:t>
            </a:r>
          </a:p>
          <a:p>
            <a:r>
              <a:rPr lang="fr-FR" dirty="0"/>
              <a:t>Garantir un stockage, une récupération et une utilisation efficaces des documents et des contenus</a:t>
            </a:r>
          </a:p>
          <a:p>
            <a:r>
              <a:rPr lang="fr-FR" dirty="0"/>
              <a:t>Assurer l'intégration des contenus structurés et non structurés.</a:t>
            </a:r>
          </a:p>
        </p:txBody>
      </p:sp>
    </p:spTree>
    <p:extLst>
      <p:ext uri="{BB962C8B-B14F-4D97-AF65-F5344CB8AC3E}">
        <p14:creationId xmlns:p14="http://schemas.microsoft.com/office/powerpoint/2010/main" val="3245922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EBFF27-D818-19A3-9D28-E00FC84CB9C1}"/>
              </a:ext>
            </a:extLst>
          </p:cNvPr>
          <p:cNvSpPr>
            <a:spLocks noGrp="1"/>
          </p:cNvSpPr>
          <p:nvPr>
            <p:ph type="title"/>
          </p:nvPr>
        </p:nvSpPr>
        <p:spPr/>
        <p:txBody>
          <a:bodyPr/>
          <a:lstStyle/>
          <a:p>
            <a:r>
              <a:rPr lang="fr-FR" dirty="0"/>
              <a:t>Architecture générale</a:t>
            </a:r>
          </a:p>
        </p:txBody>
      </p:sp>
      <p:sp>
        <p:nvSpPr>
          <p:cNvPr id="3" name="Espace réservé du contenu 2">
            <a:extLst>
              <a:ext uri="{FF2B5EF4-FFF2-40B4-BE49-F238E27FC236}">
                <a16:creationId xmlns:a16="http://schemas.microsoft.com/office/drawing/2014/main" id="{75A4AAFF-5674-E456-A5D9-2EC1439921B8}"/>
              </a:ext>
            </a:extLst>
          </p:cNvPr>
          <p:cNvSpPr>
            <a:spLocks noGrp="1"/>
          </p:cNvSpPr>
          <p:nvPr>
            <p:ph idx="1"/>
          </p:nvPr>
        </p:nvSpPr>
        <p:spPr/>
        <p:txBody>
          <a:bodyPr/>
          <a:lstStyle/>
          <a:p>
            <a:endParaRPr lang="fr-FR"/>
          </a:p>
        </p:txBody>
      </p:sp>
      <p:pic>
        <p:nvPicPr>
          <p:cNvPr id="6" name="Image 5" descr="Une image contenant texte, capture d’écran, Police, document&#10;&#10;Le contenu généré par l’IA peut être incorrect.">
            <a:extLst>
              <a:ext uri="{FF2B5EF4-FFF2-40B4-BE49-F238E27FC236}">
                <a16:creationId xmlns:a16="http://schemas.microsoft.com/office/drawing/2014/main" id="{63B29980-0372-50F9-3009-78A7BC9C2125}"/>
              </a:ext>
            </a:extLst>
          </p:cNvPr>
          <p:cNvPicPr>
            <a:picLocks noChangeAspect="1"/>
          </p:cNvPicPr>
          <p:nvPr/>
        </p:nvPicPr>
        <p:blipFill>
          <a:blip r:embed="rId2"/>
          <a:stretch>
            <a:fillRect/>
          </a:stretch>
        </p:blipFill>
        <p:spPr>
          <a:xfrm>
            <a:off x="1187624" y="898281"/>
            <a:ext cx="6653307" cy="5959719"/>
          </a:xfrm>
          <a:prstGeom prst="rect">
            <a:avLst/>
          </a:prstGeom>
        </p:spPr>
      </p:pic>
    </p:spTree>
    <p:extLst>
      <p:ext uri="{BB962C8B-B14F-4D97-AF65-F5344CB8AC3E}">
        <p14:creationId xmlns:p14="http://schemas.microsoft.com/office/powerpoint/2010/main" val="3200730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2458B0-154B-F87B-4C53-FE3CEACBC05B}"/>
              </a:ext>
            </a:extLst>
          </p:cNvPr>
          <p:cNvSpPr>
            <a:spLocks noGrp="1"/>
          </p:cNvSpPr>
          <p:nvPr>
            <p:ph type="title"/>
          </p:nvPr>
        </p:nvSpPr>
        <p:spPr/>
        <p:txBody>
          <a:bodyPr/>
          <a:lstStyle/>
          <a:p>
            <a:r>
              <a:rPr lang="fr-FR" dirty="0"/>
              <a:t>GARP</a:t>
            </a:r>
          </a:p>
        </p:txBody>
      </p:sp>
      <p:sp>
        <p:nvSpPr>
          <p:cNvPr id="3" name="Espace réservé du contenu 2">
            <a:extLst>
              <a:ext uri="{FF2B5EF4-FFF2-40B4-BE49-F238E27FC236}">
                <a16:creationId xmlns:a16="http://schemas.microsoft.com/office/drawing/2014/main" id="{5F25B7A9-FFAE-9CBF-30DA-DB15AC47F80E}"/>
              </a:ext>
            </a:extLst>
          </p:cNvPr>
          <p:cNvSpPr>
            <a:spLocks noGrp="1"/>
          </p:cNvSpPr>
          <p:nvPr>
            <p:ph idx="1"/>
          </p:nvPr>
        </p:nvSpPr>
        <p:spPr/>
        <p:txBody>
          <a:bodyPr/>
          <a:lstStyle/>
          <a:p>
            <a:r>
              <a:rPr lang="fr-FR" dirty="0" err="1"/>
              <a:t>Generally</a:t>
            </a:r>
            <a:r>
              <a:rPr lang="fr-FR" dirty="0"/>
              <a:t> Acceptable </a:t>
            </a:r>
            <a:r>
              <a:rPr lang="fr-FR" dirty="0" err="1"/>
              <a:t>Recordkeeping</a:t>
            </a:r>
            <a:r>
              <a:rPr lang="fr-FR" dirty="0"/>
              <a:t> Principles</a:t>
            </a:r>
          </a:p>
          <a:p>
            <a:r>
              <a:rPr lang="fr-FR" dirty="0"/>
              <a:t>Les principes généralement acceptables en matière de tenue de registres (GARP) décrivent comment les documents d'entreprise doivent être conservés</a:t>
            </a:r>
          </a:p>
          <a:p>
            <a:pPr lvl="1"/>
            <a:r>
              <a:rPr lang="fr-FR" dirty="0"/>
              <a:t>Ils fournissent également un cadre de gouvernance de l'information et de la tenue de registres, assorti d'indicateurs.</a:t>
            </a:r>
          </a:p>
        </p:txBody>
      </p:sp>
    </p:spTree>
    <p:extLst>
      <p:ext uri="{BB962C8B-B14F-4D97-AF65-F5344CB8AC3E}">
        <p14:creationId xmlns:p14="http://schemas.microsoft.com/office/powerpoint/2010/main" val="1949385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B700E2-17A4-F40A-2C60-296AD9DB5E69}"/>
              </a:ext>
            </a:extLst>
          </p:cNvPr>
          <p:cNvSpPr>
            <a:spLocks noGrp="1"/>
          </p:cNvSpPr>
          <p:nvPr>
            <p:ph type="title"/>
          </p:nvPr>
        </p:nvSpPr>
        <p:spPr/>
        <p:txBody>
          <a:bodyPr/>
          <a:lstStyle/>
          <a:p>
            <a:r>
              <a:rPr lang="fr-FR" dirty="0"/>
              <a:t>Les principes GARP</a:t>
            </a:r>
          </a:p>
        </p:txBody>
      </p:sp>
      <p:sp>
        <p:nvSpPr>
          <p:cNvPr id="3" name="Espace réservé du contenu 2">
            <a:extLst>
              <a:ext uri="{FF2B5EF4-FFF2-40B4-BE49-F238E27FC236}">
                <a16:creationId xmlns:a16="http://schemas.microsoft.com/office/drawing/2014/main" id="{9552ABE7-789A-10BE-178C-0DC1C2D9077B}"/>
              </a:ext>
            </a:extLst>
          </p:cNvPr>
          <p:cNvSpPr>
            <a:spLocks noGrp="1"/>
          </p:cNvSpPr>
          <p:nvPr>
            <p:ph idx="1"/>
          </p:nvPr>
        </p:nvSpPr>
        <p:spPr/>
        <p:txBody>
          <a:bodyPr/>
          <a:lstStyle/>
          <a:p>
            <a:r>
              <a:rPr lang="fr-FR" sz="2400" dirty="0"/>
              <a:t>Principe de responsabilité</a:t>
            </a:r>
          </a:p>
          <a:p>
            <a:pPr lvl="1"/>
            <a:r>
              <a:rPr lang="fr-FR" sz="1800" dirty="0"/>
              <a:t>L’organisation doit désigner un cadre supérieur responsable des personnes concernées, adopter des politiques et des procédures pour encadrer son personnel et garantir l’</a:t>
            </a:r>
            <a:r>
              <a:rPr lang="fr-FR" sz="1800" dirty="0" err="1"/>
              <a:t>auditabilité</a:t>
            </a:r>
            <a:r>
              <a:rPr lang="fr-FR" sz="1800" dirty="0"/>
              <a:t> de ses programmes.</a:t>
            </a:r>
          </a:p>
          <a:p>
            <a:r>
              <a:rPr lang="fr-FR" sz="2400" dirty="0"/>
              <a:t>Principe d’intégrité</a:t>
            </a:r>
          </a:p>
          <a:p>
            <a:pPr lvl="1"/>
            <a:r>
              <a:rPr lang="fr-FR" sz="1800" dirty="0"/>
              <a:t>Un programme de gouvernance de l’information doit être mis en place afin que les documents et les informations produits ou gérés par ou pour l’organisation bénéficient d’une garantie raisonnable et appropriée d’authenticité et de fiabilité.</a:t>
            </a:r>
          </a:p>
          <a:p>
            <a:r>
              <a:rPr lang="fr-FR" sz="2400" dirty="0"/>
              <a:t>Principe de protection</a:t>
            </a:r>
          </a:p>
          <a:p>
            <a:pPr lvl="1"/>
            <a:r>
              <a:rPr lang="fr-FR" sz="1800" dirty="0"/>
              <a:t>Un programme de gouvernance de l’information doit être mis en place afin de garantir un niveau de protection adéquat aux informations personnelles ou nécessitant une protection particulière.</a:t>
            </a:r>
          </a:p>
        </p:txBody>
      </p:sp>
    </p:spTree>
    <p:extLst>
      <p:ext uri="{BB962C8B-B14F-4D97-AF65-F5344CB8AC3E}">
        <p14:creationId xmlns:p14="http://schemas.microsoft.com/office/powerpoint/2010/main" val="1643167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02CC9-8DC7-366A-0704-E8C808781F5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E2805C-4BE6-5CF8-8E05-32E061E81143}"/>
              </a:ext>
            </a:extLst>
          </p:cNvPr>
          <p:cNvSpPr>
            <a:spLocks noGrp="1"/>
          </p:cNvSpPr>
          <p:nvPr>
            <p:ph type="title"/>
          </p:nvPr>
        </p:nvSpPr>
        <p:spPr/>
        <p:txBody>
          <a:bodyPr/>
          <a:lstStyle/>
          <a:p>
            <a:r>
              <a:rPr lang="fr-FR" dirty="0"/>
              <a:t>Les principes GARP</a:t>
            </a:r>
          </a:p>
        </p:txBody>
      </p:sp>
      <p:sp>
        <p:nvSpPr>
          <p:cNvPr id="3" name="Espace réservé du contenu 2">
            <a:extLst>
              <a:ext uri="{FF2B5EF4-FFF2-40B4-BE49-F238E27FC236}">
                <a16:creationId xmlns:a16="http://schemas.microsoft.com/office/drawing/2014/main" id="{7F4DBB99-8A40-6FB1-2D66-6E653DF1949F}"/>
              </a:ext>
            </a:extLst>
          </p:cNvPr>
          <p:cNvSpPr>
            <a:spLocks noGrp="1"/>
          </p:cNvSpPr>
          <p:nvPr>
            <p:ph idx="1"/>
          </p:nvPr>
        </p:nvSpPr>
        <p:spPr/>
        <p:txBody>
          <a:bodyPr/>
          <a:lstStyle/>
          <a:p>
            <a:r>
              <a:rPr lang="fr-FR" sz="2400" dirty="0"/>
              <a:t>Principe de conformité</a:t>
            </a:r>
          </a:p>
          <a:p>
            <a:pPr lvl="1"/>
            <a:r>
              <a:rPr lang="fr-FR" sz="2000" dirty="0"/>
              <a:t>Un programme de gouvernance de l’information doit être mis en place afin de se conformer aux lois applicables et aux autres autorités compétentes, ainsi qu’aux politiques de l’organisation.</a:t>
            </a:r>
          </a:p>
          <a:p>
            <a:r>
              <a:rPr lang="fr-FR" sz="2400" dirty="0"/>
              <a:t>Principe de disponibilité</a:t>
            </a:r>
          </a:p>
          <a:p>
            <a:pPr lvl="1"/>
            <a:r>
              <a:rPr lang="fr-FR" sz="2000" dirty="0"/>
              <a:t>L’organisation doit conserver ses informations de manière à garantir leur consultation rapide, efficace et précise.</a:t>
            </a:r>
          </a:p>
          <a:p>
            <a:r>
              <a:rPr lang="fr-FR" sz="2400" dirty="0"/>
              <a:t>Principe de conservation</a:t>
            </a:r>
          </a:p>
          <a:p>
            <a:pPr lvl="1"/>
            <a:r>
              <a:rPr lang="fr-FR" sz="2000" dirty="0"/>
              <a:t>L’organisation doit conserver ses informations pendant une durée appropriée, en tenant compte de toutes les exigences opérationnelles, légales, réglementaires et fiscales, ainsi que de celles des autorités compétentes.</a:t>
            </a:r>
            <a:endParaRPr lang="fr-FR" sz="1400" dirty="0"/>
          </a:p>
        </p:txBody>
      </p:sp>
    </p:spTree>
    <p:extLst>
      <p:ext uri="{BB962C8B-B14F-4D97-AF65-F5344CB8AC3E}">
        <p14:creationId xmlns:p14="http://schemas.microsoft.com/office/powerpoint/2010/main" val="3805954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090E7-AE23-ED55-2D78-CBAD0215E1C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32163D-54D7-8110-CFFF-BAB955C5B845}"/>
              </a:ext>
            </a:extLst>
          </p:cNvPr>
          <p:cNvSpPr>
            <a:spLocks noGrp="1"/>
          </p:cNvSpPr>
          <p:nvPr>
            <p:ph type="title"/>
          </p:nvPr>
        </p:nvSpPr>
        <p:spPr/>
        <p:txBody>
          <a:bodyPr/>
          <a:lstStyle/>
          <a:p>
            <a:r>
              <a:rPr lang="fr-FR" dirty="0"/>
              <a:t>Les principes GARP</a:t>
            </a:r>
          </a:p>
        </p:txBody>
      </p:sp>
      <p:sp>
        <p:nvSpPr>
          <p:cNvPr id="3" name="Espace réservé du contenu 2">
            <a:extLst>
              <a:ext uri="{FF2B5EF4-FFF2-40B4-BE49-F238E27FC236}">
                <a16:creationId xmlns:a16="http://schemas.microsoft.com/office/drawing/2014/main" id="{BDE422E9-3990-5C36-1CB1-57DAE85D0F5A}"/>
              </a:ext>
            </a:extLst>
          </p:cNvPr>
          <p:cNvSpPr>
            <a:spLocks noGrp="1"/>
          </p:cNvSpPr>
          <p:nvPr>
            <p:ph idx="1"/>
          </p:nvPr>
        </p:nvSpPr>
        <p:spPr/>
        <p:txBody>
          <a:bodyPr/>
          <a:lstStyle/>
          <a:p>
            <a:r>
              <a:rPr lang="fr-FR" sz="2400" dirty="0"/>
              <a:t>Principe de destruction</a:t>
            </a:r>
          </a:p>
          <a:p>
            <a:pPr lvl="1"/>
            <a:r>
              <a:rPr lang="fr-FR" sz="2000" dirty="0"/>
              <a:t>Une organisation doit assurer la destruction sécurisée et appropriée des informations conformément à ses politiques et aux lois, règlements et autres autorités compétentes applicables.</a:t>
            </a:r>
          </a:p>
          <a:p>
            <a:r>
              <a:rPr lang="fr-FR" sz="2400" dirty="0"/>
              <a:t>Principe de transparence</a:t>
            </a:r>
          </a:p>
          <a:p>
            <a:pPr lvl="1"/>
            <a:r>
              <a:rPr lang="fr-FR" sz="2000" dirty="0"/>
              <a:t>Une organisation doit documenter ses politiques, processus et activités, y compris son programme de gouvernance de l’information, de manière à ce que ces documents soient accessibles et compréhensibles par le personnel et les parties intéressées concernées.</a:t>
            </a:r>
            <a:endParaRPr lang="fr-FR" sz="1000" dirty="0"/>
          </a:p>
        </p:txBody>
      </p:sp>
    </p:spTree>
    <p:extLst>
      <p:ext uri="{BB962C8B-B14F-4D97-AF65-F5344CB8AC3E}">
        <p14:creationId xmlns:p14="http://schemas.microsoft.com/office/powerpoint/2010/main" val="3799399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7FFDD3-88F1-6BCB-2E51-D54638A72801}"/>
              </a:ext>
            </a:extLst>
          </p:cNvPr>
          <p:cNvSpPr>
            <a:spLocks noGrp="1"/>
          </p:cNvSpPr>
          <p:nvPr>
            <p:ph type="title"/>
          </p:nvPr>
        </p:nvSpPr>
        <p:spPr/>
        <p:txBody>
          <a:bodyPr/>
          <a:lstStyle/>
          <a:p>
            <a:r>
              <a:rPr lang="fr-FR" dirty="0"/>
              <a:t>Moteurs de recherche</a:t>
            </a:r>
          </a:p>
        </p:txBody>
      </p:sp>
      <p:sp>
        <p:nvSpPr>
          <p:cNvPr id="3" name="Espace réservé du contenu 2">
            <a:extLst>
              <a:ext uri="{FF2B5EF4-FFF2-40B4-BE49-F238E27FC236}">
                <a16:creationId xmlns:a16="http://schemas.microsoft.com/office/drawing/2014/main" id="{91BD6C02-0DD8-FD7D-3419-F60EB888359F}"/>
              </a:ext>
            </a:extLst>
          </p:cNvPr>
          <p:cNvSpPr>
            <a:spLocks noGrp="1"/>
          </p:cNvSpPr>
          <p:nvPr>
            <p:ph idx="1"/>
          </p:nvPr>
        </p:nvSpPr>
        <p:spPr/>
        <p:txBody>
          <a:bodyPr/>
          <a:lstStyle/>
          <a:p>
            <a:r>
              <a:rPr lang="fr-FR" dirty="0"/>
              <a:t>L'entreprise doit avoir des moyens de rechercher efficacement la donnée</a:t>
            </a:r>
          </a:p>
          <a:p>
            <a:r>
              <a:rPr lang="fr-FR" dirty="0"/>
              <a:t>Les moteurs de recherche peuvent aider</a:t>
            </a:r>
          </a:p>
          <a:p>
            <a:r>
              <a:rPr lang="fr-FR" dirty="0"/>
              <a:t>Il en existe plusieurs types</a:t>
            </a:r>
          </a:p>
          <a:p>
            <a:pPr lvl="1"/>
            <a:r>
              <a:rPr lang="fr-FR" dirty="0"/>
              <a:t>Pour document structuré : SQL</a:t>
            </a:r>
          </a:p>
          <a:p>
            <a:pPr lvl="1"/>
            <a:r>
              <a:rPr lang="fr-FR" dirty="0" err="1"/>
              <a:t>Paar</a:t>
            </a:r>
            <a:r>
              <a:rPr lang="fr-FR" dirty="0"/>
              <a:t> mots clés, Full </a:t>
            </a:r>
            <a:r>
              <a:rPr lang="fr-FR" dirty="0" err="1"/>
              <a:t>Text</a:t>
            </a:r>
            <a:r>
              <a:rPr lang="fr-FR" dirty="0"/>
              <a:t>, RAG, …</a:t>
            </a:r>
          </a:p>
        </p:txBody>
      </p:sp>
    </p:spTree>
    <p:extLst>
      <p:ext uri="{BB962C8B-B14F-4D97-AF65-F5344CB8AC3E}">
        <p14:creationId xmlns:p14="http://schemas.microsoft.com/office/powerpoint/2010/main" val="652121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A047CF-A4DA-5418-155E-31697D38ACCA}"/>
              </a:ext>
            </a:extLst>
          </p:cNvPr>
          <p:cNvSpPr>
            <a:spLocks noGrp="1"/>
          </p:cNvSpPr>
          <p:nvPr>
            <p:ph type="title"/>
          </p:nvPr>
        </p:nvSpPr>
        <p:spPr/>
        <p:txBody>
          <a:bodyPr/>
          <a:lstStyle/>
          <a:p>
            <a:r>
              <a:rPr lang="fr-FR" dirty="0"/>
              <a:t>Les outils</a:t>
            </a:r>
          </a:p>
        </p:txBody>
      </p:sp>
      <p:sp>
        <p:nvSpPr>
          <p:cNvPr id="3" name="Espace réservé du contenu 2">
            <a:extLst>
              <a:ext uri="{FF2B5EF4-FFF2-40B4-BE49-F238E27FC236}">
                <a16:creationId xmlns:a16="http://schemas.microsoft.com/office/drawing/2014/main" id="{F99967D3-E492-7DA7-CEAC-4E56CE0C97E1}"/>
              </a:ext>
            </a:extLst>
          </p:cNvPr>
          <p:cNvSpPr>
            <a:spLocks noGrp="1"/>
          </p:cNvSpPr>
          <p:nvPr>
            <p:ph idx="1"/>
          </p:nvPr>
        </p:nvSpPr>
        <p:spPr/>
        <p:txBody>
          <a:bodyPr/>
          <a:lstStyle/>
          <a:p>
            <a:r>
              <a:rPr lang="fr-FR" dirty="0"/>
              <a:t>Content Management System</a:t>
            </a:r>
          </a:p>
          <a:p>
            <a:pPr lvl="1"/>
            <a:r>
              <a:rPr lang="fr-FR" dirty="0"/>
              <a:t>Un CMS sert à collecter, organiser, indexer et récupérer du contenu, en le stockant sous forme de composants ou de documents complets, tout en maintenant les liens entre les composants</a:t>
            </a:r>
          </a:p>
          <a:p>
            <a:pPr lvl="1"/>
            <a:r>
              <a:rPr lang="fr-FR" dirty="0"/>
              <a:t>Il peut également offrir des outils de modification du contenu au sein </a:t>
            </a:r>
            <a:r>
              <a:rPr lang="fr-FR"/>
              <a:t>des documents</a:t>
            </a:r>
            <a:endParaRPr lang="fr-FR" dirty="0"/>
          </a:p>
          <a:p>
            <a:r>
              <a:rPr lang="fr-FR" dirty="0"/>
              <a:t>Enterprise Content Management </a:t>
            </a:r>
            <a:r>
              <a:rPr lang="fr-FR" dirty="0" err="1"/>
              <a:t>Systems</a:t>
            </a:r>
            <a:endParaRPr lang="fr-FR" dirty="0"/>
          </a:p>
          <a:p>
            <a:pPr lvl="1"/>
            <a:r>
              <a:rPr lang="fr-FR" dirty="0"/>
              <a:t>Un système de gestion de contenu d'entreprise (ECM) peut être constitué d'une plateforme de composants essentiels ou d'un ensemble d'applications pouvant être intégrées totalement ou utilisées séparément</a:t>
            </a:r>
          </a:p>
          <a:p>
            <a:pPr lvl="1"/>
            <a:endParaRPr lang="fr-FR" dirty="0"/>
          </a:p>
        </p:txBody>
      </p:sp>
    </p:spTree>
    <p:extLst>
      <p:ext uri="{BB962C8B-B14F-4D97-AF65-F5344CB8AC3E}">
        <p14:creationId xmlns:p14="http://schemas.microsoft.com/office/powerpoint/2010/main" val="2155818652"/>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5209</TotalTime>
  <Words>527</Words>
  <Application>Microsoft Office PowerPoint</Application>
  <PresentationFormat>Affichage à l'écran (4:3)</PresentationFormat>
  <Paragraphs>46</Paragraphs>
  <Slides>11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Monotype Sorts</vt:lpstr>
      <vt:lpstr>Times New Roman</vt:lpstr>
      <vt:lpstr>cvc</vt:lpstr>
      <vt:lpstr>Présentation PowerPoint</vt:lpstr>
      <vt:lpstr>Document &amp; Content Management</vt:lpstr>
      <vt:lpstr>Définition</vt:lpstr>
      <vt:lpstr>Buts</vt:lpstr>
      <vt:lpstr>Architecture générale</vt:lpstr>
      <vt:lpstr>GARP</vt:lpstr>
      <vt:lpstr>Les principes GARP</vt:lpstr>
      <vt:lpstr>Les principes GARP</vt:lpstr>
      <vt:lpstr>Les principes GARP</vt:lpstr>
      <vt:lpstr>Moteurs de recherche</vt:lpstr>
      <vt:lpstr>Les outils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261</cp:revision>
  <dcterms:created xsi:type="dcterms:W3CDTF">2000-04-10T19:33:12Z</dcterms:created>
  <dcterms:modified xsi:type="dcterms:W3CDTF">2025-12-30T16:30:02Z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