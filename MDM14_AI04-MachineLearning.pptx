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5"/>
  </p:notesMasterIdLst>
  <p:handoutMasterIdLst>
    <p:handoutMasterId r:id="rId66"/>
  </p:handoutMasterIdLst>
  <p:sldIdLst>
    <p:sldId id="264" r:id="rId2"/>
    <p:sldId id="323" r:id="rId3"/>
    <p:sldId id="320" r:id="rId4"/>
    <p:sldId id="267" r:id="rId5"/>
    <p:sldId id="268" r:id="rId6"/>
    <p:sldId id="269" r:id="rId7"/>
    <p:sldId id="270" r:id="rId8"/>
    <p:sldId id="271" r:id="rId9"/>
    <p:sldId id="272" r:id="rId10"/>
    <p:sldId id="287" r:id="rId11"/>
    <p:sldId id="358" r:id="rId12"/>
    <p:sldId id="273" r:id="rId13"/>
    <p:sldId id="274" r:id="rId14"/>
    <p:sldId id="306" r:id="rId15"/>
    <p:sldId id="288" r:id="rId16"/>
    <p:sldId id="289" r:id="rId17"/>
    <p:sldId id="290" r:id="rId18"/>
    <p:sldId id="275" r:id="rId19"/>
    <p:sldId id="276" r:id="rId20"/>
    <p:sldId id="277" r:id="rId21"/>
    <p:sldId id="319" r:id="rId22"/>
    <p:sldId id="278" r:id="rId23"/>
    <p:sldId id="279" r:id="rId24"/>
    <p:sldId id="280" r:id="rId25"/>
    <p:sldId id="281" r:id="rId26"/>
    <p:sldId id="283" r:id="rId27"/>
    <p:sldId id="284" r:id="rId28"/>
    <p:sldId id="285" r:id="rId29"/>
    <p:sldId id="286" r:id="rId30"/>
    <p:sldId id="303" r:id="rId31"/>
    <p:sldId id="304" r:id="rId32"/>
    <p:sldId id="312" r:id="rId33"/>
    <p:sldId id="313" r:id="rId34"/>
    <p:sldId id="321" r:id="rId35"/>
    <p:sldId id="322" r:id="rId36"/>
    <p:sldId id="325" r:id="rId37"/>
    <p:sldId id="265" r:id="rId38"/>
    <p:sldId id="266" r:id="rId39"/>
    <p:sldId id="326" r:id="rId40"/>
    <p:sldId id="328" r:id="rId41"/>
    <p:sldId id="332" r:id="rId42"/>
    <p:sldId id="333" r:id="rId43"/>
    <p:sldId id="334" r:id="rId44"/>
    <p:sldId id="335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45" r:id="rId54"/>
    <p:sldId id="346" r:id="rId55"/>
    <p:sldId id="347" r:id="rId56"/>
    <p:sldId id="348" r:id="rId57"/>
    <p:sldId id="350" r:id="rId58"/>
    <p:sldId id="351" r:id="rId59"/>
    <p:sldId id="353" r:id="rId60"/>
    <p:sldId id="354" r:id="rId61"/>
    <p:sldId id="355" r:id="rId62"/>
    <p:sldId id="356" r:id="rId63"/>
    <p:sldId id="357" r:id="rId64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74" d="100"/>
          <a:sy n="74" d="100"/>
        </p:scale>
        <p:origin x="1742" y="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fr-FR" altLang="fr-FR" dirty="0"/>
          </a:p>
          <a:p>
            <a:pPr eaLnBrk="1" hangingPunct="1"/>
            <a:r>
              <a:rPr lang="fr-FR" altLang="fr-FR" dirty="0"/>
              <a:t>Machine Learning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4261657" y="2132856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2ED8F-11AB-C149-14DE-0ECEEA2E5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64126B-6D65-4283-A1F1-8A8BB03CB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1_hfyjxxcfingbcyzcgksaiq">
            <a:extLst>
              <a:ext uri="{FF2B5EF4-FFF2-40B4-BE49-F238E27FC236}">
                <a16:creationId xmlns:a16="http://schemas.microsoft.com/office/drawing/2014/main" id="{0248DE54-DD5F-56BD-F121-1923D3F596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8" y="1156208"/>
            <a:ext cx="9123224" cy="52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- ML - DL</a:t>
            </a:r>
          </a:p>
        </p:txBody>
      </p:sp>
      <p:pic>
        <p:nvPicPr>
          <p:cNvPr id="1026" name="Picture 2" descr="https://www.mytectra.com/media/wysiwyg/Blog/deep-learnin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719"/>
            <a:ext cx="9144000" cy="581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1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 et en data science plus généralement, l'objectif est de trouver un modèle du phénomène à l'origine des données</a:t>
            </a:r>
          </a:p>
          <a:p>
            <a:r>
              <a:rPr lang="fr-FR" dirty="0"/>
              <a:t>C'est à dire qu'on considère que chaque donnée observée est l'expression d'une variable aléatoire générée par une distribution de probabilité</a:t>
            </a:r>
          </a:p>
          <a:p>
            <a:pPr lvl="1"/>
            <a:r>
              <a:rPr lang="fr-FR"/>
              <a:t>Par exemple les sondages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2916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voulez savoir si vous payez trop cher votre loyer</a:t>
            </a:r>
          </a:p>
          <a:p>
            <a:r>
              <a:rPr lang="fr-FR" dirty="0"/>
              <a:t>Vous avez récupéré sur un site de location une trentaine de prix des locations disponibles, ainsi que la surface associée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4149080"/>
            <a:ext cx="280987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96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Graphique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Surface / Loyer</a:t>
            </a:r>
          </a:p>
        </p:txBody>
      </p:sp>
      <p:pic>
        <p:nvPicPr>
          <p:cNvPr id="1028" name="Picture 4" descr="Le loyer mensuel en fonction de la surface du lo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060848"/>
            <a:ext cx="5688632" cy="3931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639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régression est une formule mathématique qui étudie des données réelles d’une manière proche de la réalité mais simplifiée</a:t>
            </a:r>
          </a:p>
          <a:p>
            <a:r>
              <a:rPr lang="fr-FR" dirty="0"/>
              <a:t>Différent type</a:t>
            </a:r>
          </a:p>
          <a:p>
            <a:pPr lvl="1"/>
            <a:r>
              <a:rPr lang="fr-FR" dirty="0"/>
              <a:t>Linéaire</a:t>
            </a:r>
          </a:p>
          <a:p>
            <a:pPr lvl="1"/>
            <a:r>
              <a:rPr lang="fr-FR" dirty="0"/>
              <a:t>Second degré</a:t>
            </a:r>
          </a:p>
          <a:p>
            <a:pPr lvl="1"/>
            <a:r>
              <a:rPr lang="fr-FR" dirty="0"/>
              <a:t>Polynomiale</a:t>
            </a:r>
          </a:p>
          <a:p>
            <a:pPr lvl="1"/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Elliptique</a:t>
            </a:r>
          </a:p>
        </p:txBody>
      </p:sp>
    </p:spTree>
    <p:extLst>
      <p:ext uri="{BB962C8B-B14F-4D97-AF65-F5344CB8AC3E}">
        <p14:creationId xmlns:p14="http://schemas.microsoft.com/office/powerpoint/2010/main" val="400164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Notre exemple montre une régression linéaire</a:t>
            </a:r>
          </a:p>
          <a:p>
            <a:endParaRPr lang="fr-FR" dirty="0"/>
          </a:p>
        </p:txBody>
      </p:sp>
      <p:pic>
        <p:nvPicPr>
          <p:cNvPr id="2056" name="Picture 8" descr="la droite de régression correspondant à la modélisation statistique du nuage de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1" y="2420888"/>
            <a:ext cx="5212067" cy="364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637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 écart type et un taux de confiance peut être calculé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Exemple : taux de confiance à 90%</a:t>
            </a:r>
          </a:p>
        </p:txBody>
      </p:sp>
      <p:pic>
        <p:nvPicPr>
          <p:cNvPr id="3074" name="Picture 2" descr="l'intervalle de confiance (à 90%) que les point se trouvent dans cette zo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276872"/>
            <a:ext cx="4286250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8921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Classification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Une autre distinction qui vous aidera dans le choix d'un algorithme de machine </a:t>
            </a:r>
            <a:r>
              <a:rPr lang="fr-FR" dirty="0" err="1"/>
              <a:t>learning</a:t>
            </a:r>
            <a:r>
              <a:rPr lang="fr-FR" dirty="0"/>
              <a:t> est le type de sortie que l'on attend de notre programme</a:t>
            </a:r>
          </a:p>
          <a:p>
            <a:pPr lvl="1"/>
            <a:r>
              <a:rPr lang="fr-FR" dirty="0"/>
              <a:t>Est-ce une valeur continue (un nombre)</a:t>
            </a:r>
          </a:p>
          <a:p>
            <a:pPr lvl="1"/>
            <a:r>
              <a:rPr lang="fr-FR" dirty="0"/>
              <a:t>ou bien une valeur discrète (une catégorie) ?</a:t>
            </a:r>
          </a:p>
          <a:p>
            <a:r>
              <a:rPr lang="fr-FR" dirty="0"/>
              <a:t>Le premier cas est appelé une régression, le second une classification</a:t>
            </a:r>
          </a:p>
        </p:txBody>
      </p:sp>
      <p:pic>
        <p:nvPicPr>
          <p:cNvPr id="1026" name="Picture 2" descr="Illustration de la différence entre régression et classificat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4591645"/>
            <a:ext cx="4286250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526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79A36-DCA2-04FF-4BD9-ADEA61841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Principes mathématiques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A9957CF-3C17-0A94-E370-57CDB0345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De nombreux principes mathématiques et statistiques régissent le Machine Learning</a:t>
            </a:r>
          </a:p>
          <a:p>
            <a:pPr lvl="1"/>
            <a:r>
              <a:rPr lang="fr-FR" sz="2000" dirty="0"/>
              <a:t>D'avantage pour le </a:t>
            </a:r>
            <a:r>
              <a:rPr lang="fr-FR" sz="2000"/>
              <a:t>Deep Learning</a:t>
            </a:r>
            <a:endParaRPr lang="fr-FR" sz="2000" dirty="0"/>
          </a:p>
          <a:p>
            <a:r>
              <a:rPr lang="fr-FR" dirty="0"/>
              <a:t>Statistiques</a:t>
            </a:r>
          </a:p>
          <a:p>
            <a:pPr lvl="1"/>
            <a:r>
              <a:rPr lang="fr-FR" sz="2000" dirty="0"/>
              <a:t>Distribution, loi normale, échantillonnage</a:t>
            </a:r>
          </a:p>
          <a:p>
            <a:r>
              <a:rPr lang="fr-FR" dirty="0"/>
              <a:t>Algorithmiques</a:t>
            </a:r>
            <a:endParaRPr lang="fr-FR" sz="2000" dirty="0"/>
          </a:p>
          <a:p>
            <a:r>
              <a:rPr lang="fr-FR" dirty="0"/>
              <a:t>MDP</a:t>
            </a:r>
          </a:p>
          <a:p>
            <a:pPr lvl="1"/>
            <a:r>
              <a:rPr lang="fr-FR" sz="2000" dirty="0"/>
              <a:t>Les processus de décision markoviens modélisent des états, actions et </a:t>
            </a:r>
            <a:r>
              <a:rPr lang="fr-FR" sz="1800" dirty="0"/>
              <a:t>récompenses </a:t>
            </a:r>
            <a:r>
              <a:rPr lang="fr-FR" dirty="0"/>
              <a:t>pour la prise de décision séquentielle.​</a:t>
            </a:r>
            <a:endParaRPr lang="fr-FR" sz="2800" dirty="0"/>
          </a:p>
          <a:p>
            <a:r>
              <a:rPr lang="fr-FR" dirty="0"/>
              <a:t>Équations de Bellman​</a:t>
            </a:r>
          </a:p>
          <a:p>
            <a:pPr lvl="1"/>
            <a:r>
              <a:rPr lang="fr-FR" sz="2000" dirty="0"/>
              <a:t>Les équations de Bellman définissent la relation récursive pour calculer les fonctions des valeurs optimales.​</a:t>
            </a:r>
          </a:p>
        </p:txBody>
      </p:sp>
    </p:spTree>
    <p:extLst>
      <p:ext uri="{BB962C8B-B14F-4D97-AF65-F5344CB8AC3E}">
        <p14:creationId xmlns:p14="http://schemas.microsoft.com/office/powerpoint/2010/main" val="2444278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Trouver le bon 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Pour résumer, le travail de modélisation consiste à trouver le bon modèle statistique qui colle le mieux aux données d'exemple</a:t>
            </a:r>
          </a:p>
          <a:p>
            <a:r>
              <a:rPr lang="fr-FR" dirty="0"/>
              <a:t>Le machine </a:t>
            </a:r>
            <a:r>
              <a:rPr lang="fr-FR" dirty="0" err="1"/>
              <a:t>learning</a:t>
            </a:r>
            <a:r>
              <a:rPr lang="fr-FR" dirty="0"/>
              <a:t> en particulier intervient pour trouver ce modèle de manière automatisée</a:t>
            </a:r>
          </a:p>
          <a:p>
            <a:r>
              <a:rPr lang="fr-FR" dirty="0"/>
              <a:t>Problème du quartet d’</a:t>
            </a:r>
            <a:r>
              <a:rPr lang="fr-FR" dirty="0" err="1"/>
              <a:t>Ascombe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21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Quartet d’</a:t>
            </a:r>
            <a:r>
              <a:rPr lang="fr-FR" dirty="0" err="1"/>
              <a:t>Ascombe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Ces 4 modèles possède la même régression linéaire</a:t>
            </a:r>
          </a:p>
          <a:p>
            <a:pPr lvl="1"/>
            <a:r>
              <a:rPr lang="fr-FR" dirty="0"/>
              <a:t>Trouver les erreurs</a:t>
            </a:r>
          </a:p>
        </p:txBody>
      </p:sp>
      <p:pic>
        <p:nvPicPr>
          <p:cNvPr id="4098" name="Picture 2" descr="Le quartet d'anscom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833" y="2783429"/>
            <a:ext cx="6067407" cy="4053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607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La régression n’est pas tous les temps linéaire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cette exemple il est impossible de faire filer une droite</a:t>
            </a:r>
          </a:p>
        </p:txBody>
      </p:sp>
      <p:pic>
        <p:nvPicPr>
          <p:cNvPr id="4098" name="Picture 2" descr="Comme on peut le voir sur ce genre de données, c'est difficile de faire fitter une droite!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860773"/>
            <a:ext cx="4714875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009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Linéaire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ax</a:t>
            </a:r>
            <a:r>
              <a:rPr lang="fr-FR" dirty="0"/>
              <a:t>  + b</a:t>
            </a:r>
          </a:p>
          <a:p>
            <a:pPr lvl="1"/>
            <a:r>
              <a:rPr lang="fr-FR" dirty="0"/>
              <a:t>Moyenne est un cas particulier : f = mx</a:t>
            </a:r>
          </a:p>
          <a:p>
            <a:r>
              <a:rPr lang="fr-FR" dirty="0"/>
              <a:t>Second degré (binomiale)</a:t>
            </a:r>
          </a:p>
          <a:p>
            <a:pPr lvl="1"/>
            <a:r>
              <a:rPr lang="fr-FR" dirty="0"/>
              <a:t>f = ax² + </a:t>
            </a:r>
            <a:r>
              <a:rPr lang="fr-FR" dirty="0" err="1"/>
              <a:t>bx</a:t>
            </a:r>
            <a:r>
              <a:rPr lang="fr-FR" dirty="0"/>
              <a:t> + c</a:t>
            </a:r>
          </a:p>
          <a:p>
            <a:r>
              <a:rPr lang="fr-FR" dirty="0"/>
              <a:t>Troisième degré (</a:t>
            </a:r>
            <a:r>
              <a:rPr lang="fr-FR" dirty="0" err="1"/>
              <a:t>trinomiale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f = ax3 + bx² + cx + d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2842443"/>
            <a:ext cx="2474987" cy="165239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4477190"/>
            <a:ext cx="2415770" cy="158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8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Polynomiale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polynome</a:t>
            </a:r>
            <a:endParaRPr lang="fr-FR" dirty="0"/>
          </a:p>
          <a:p>
            <a:r>
              <a:rPr lang="fr-FR" dirty="0"/>
              <a:t>Exponentielle</a:t>
            </a:r>
          </a:p>
          <a:p>
            <a:pPr lvl="1"/>
            <a:r>
              <a:rPr lang="fr-FR" dirty="0"/>
              <a:t>f = </a:t>
            </a:r>
            <a:r>
              <a:rPr lang="fr-FR" dirty="0" err="1"/>
              <a:t>exp</a:t>
            </a:r>
            <a:r>
              <a:rPr lang="fr-FR" dirty="0"/>
              <a:t>(x)</a:t>
            </a:r>
          </a:p>
          <a:p>
            <a:r>
              <a:rPr lang="fr-FR" dirty="0"/>
              <a:t>Logarithmique</a:t>
            </a:r>
          </a:p>
          <a:p>
            <a:pPr lvl="1"/>
            <a:r>
              <a:rPr lang="fr-FR" dirty="0"/>
              <a:t>f = log(x)</a:t>
            </a:r>
          </a:p>
          <a:p>
            <a:r>
              <a:rPr lang="fr-FR" dirty="0"/>
              <a:t>Asymptotique</a:t>
            </a:r>
          </a:p>
          <a:p>
            <a:pPr lvl="1"/>
            <a:r>
              <a:rPr lang="fr-FR" dirty="0"/>
              <a:t>F = 1/x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3933056"/>
            <a:ext cx="3314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39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différents types de 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Sinusoidale</a:t>
            </a:r>
            <a:endParaRPr lang="fr-FR" dirty="0"/>
          </a:p>
          <a:p>
            <a:pPr lvl="1"/>
            <a:r>
              <a:rPr lang="fr-FR" dirty="0"/>
              <a:t>f = a sin(x / b)</a:t>
            </a:r>
          </a:p>
          <a:p>
            <a:r>
              <a:rPr lang="fr-FR" dirty="0" err="1"/>
              <a:t>Sinusoidale</a:t>
            </a:r>
            <a:r>
              <a:rPr lang="fr-FR" dirty="0"/>
              <a:t> amortie</a:t>
            </a:r>
          </a:p>
          <a:p>
            <a:pPr lvl="1"/>
            <a:r>
              <a:rPr lang="fr-FR" dirty="0"/>
              <a:t>f = a sin(x / b) </a:t>
            </a:r>
            <a:r>
              <a:rPr lang="fr-FR" dirty="0" err="1"/>
              <a:t>exp</a:t>
            </a:r>
            <a:r>
              <a:rPr lang="fr-FR" dirty="0"/>
              <a:t>(-x / c)</a:t>
            </a:r>
          </a:p>
          <a:p>
            <a:pPr lvl="1"/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156209"/>
            <a:ext cx="3248025" cy="21621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522" y="3574951"/>
            <a:ext cx="3267075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567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</a:t>
            </a:r>
          </a:p>
        </p:txBody>
      </p:sp>
      <p:pic>
        <p:nvPicPr>
          <p:cNvPr id="5122" name="Picture 2" descr="Nous ne nous intéresseront dans ces cours qu'à la création des algorithmes et modélisa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156209"/>
            <a:ext cx="5453559" cy="4090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5190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Imaginez que vous êtes un data </a:t>
            </a:r>
            <a:r>
              <a:rPr lang="fr-FR" dirty="0" err="1"/>
              <a:t>scientist</a:t>
            </a:r>
            <a:endParaRPr lang="fr-FR" dirty="0"/>
          </a:p>
          <a:p>
            <a:pPr lvl="1"/>
            <a:r>
              <a:rPr lang="fr-FR" dirty="0"/>
              <a:t>Vous êtes maintenant confortable avec l'ensemble des données récupérées pour vos analyses</a:t>
            </a:r>
          </a:p>
          <a:p>
            <a:pPr lvl="1"/>
            <a:r>
              <a:rPr lang="fr-FR" dirty="0"/>
              <a:t>Vous avez une connaissance des objectifs principaux de l'entreprise, ce qui vous a aidé à synthétiser les différentes variables qui interviennent, ainsi que visualiser les différents comportements et corrélations présents au sein de ces données</a:t>
            </a:r>
          </a:p>
        </p:txBody>
      </p:sp>
    </p:spTree>
    <p:extLst>
      <p:ext uri="{BB962C8B-B14F-4D97-AF65-F5344CB8AC3E}">
        <p14:creationId xmlns:p14="http://schemas.microsoft.com/office/powerpoint/2010/main" val="1213284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machine </a:t>
            </a:r>
            <a:r>
              <a:rPr lang="fr-FR" dirty="0" err="1"/>
              <a:t>learning</a:t>
            </a:r>
            <a:r>
              <a:rPr lang="fr-FR" dirty="0"/>
              <a:t>, l'idée est que l'algorithme construise une "représentation interne" tout seul afin de pouvoir effectuer la tâche qui lui est demandée (prédiction, identification, </a:t>
            </a:r>
            <a:r>
              <a:rPr lang="fr-FR" dirty="0" err="1"/>
              <a:t>etc</a:t>
            </a:r>
            <a:r>
              <a:rPr lang="fr-FR" dirty="0"/>
              <a:t>)</a:t>
            </a:r>
          </a:p>
          <a:p>
            <a:r>
              <a:rPr lang="fr-FR" dirty="0"/>
              <a:t>L’être humain est quasiment incapable d’écrire l’algorithme</a:t>
            </a:r>
          </a:p>
          <a:p>
            <a:r>
              <a:rPr lang="fr-FR" dirty="0"/>
              <a:t>Pour cela, il va d'abord falloir lui entrer un jeu de données d'exemples afin qu'il puisse s'entraîner et s'améliorer, d'où le mot apprentissage</a:t>
            </a:r>
          </a:p>
          <a:p>
            <a:r>
              <a:rPr lang="fr-FR" dirty="0"/>
              <a:t>Ce jeu de données s'appelle le training set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8912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Machine Learning </a:t>
            </a:r>
            <a:r>
              <a:rPr lang="fr-FR"/>
              <a:t>vs Programmation</a:t>
            </a:r>
            <a:endParaRPr lang="fr-FR" dirty="0"/>
          </a:p>
        </p:txBody>
      </p:sp>
      <p:pic>
        <p:nvPicPr>
          <p:cNvPr id="1026" name="Picture 2" descr="https://dpzbhybb2pdcj.cloudfront.net/allaire/Figures/01fig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0888"/>
            <a:ext cx="6048672" cy="3069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815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6146" name="Picture 2" descr="Un exemple de jeu de données classique (appelé CIFAR-10) qui permet d'entraîner un modèle de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716" y="1156209"/>
            <a:ext cx="6697627" cy="5177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4425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Workflow</a:t>
            </a:r>
          </a:p>
        </p:txBody>
      </p:sp>
      <p:pic>
        <p:nvPicPr>
          <p:cNvPr id="7170" name="Picture 2" descr="Un détail de des deux phases du process de machine learning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268760"/>
            <a:ext cx="6902073" cy="4678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98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travail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travail du data </a:t>
            </a:r>
            <a:r>
              <a:rPr lang="fr-FR" dirty="0" err="1"/>
              <a:t>scientist</a:t>
            </a:r>
            <a:r>
              <a:rPr lang="fr-FR" dirty="0"/>
              <a:t> en machine </a:t>
            </a:r>
            <a:r>
              <a:rPr lang="fr-FR" dirty="0" err="1"/>
              <a:t>learning</a:t>
            </a:r>
            <a:r>
              <a:rPr lang="fr-FR" dirty="0"/>
              <a:t> consiste à sélectionner les bonnes données test, choisir et entraîner le bon algorithme en vérifiant grâce à l'analyse d'erreurs que le modèle devient de plus en plus performant et robuste</a:t>
            </a:r>
          </a:p>
          <a:p>
            <a:r>
              <a:rPr lang="fr-FR" dirty="0"/>
              <a:t>Si les performances s'améliorent lorsqu'on lui fourni les données d'entraînement, on dit alors que la machine "apprend".</a:t>
            </a:r>
          </a:p>
          <a:p>
            <a:r>
              <a:rPr lang="fr-FR" dirty="0"/>
              <a:t>Le data </a:t>
            </a:r>
            <a:r>
              <a:rPr lang="fr-FR" dirty="0" err="1"/>
              <a:t>scientist</a:t>
            </a:r>
            <a:r>
              <a:rPr lang="fr-FR" dirty="0"/>
              <a:t> peut ensuite déployer le modèle afin qu'il traite de nouvelles données, pour accomplir la tâche (prédiction</a:t>
            </a:r>
            <a:r>
              <a:rPr lang="fr-FR"/>
              <a:t>, décision, ...).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58697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L'algorithme d'apprentissage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L'algorithme d'apprentissage constitue la méthode avec laquelle le modèle statistique va se paramétrer à partir des données d'exemple</a:t>
            </a:r>
          </a:p>
          <a:p>
            <a:pPr lvl="1"/>
            <a:r>
              <a:rPr lang="fr-FR" dirty="0"/>
              <a:t>Il existe de nombreux algorithmes différents !</a:t>
            </a:r>
          </a:p>
          <a:p>
            <a:pPr lvl="1"/>
            <a:r>
              <a:rPr lang="fr-FR" dirty="0"/>
              <a:t>On choisira un type d'algorithme particulier en fonction du type de tâche que l'on souhaite accomplir et du type de données dont on dispose</a:t>
            </a:r>
          </a:p>
        </p:txBody>
      </p:sp>
    </p:spTree>
    <p:extLst>
      <p:ext uri="{BB962C8B-B14F-4D97-AF65-F5344CB8AC3E}">
        <p14:creationId xmlns:p14="http://schemas.microsoft.com/office/powerpoint/2010/main" val="18344910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Quelques exemples d'algorithmes de machine </a:t>
            </a:r>
            <a:r>
              <a:rPr lang="fr-FR" dirty="0" err="1"/>
              <a:t>learning</a:t>
            </a:r>
            <a:r>
              <a:rPr lang="fr-FR" dirty="0"/>
              <a:t>, dont vous avez peut-être déjà entendu parler :</a:t>
            </a:r>
          </a:p>
          <a:p>
            <a:pPr lvl="1"/>
            <a:r>
              <a:rPr lang="fr-FR" dirty="0"/>
              <a:t>La régression linéaire</a:t>
            </a:r>
          </a:p>
          <a:p>
            <a:pPr lvl="1"/>
            <a:r>
              <a:rPr lang="fr-FR" dirty="0" err="1"/>
              <a:t>K-nn</a:t>
            </a:r>
            <a:endParaRPr lang="fr-FR" dirty="0"/>
          </a:p>
          <a:p>
            <a:pPr lvl="1"/>
            <a:r>
              <a:rPr lang="fr-FR" dirty="0"/>
              <a:t>Les Support </a:t>
            </a:r>
            <a:r>
              <a:rPr lang="fr-FR" dirty="0" err="1"/>
              <a:t>Vector</a:t>
            </a:r>
            <a:r>
              <a:rPr lang="fr-FR" dirty="0"/>
              <a:t> Machine (SVM)</a:t>
            </a:r>
          </a:p>
          <a:p>
            <a:pPr lvl="1"/>
            <a:r>
              <a:rPr lang="fr-FR" dirty="0"/>
              <a:t>Les réseaux de neurones</a:t>
            </a:r>
          </a:p>
          <a:p>
            <a:pPr lvl="1"/>
            <a:r>
              <a:rPr lang="fr-FR" dirty="0"/>
              <a:t>Les </a:t>
            </a:r>
            <a:r>
              <a:rPr lang="fr-FR" dirty="0" err="1"/>
              <a:t>random</a:t>
            </a:r>
            <a:r>
              <a:rPr lang="fr-FR" dirty="0"/>
              <a:t> </a:t>
            </a:r>
            <a:r>
              <a:rPr lang="fr-FR" dirty="0" err="1"/>
              <a:t>forests</a:t>
            </a:r>
            <a:endParaRPr lang="fr-FR" dirty="0"/>
          </a:p>
          <a:p>
            <a:pPr lvl="1"/>
            <a:r>
              <a:rPr lang="fr-FR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4152399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Mesure de performance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Mesurer les performances fait partie intégrante du travail de modélisation. Il faut en général déterminer une mesure principale, souvent spécifique à la tâche à accomplir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7743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Imaginez que vous voulez créer un algorithme de détection de fraudes bancaires</a:t>
            </a:r>
          </a:p>
          <a:p>
            <a:pPr lvl="1"/>
            <a:r>
              <a:rPr lang="fr-FR" sz="2000" dirty="0"/>
              <a:t>Vous voulez mesurer à quel point votre programme est performant</a:t>
            </a:r>
          </a:p>
          <a:p>
            <a:r>
              <a:rPr lang="fr-FR" sz="2400" dirty="0"/>
              <a:t>Une manière de faire serait de mesurer la proportion totale de transaction détectées comme fraude</a:t>
            </a:r>
          </a:p>
          <a:p>
            <a:pPr lvl="1"/>
            <a:r>
              <a:rPr lang="fr-FR" sz="2000" dirty="0"/>
              <a:t>Cependant, on compte ici les transactions qui ne sont pas des fraudes et qui ont quand même été notées comme en étant (appelé "faux positifs")</a:t>
            </a:r>
          </a:p>
          <a:p>
            <a:pPr lvl="1"/>
            <a:r>
              <a:rPr lang="fr-FR" sz="2000" dirty="0"/>
              <a:t>Donc, avec ce genre de métriques, on est pas exigeant sur ce type d'erreur que produit notre algorithme</a:t>
            </a:r>
          </a:p>
          <a:p>
            <a:r>
              <a:rPr lang="fr-FR" sz="2400" dirty="0"/>
              <a:t>Il faut peut être, utiliser une autre métrique plus pertinente. Par exemple, la précision qui est la proportion de "vraies fraudes" détectées par rapport au total de transactions </a:t>
            </a:r>
            <a:r>
              <a:rPr lang="fr-FR" sz="2400" dirty="0" err="1"/>
              <a:t>flagées</a:t>
            </a:r>
            <a:r>
              <a:rPr lang="fr-FR" sz="2400" dirty="0"/>
              <a:t> comme fraudes</a:t>
            </a:r>
          </a:p>
        </p:txBody>
      </p:sp>
    </p:spTree>
    <p:extLst>
      <p:ext uri="{BB962C8B-B14F-4D97-AF65-F5344CB8AC3E}">
        <p14:creationId xmlns:p14="http://schemas.microsoft.com/office/powerpoint/2010/main" val="1447999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 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la détection de maladie comme la méningite le nombre de faux positif n’est pas très important</a:t>
            </a:r>
          </a:p>
          <a:p>
            <a:r>
              <a:rPr lang="fr-FR" dirty="0"/>
              <a:t>Alors que le nombre de faux négatif est potentiellement mortel</a:t>
            </a:r>
          </a:p>
        </p:txBody>
      </p:sp>
    </p:spTree>
    <p:extLst>
      <p:ext uri="{BB962C8B-B14F-4D97-AF65-F5344CB8AC3E}">
        <p14:creationId xmlns:p14="http://schemas.microsoft.com/office/powerpoint/2010/main" val="9896729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clustering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</a:t>
            </a:r>
            <a:r>
              <a:rPr lang="fr-FR" dirty="0" err="1"/>
              <a:t>clustering</a:t>
            </a:r>
            <a:r>
              <a:rPr lang="fr-FR" dirty="0"/>
              <a:t> désigne les méthodes de regroupement automatique de données qui se ressemblent le plus en un ensemble de "nuages", appelés clusters</a:t>
            </a:r>
          </a:p>
          <a:p>
            <a:r>
              <a:rPr lang="fr-FR" dirty="0"/>
              <a:t>Un ensemble d'algorithmes non-supervisés peuvent réaliser cette tâche</a:t>
            </a:r>
          </a:p>
          <a:p>
            <a:r>
              <a:rPr lang="fr-FR" dirty="0"/>
              <a:t>Ils mesurent donc de manière automatique la similarité entre les différentes données</a:t>
            </a:r>
          </a:p>
        </p:txBody>
      </p:sp>
    </p:spTree>
    <p:extLst>
      <p:ext uri="{BB962C8B-B14F-4D97-AF65-F5344CB8AC3E}">
        <p14:creationId xmlns:p14="http://schemas.microsoft.com/office/powerpoint/2010/main" val="26769133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pic>
        <p:nvPicPr>
          <p:cNvPr id="3074" name="Picture 2" descr="L'objectif du clustering est de retrouver les différents clusters de données similaire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0" y="1828006"/>
            <a:ext cx="4286250" cy="421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8537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Loss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 apprentissage supervisé, la notion principale est celle de perte d’information (</a:t>
            </a:r>
            <a:r>
              <a:rPr lang="fr-FR" dirty="0" err="1"/>
              <a:t>loss</a:t>
            </a:r>
            <a:r>
              <a:rPr lang="fr-FR" dirty="0"/>
              <a:t> en anglais) due à l'approximation du modèle</a:t>
            </a:r>
          </a:p>
          <a:p>
            <a:r>
              <a:rPr lang="fr-FR" dirty="0"/>
              <a:t>Elle détermine à quel point notre modélisation du phénomène, qui est une approximation de la réalité (régression), perd de l’information par rapport à la réalité observée à travers les données d’exemple</a:t>
            </a:r>
          </a:p>
        </p:txBody>
      </p:sp>
    </p:spTree>
    <p:extLst>
      <p:ext uri="{BB962C8B-B14F-4D97-AF65-F5344CB8AC3E}">
        <p14:creationId xmlns:p14="http://schemas.microsoft.com/office/powerpoint/2010/main" val="36583828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(ou le risque) est l’écart entre la données et le modèle</a:t>
            </a:r>
          </a:p>
          <a:p>
            <a:pPr lvl="1"/>
            <a:r>
              <a:rPr lang="fr-FR" dirty="0"/>
              <a:t>Risque réduit à gauche, important à droite</a:t>
            </a:r>
          </a:p>
        </p:txBody>
      </p:sp>
      <p:pic>
        <p:nvPicPr>
          <p:cNvPr id="6146" name="Picture 2" descr="A gauche, on ne perd pas trop d'information. A droite on est trop éloignée de la réalité représentée par les po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787" y="2924944"/>
            <a:ext cx="66675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2190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Problèmes non modélisables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problèmes ne sont pas modélisables par une régression</a:t>
            </a:r>
          </a:p>
          <a:p>
            <a:pPr lvl="1"/>
            <a:r>
              <a:rPr lang="fr-FR" dirty="0"/>
              <a:t>Non rationnel : Pi, nombres premiers</a:t>
            </a:r>
          </a:p>
          <a:p>
            <a:pPr lvl="1"/>
            <a:r>
              <a:rPr lang="fr-FR" dirty="0"/>
              <a:t>Fortement dispersé : </a:t>
            </a:r>
            <a:r>
              <a:rPr lang="fr-FR" dirty="0" err="1"/>
              <a:t>Random</a:t>
            </a:r>
            <a:endParaRPr lang="fr-FR" dirty="0"/>
          </a:p>
          <a:p>
            <a:pPr lvl="1"/>
            <a:r>
              <a:rPr lang="fr-FR" dirty="0"/>
              <a:t>Ici </a:t>
            </a:r>
            <a:r>
              <a:rPr lang="fr-FR" dirty="0" err="1"/>
              <a:t>random.rand</a:t>
            </a:r>
            <a:r>
              <a:rPr lang="fr-FR" dirty="0"/>
              <a:t>(30) et les 40000 premiers nombres premiers sur une grille 200 x 200</a:t>
            </a:r>
          </a:p>
          <a:p>
            <a:pPr lvl="1"/>
            <a:endParaRPr lang="fr-FR" dirty="0"/>
          </a:p>
        </p:txBody>
      </p:sp>
      <p:pic>
        <p:nvPicPr>
          <p:cNvPr id="6146" name="Picture 2" descr="Échantillon d'une variable aléatoire gaussien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669" y="4060792"/>
            <a:ext cx="3571875" cy="24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Image associé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146" y="4090085"/>
            <a:ext cx="2148166" cy="2129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611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Edmunt</a:t>
            </a:r>
            <a:r>
              <a:rPr lang="fr-FR" dirty="0"/>
              <a:t> Husserl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« Les modèles sont les habits des idées, il y a toujours un modèle qui peut faire croire que votre idée est juste. »</a:t>
            </a:r>
          </a:p>
        </p:txBody>
      </p:sp>
    </p:spTree>
    <p:extLst>
      <p:ext uri="{BB962C8B-B14F-4D97-AF65-F5344CB8AC3E}">
        <p14:creationId xmlns:p14="http://schemas.microsoft.com/office/powerpoint/2010/main" val="33445713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047360" cy="5040560"/>
          </a:xfrm>
        </p:spPr>
        <p:txBody>
          <a:bodyPr/>
          <a:lstStyle/>
          <a:p>
            <a:r>
              <a:rPr lang="fr-FR" sz="2400" dirty="0"/>
              <a:t>Initié et piloté en France par l'INRIA et Télécom </a:t>
            </a:r>
            <a:r>
              <a:rPr lang="fr-FR" sz="2400" dirty="0" err="1"/>
              <a:t>ParisTech</a:t>
            </a:r>
            <a:r>
              <a:rPr lang="fr-FR" sz="2400" dirty="0"/>
              <a:t>, le projet open source </a:t>
            </a:r>
            <a:r>
              <a:rPr lang="fr-FR" sz="2400" dirty="0" err="1"/>
              <a:t>Scikit-learn</a:t>
            </a:r>
            <a:r>
              <a:rPr lang="fr-FR" sz="2400" dirty="0"/>
              <a:t> est devenu une référence dans le monde de l'intelligence artificielle</a:t>
            </a:r>
          </a:p>
          <a:p>
            <a:pPr lvl="1"/>
            <a:r>
              <a:rPr lang="fr-FR" sz="2000" dirty="0"/>
              <a:t>De Paris à San Francisco en passant par Singapour, la bibliothèque de machine </a:t>
            </a:r>
            <a:r>
              <a:rPr lang="fr-FR" sz="2000" dirty="0" err="1"/>
              <a:t>learning</a:t>
            </a:r>
            <a:r>
              <a:rPr lang="fr-FR" sz="2000" dirty="0"/>
              <a:t>, écrite en Python, s'impose aux start-up jusqu'aux grands groupes, </a:t>
            </a:r>
            <a:r>
              <a:rPr lang="fr-FR" sz="2000" dirty="0" err="1"/>
              <a:t>Gafam</a:t>
            </a:r>
            <a:r>
              <a:rPr lang="fr-FR" sz="2000" dirty="0"/>
              <a:t> compris.</a:t>
            </a:r>
          </a:p>
          <a:p>
            <a:r>
              <a:rPr lang="fr-FR" sz="2400" dirty="0" err="1"/>
              <a:t>pip</a:t>
            </a:r>
            <a:r>
              <a:rPr lang="fr-FR" sz="2400" dirty="0"/>
              <a:t> </a:t>
            </a:r>
            <a:r>
              <a:rPr lang="fr-FR" sz="2400" dirty="0" err="1"/>
              <a:t>install</a:t>
            </a:r>
            <a:r>
              <a:rPr lang="fr-FR" sz="2400" dirty="0"/>
              <a:t> </a:t>
            </a:r>
            <a:r>
              <a:rPr lang="fr-FR" sz="2400" dirty="0" err="1"/>
              <a:t>scikit-learn</a:t>
            </a:r>
            <a:endParaRPr lang="fr-FR" sz="2400" dirty="0"/>
          </a:p>
          <a:p>
            <a:pPr lvl="1"/>
            <a:endParaRPr lang="fr-FR" sz="2000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873" y="1844824"/>
            <a:ext cx="3893488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47127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Scikit-learn</a:t>
            </a:r>
            <a:r>
              <a:rPr lang="fr-FR" dirty="0"/>
              <a:t> est le package de machine </a:t>
            </a:r>
            <a:r>
              <a:rPr lang="fr-FR" dirty="0" err="1"/>
              <a:t>learning</a:t>
            </a:r>
            <a:r>
              <a:rPr lang="fr-FR" dirty="0"/>
              <a:t> Python</a:t>
            </a:r>
          </a:p>
          <a:p>
            <a:pPr lvl="1"/>
            <a:r>
              <a:rPr lang="fr-FR" dirty="0"/>
              <a:t>Catégorisation</a:t>
            </a:r>
          </a:p>
          <a:p>
            <a:pPr lvl="1"/>
            <a:r>
              <a:rPr lang="fr-FR" dirty="0"/>
              <a:t>Régression</a:t>
            </a:r>
          </a:p>
          <a:p>
            <a:pPr lvl="1"/>
            <a:r>
              <a:rPr lang="fr-FR" dirty="0" err="1"/>
              <a:t>Clusterisation</a:t>
            </a:r>
            <a:r>
              <a:rPr lang="fr-FR" dirty="0"/>
              <a:t> (regroupement)</a:t>
            </a:r>
          </a:p>
          <a:p>
            <a:pPr lvl="1"/>
            <a:r>
              <a:rPr lang="fr-FR" dirty="0"/>
              <a:t>Réduction de dimension</a:t>
            </a:r>
          </a:p>
          <a:p>
            <a:pPr lvl="1"/>
            <a:r>
              <a:rPr lang="fr-FR" dirty="0"/>
              <a:t>Sélection de modèle</a:t>
            </a:r>
          </a:p>
          <a:p>
            <a:pPr lvl="1"/>
            <a:r>
              <a:rPr lang="fr-FR" dirty="0" err="1"/>
              <a:t>Preprocessing</a:t>
            </a:r>
            <a:r>
              <a:rPr lang="fr-FR" dirty="0"/>
              <a:t> (Filtrage, Randomisation)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8951" y="203709"/>
            <a:ext cx="3067050" cy="762000"/>
          </a:xfrm>
          <a:prstGeom prst="rect">
            <a:avLst/>
          </a:prstGeom>
        </p:spPr>
      </p:pic>
      <p:pic>
        <p:nvPicPr>
          <p:cNvPr id="1026" name="Picture 2" descr="http://scikit-learn.org/stable/_images/sphx_glr_plot_classifier_comparison_001_carousel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5043336"/>
            <a:ext cx="5715000" cy="1809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8605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Commençons par la régression linéaire</a:t>
            </a:r>
          </a:p>
          <a:p>
            <a:r>
              <a:rPr lang="fr-FR" dirty="0"/>
              <a:t>Import </a:t>
            </a:r>
            <a:r>
              <a:rPr lang="fr-FR" dirty="0" err="1"/>
              <a:t>sklearn.linearmodel</a:t>
            </a:r>
            <a:endParaRPr lang="fr-FR" dirty="0"/>
          </a:p>
          <a:p>
            <a:pPr lvl="1"/>
            <a:r>
              <a:rPr lang="fr-FR" dirty="0"/>
              <a:t>Minimisation de l’erreur </a:t>
            </a:r>
            <a:r>
              <a:rPr lang="fr-FR" dirty="0" err="1"/>
              <a:t>quadritique</a:t>
            </a:r>
            <a:endParaRPr lang="fr-FR" dirty="0"/>
          </a:p>
          <a:p>
            <a:r>
              <a:rPr lang="fr-FR" dirty="0"/>
              <a:t>Classe </a:t>
            </a:r>
            <a:r>
              <a:rPr lang="fr-FR" dirty="0" err="1"/>
              <a:t>LinearRegression</a:t>
            </a:r>
            <a:endParaRPr lang="fr-FR" dirty="0"/>
          </a:p>
          <a:p>
            <a:r>
              <a:rPr lang="fr-FR" dirty="0"/>
              <a:t>Fit()</a:t>
            </a:r>
          </a:p>
          <a:p>
            <a:pPr lvl="1"/>
            <a:r>
              <a:rPr lang="fr-FR" dirty="0"/>
              <a:t>Va démarrer l’apprentissage</a:t>
            </a:r>
          </a:p>
          <a:p>
            <a:r>
              <a:rPr lang="fr-FR" dirty="0" err="1"/>
              <a:t>Predict</a:t>
            </a:r>
            <a:r>
              <a:rPr lang="fr-FR" dirty="0"/>
              <a:t>()</a:t>
            </a:r>
          </a:p>
          <a:p>
            <a:pPr lvl="1"/>
            <a:r>
              <a:rPr lang="fr-FR" dirty="0"/>
              <a:t>Joue le modèle</a:t>
            </a:r>
          </a:p>
          <a:p>
            <a:r>
              <a:rPr lang="fr-FR" dirty="0"/>
              <a:t>Résultats identiques à </a:t>
            </a:r>
            <a:r>
              <a:rPr lang="fr-FR" dirty="0" err="1"/>
              <a:t>SciPy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9837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</a:t>
            </a:r>
          </a:p>
        </p:txBody>
      </p:sp>
      <p:pic>
        <p:nvPicPr>
          <p:cNvPr id="1026" name="Picture 2" descr="https://www.guru99.com/images/1/080618_0520_LinearRegr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1268759"/>
            <a:ext cx="4464496" cy="5331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1480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Régression polynomiale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Sklearn</a:t>
            </a:r>
            <a:r>
              <a:rPr lang="fr-FR" dirty="0"/>
              <a:t> effectue des régressions polynomiales</a:t>
            </a:r>
          </a:p>
        </p:txBody>
      </p:sp>
      <p:pic>
        <p:nvPicPr>
          <p:cNvPr id="4098" name="Picture 2" descr="../../_images/sphx_glr_plot_polynomial_interpolation_0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87721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83549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Surapprentissage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notion de </a:t>
            </a:r>
            <a:r>
              <a:rPr lang="fr-FR" dirty="0" err="1"/>
              <a:t>surapprentissage</a:t>
            </a:r>
            <a:r>
              <a:rPr lang="fr-FR" dirty="0"/>
              <a:t> désigne le fait que le modèle que vous avez choisi est trop collé aux données d'entraînement</a:t>
            </a:r>
          </a:p>
          <a:p>
            <a:pPr lvl="1"/>
            <a:r>
              <a:rPr lang="fr-FR" dirty="0"/>
              <a:t>C'est un problème classique de data science, lorsqu'on choisi un modèle trop "flexible", c'est à dire avec une complexité trop élevée qui prend aussi en compte le bruit du phénomène</a:t>
            </a:r>
          </a:p>
          <a:p>
            <a:pPr lvl="1"/>
            <a:r>
              <a:rPr lang="fr-FR" dirty="0"/>
              <a:t>Ici modèle simple </a:t>
            </a:r>
          </a:p>
          <a:p>
            <a:pPr lvl="1"/>
            <a:r>
              <a:rPr lang="fr-FR" dirty="0"/>
              <a:t>vs modèle complexe</a:t>
            </a:r>
          </a:p>
          <a:p>
            <a:r>
              <a:rPr lang="fr-FR" dirty="0"/>
              <a:t>D’où l’utiliser d’un </a:t>
            </a:r>
            <a:r>
              <a:rPr lang="fr-FR" dirty="0" err="1"/>
              <a:t>TestSet</a:t>
            </a:r>
            <a:endParaRPr lang="fr-FR" dirty="0"/>
          </a:p>
          <a:p>
            <a:pPr lvl="1"/>
            <a:endParaRPr lang="fr-FR" dirty="0"/>
          </a:p>
        </p:txBody>
      </p:sp>
      <p:pic>
        <p:nvPicPr>
          <p:cNvPr id="1026" name="Picture 2" descr="Comparaison entre un modèle en overfitting vs une modélisation plus réaliste du phénomèn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4019384"/>
            <a:ext cx="35909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54773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Échantillonnage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jeu de données (</a:t>
            </a:r>
            <a:r>
              <a:rPr lang="fr-FR" dirty="0" err="1"/>
              <a:t>dataset</a:t>
            </a:r>
            <a:r>
              <a:rPr lang="fr-FR" dirty="0"/>
              <a:t>) dont vous disposez constitue une ressource précieuse</a:t>
            </a:r>
          </a:p>
          <a:p>
            <a:pPr lvl="1"/>
            <a:r>
              <a:rPr lang="fr-FR" dirty="0"/>
              <a:t>Il faut pouvoir l’utiliser à bon escient afin de pouvoir à la fois choisir un modèle et l'entraîner</a:t>
            </a:r>
          </a:p>
          <a:p>
            <a:pPr lvl="1"/>
            <a:r>
              <a:rPr lang="fr-FR" dirty="0"/>
              <a:t>mais aussi de pouvoir tester la qualité de ce modèle</a:t>
            </a:r>
          </a:p>
          <a:p>
            <a:r>
              <a:rPr lang="fr-FR" dirty="0"/>
              <a:t>La première question à se poser est</a:t>
            </a:r>
          </a:p>
          <a:p>
            <a:pPr lvl="1"/>
            <a:r>
              <a:rPr lang="fr-FR" dirty="0"/>
              <a:t>Est-ce qu’on va utiliser toutes les données d'exemple dont on dispose ?</a:t>
            </a:r>
          </a:p>
          <a:p>
            <a:pPr lvl="1"/>
            <a:r>
              <a:rPr lang="fr-FR" dirty="0"/>
              <a:t>Volume, tests, …</a:t>
            </a:r>
          </a:p>
          <a:p>
            <a:r>
              <a:rPr lang="fr-FR" dirty="0"/>
              <a:t>Il faut échantillonner (</a:t>
            </a:r>
            <a:r>
              <a:rPr lang="fr-FR" dirty="0" err="1"/>
              <a:t>sampling</a:t>
            </a:r>
            <a:r>
              <a:rPr lang="fr-FR" dirty="0"/>
              <a:t>) les données à tester</a:t>
            </a:r>
          </a:p>
        </p:txBody>
      </p:sp>
    </p:spTree>
    <p:extLst>
      <p:ext uri="{BB962C8B-B14F-4D97-AF65-F5344CB8AC3E}">
        <p14:creationId xmlns:p14="http://schemas.microsoft.com/office/powerpoint/2010/main" val="14846590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utiliser le bon échantillon</a:t>
            </a:r>
          </a:p>
          <a:p>
            <a:pPr lvl="1"/>
            <a:r>
              <a:rPr lang="fr-FR" dirty="0"/>
              <a:t>Bien répartis</a:t>
            </a:r>
          </a:p>
          <a:p>
            <a:pPr lvl="1"/>
            <a:r>
              <a:rPr lang="fr-FR" dirty="0"/>
              <a:t>Ne pas introduire de biais</a:t>
            </a:r>
          </a:p>
          <a:p>
            <a:pPr lvl="1"/>
            <a:r>
              <a:rPr lang="fr-FR" dirty="0"/>
              <a:t>Par exemple à Paris les loyers sont plus chères qu’ailleurs</a:t>
            </a:r>
          </a:p>
          <a:p>
            <a:r>
              <a:rPr lang="fr-FR" dirty="0"/>
              <a:t>Il faut ensuite découper l’échantillon avec le</a:t>
            </a:r>
          </a:p>
          <a:p>
            <a:pPr lvl="1"/>
            <a:r>
              <a:rPr lang="fr-FR" dirty="0"/>
              <a:t>Training Set</a:t>
            </a:r>
          </a:p>
          <a:p>
            <a:pPr lvl="1"/>
            <a:r>
              <a:rPr lang="fr-FR" dirty="0" err="1"/>
              <a:t>Testing</a:t>
            </a:r>
            <a:r>
              <a:rPr lang="fr-FR" dirty="0"/>
              <a:t> Set</a:t>
            </a:r>
          </a:p>
          <a:p>
            <a:r>
              <a:rPr lang="fr-FR" dirty="0"/>
              <a:t>L’un sert à l’apprentissage, l’autre au test</a:t>
            </a:r>
          </a:p>
          <a:p>
            <a:pPr lvl="1"/>
            <a:r>
              <a:rPr lang="fr-FR" dirty="0"/>
              <a:t>Souvent 80/20</a:t>
            </a:r>
          </a:p>
        </p:txBody>
      </p:sp>
    </p:spTree>
    <p:extLst>
      <p:ext uri="{BB962C8B-B14F-4D97-AF65-F5344CB8AC3E}">
        <p14:creationId xmlns:p14="http://schemas.microsoft.com/office/powerpoint/2010/main" val="7856131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Randomisation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s’avère que si on entraîne le modèle avec des données, il va naturellement être plus performant sur ces données-là</a:t>
            </a:r>
          </a:p>
          <a:p>
            <a:r>
              <a:rPr lang="fr-FR" dirty="0"/>
              <a:t>Ce qui nous intéresse c’est de mesurer sa performance sur des données qu’il n’a jamais vues puisque c’est ce qui va se passer en pratique</a:t>
            </a:r>
          </a:p>
          <a:p>
            <a:r>
              <a:rPr lang="fr-FR" dirty="0"/>
              <a:t>Cette performance est appelée la </a:t>
            </a:r>
            <a:r>
              <a:rPr lang="fr-FR" b="1" dirty="0"/>
              <a:t>généralisation</a:t>
            </a:r>
            <a:r>
              <a:rPr lang="fr-FR" dirty="0"/>
              <a:t> du modèle</a:t>
            </a:r>
          </a:p>
          <a:p>
            <a:pPr lvl="1"/>
            <a:r>
              <a:rPr lang="fr-FR" dirty="0"/>
              <a:t>Sa capacité à effectuer des prédictions de qualité sur des situations jamais rencontrées.</a:t>
            </a:r>
          </a:p>
        </p:txBody>
      </p:sp>
    </p:spTree>
    <p:extLst>
      <p:ext uri="{BB962C8B-B14F-4D97-AF65-F5344CB8AC3E}">
        <p14:creationId xmlns:p14="http://schemas.microsoft.com/office/powerpoint/2010/main" val="22712598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 err="1"/>
              <a:t>Nearest</a:t>
            </a:r>
            <a:r>
              <a:rPr lang="fr-FR" altLang="fr-FR" dirty="0"/>
              <a:t> Neighbors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k-NN est le diminutif de k </a:t>
            </a:r>
            <a:r>
              <a:rPr lang="fr-FR" dirty="0" err="1"/>
              <a:t>Nearest</a:t>
            </a:r>
            <a:r>
              <a:rPr lang="fr-FR" dirty="0"/>
              <a:t> Neighbors</a:t>
            </a:r>
          </a:p>
          <a:p>
            <a:r>
              <a:rPr lang="fr-FR" dirty="0"/>
              <a:t>C’est un algorithme qui peut servir autant pour la classification que la régression</a:t>
            </a:r>
          </a:p>
          <a:p>
            <a:r>
              <a:rPr lang="fr-FR" dirty="0"/>
              <a:t>Son principe est de choisir les k données les plus proches du point étudié afin d’en prédire sa valeur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88492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Quelle est la classe de la nouvelle données (en blanc) ?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pic>
        <p:nvPicPr>
          <p:cNvPr id="1028" name="Picture 4" descr="le point blanc est une nouvelle entré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2276872"/>
            <a:ext cx="5112568" cy="3507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40698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Nous allons regarder la distance avec les k voisins les plus proches</a:t>
            </a:r>
          </a:p>
          <a:p>
            <a:pPr lvl="1"/>
            <a:r>
              <a:rPr lang="fr-FR" dirty="0"/>
              <a:t>Ici 5</a:t>
            </a:r>
          </a:p>
          <a:p>
            <a:pPr lvl="1"/>
            <a:r>
              <a:rPr lang="fr-FR" dirty="0"/>
              <a:t>Rouge</a:t>
            </a:r>
          </a:p>
        </p:txBody>
      </p:sp>
      <p:pic>
        <p:nvPicPr>
          <p:cNvPr id="2050" name="Picture 2" descr="les 5 points les plus proches du point que l'on cherche à class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564904"/>
            <a:ext cx="5256584" cy="3606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87541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Il existe plusieurs algorithmes </a:t>
            </a:r>
            <a:r>
              <a:rPr lang="fr-FR" sz="2400" dirty="0" err="1"/>
              <a:t>knn</a:t>
            </a:r>
            <a:endParaRPr lang="fr-FR" sz="2400" dirty="0"/>
          </a:p>
          <a:p>
            <a:r>
              <a:rPr lang="fr-FR" sz="2400" dirty="0"/>
              <a:t>Brute Force</a:t>
            </a:r>
          </a:p>
          <a:p>
            <a:pPr lvl="1"/>
            <a:r>
              <a:rPr lang="fr-FR" sz="2000" dirty="0"/>
              <a:t>Etablit la distance entre tous les points</a:t>
            </a:r>
          </a:p>
          <a:p>
            <a:pPr lvl="1"/>
            <a:r>
              <a:rPr lang="fr-FR" sz="2000" dirty="0"/>
              <a:t>Très bon, mais très couteux pour les gros </a:t>
            </a:r>
            <a:r>
              <a:rPr lang="fr-FR" sz="2000" dirty="0" err="1"/>
              <a:t>datasets</a:t>
            </a:r>
            <a:endParaRPr lang="fr-FR" sz="2000" dirty="0"/>
          </a:p>
          <a:p>
            <a:pPr lvl="1"/>
            <a:r>
              <a:rPr lang="fr-FR" sz="2000" dirty="0"/>
              <a:t>O(n²)</a:t>
            </a:r>
          </a:p>
          <a:p>
            <a:r>
              <a:rPr lang="fr-FR" sz="2400" dirty="0" err="1"/>
              <a:t>KDTree</a:t>
            </a:r>
            <a:endParaRPr lang="fr-FR" sz="2400" dirty="0"/>
          </a:p>
          <a:p>
            <a:pPr lvl="1"/>
            <a:r>
              <a:rPr lang="fr-FR" sz="2000" dirty="0"/>
              <a:t>Elimine des distances</a:t>
            </a:r>
          </a:p>
          <a:p>
            <a:pPr lvl="1"/>
            <a:r>
              <a:rPr lang="fr-FR" sz="2000" dirty="0"/>
              <a:t>Si A est loin de B et B proche de C alors A est loin de C</a:t>
            </a:r>
          </a:p>
          <a:p>
            <a:pPr lvl="1"/>
            <a:r>
              <a:rPr lang="fr-FR" sz="2000" dirty="0"/>
              <a:t>O(n.log(n))</a:t>
            </a:r>
          </a:p>
          <a:p>
            <a:r>
              <a:rPr lang="fr-FR" sz="2400" dirty="0" err="1"/>
              <a:t>BallTree</a:t>
            </a:r>
            <a:endParaRPr lang="fr-FR" sz="2400" dirty="0"/>
          </a:p>
          <a:p>
            <a:pPr lvl="1"/>
            <a:r>
              <a:rPr lang="fr-FR" sz="2000" dirty="0"/>
              <a:t>Sépare les données en partitions</a:t>
            </a:r>
          </a:p>
          <a:p>
            <a:pPr lvl="1"/>
            <a:r>
              <a:rPr lang="fr-FR" sz="2000" dirty="0"/>
              <a:t>Peut être très efficace ou très </a:t>
            </a:r>
            <a:r>
              <a:rPr lang="fr-FR" sz="2000" dirty="0" err="1"/>
              <a:t>inneficace</a:t>
            </a:r>
            <a:endParaRPr lang="fr-FR" sz="2000" dirty="0"/>
          </a:p>
          <a:p>
            <a:r>
              <a:rPr lang="fr-FR" sz="2400" dirty="0"/>
              <a:t>Par défaut </a:t>
            </a:r>
            <a:r>
              <a:rPr lang="fr-FR" sz="2400" dirty="0" err="1"/>
              <a:t>sklearn</a:t>
            </a:r>
            <a:r>
              <a:rPr lang="fr-FR" sz="2400" dirty="0"/>
              <a:t> essaie de choisir le meilleur</a:t>
            </a:r>
          </a:p>
        </p:txBody>
      </p:sp>
    </p:spTree>
    <p:extLst>
      <p:ext uri="{BB962C8B-B14F-4D97-AF65-F5344CB8AC3E}">
        <p14:creationId xmlns:p14="http://schemas.microsoft.com/office/powerpoint/2010/main" val="346280422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sklearn.neighbors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 as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</a:t>
            </a:r>
            <a:endParaRPr lang="fr-F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model =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n_neighbors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=3)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model.score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169152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Zonage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est ainsi aisé de déterminé un zonage pour catégorisé les points</a:t>
            </a:r>
          </a:p>
        </p:txBody>
      </p:sp>
      <p:pic>
        <p:nvPicPr>
          <p:cNvPr id="3074" name="Picture 2" descr="Les deux zones qui séparent l'espace pour la décision à prendre sur la classification de nouvelles entr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564904"/>
            <a:ext cx="4762500" cy="3267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32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Problème détecté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5256584" cy="5040560"/>
          </a:xfrm>
        </p:spPr>
        <p:txBody>
          <a:bodyPr/>
          <a:lstStyle/>
          <a:p>
            <a:r>
              <a:rPr lang="fr-FR" dirty="0"/>
              <a:t>Si k est trop faible nous obtenons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Nous aurions préféré</a:t>
            </a:r>
          </a:p>
          <a:p>
            <a:pPr lvl="1"/>
            <a:r>
              <a:rPr lang="fr-FR" dirty="0"/>
              <a:t>Pour cela nous sommes passé à k=5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1026" name="Picture 2" descr="Les zones désignées par les flèches ne vont pas être bien classé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1149225"/>
            <a:ext cx="3233978" cy="2207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assifieur 5-nn sur le même jeu de données, beaucoup plus efficace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3593" y="3415634"/>
            <a:ext cx="3156313" cy="215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13693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Biais vs Variance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8838058" cy="5040560"/>
          </a:xfrm>
        </p:spPr>
        <p:txBody>
          <a:bodyPr/>
          <a:lstStyle/>
          <a:p>
            <a:r>
              <a:rPr lang="fr-FR" dirty="0"/>
              <a:t>Avec k=5 notre modèle est plus indépendant du training set</a:t>
            </a:r>
          </a:p>
          <a:p>
            <a:pPr lvl="1"/>
            <a:r>
              <a:rPr lang="fr-FR" dirty="0"/>
              <a:t>Nous avons augmenté la variance</a:t>
            </a:r>
          </a:p>
          <a:p>
            <a:pPr lvl="1"/>
            <a:r>
              <a:rPr lang="fr-FR" dirty="0"/>
              <a:t>Cependant plus k est grand plus l’erreur sera grande</a:t>
            </a:r>
          </a:p>
          <a:p>
            <a:pPr lvl="1"/>
            <a:r>
              <a:rPr lang="fr-FR" dirty="0"/>
              <a:t>Nous avons introduit un biais</a:t>
            </a:r>
          </a:p>
          <a:p>
            <a:r>
              <a:rPr lang="fr-FR" dirty="0"/>
              <a:t>Avec k=1 la variance sera plus faible, l’erreur également</a:t>
            </a:r>
          </a:p>
          <a:p>
            <a:r>
              <a:rPr lang="fr-FR" dirty="0"/>
              <a:t>Par exemple pour k=12 </a:t>
            </a:r>
          </a:p>
          <a:p>
            <a:pPr lvl="1"/>
            <a:r>
              <a:rPr lang="fr-FR" dirty="0"/>
              <a:t>Le biais est énorme</a:t>
            </a:r>
          </a:p>
          <a:p>
            <a:endParaRPr lang="fr-FR" dirty="0"/>
          </a:p>
        </p:txBody>
      </p:sp>
      <p:pic>
        <p:nvPicPr>
          <p:cNvPr id="2050" name="Picture 2" descr="Parce qu'on a choisi un k trop grand, la zone de classification est trop lisse par rapport à la complexité du modè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149448"/>
            <a:ext cx="3995936" cy="2743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22675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Décomposition </a:t>
            </a:r>
            <a:r>
              <a:rPr lang="fr-FR"/>
              <a:t>de l’erreur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L’erreur peut s’écrire</a:t>
            </a:r>
          </a:p>
          <a:p>
            <a:r>
              <a:rPr lang="fr-FR" dirty="0" err="1"/>
              <a:t>Err</a:t>
            </a:r>
            <a:r>
              <a:rPr lang="fr-FR" dirty="0"/>
              <a:t>(x</a:t>
            </a:r>
            <a:r>
              <a:rPr lang="fr-FR"/>
              <a:t>)=Biais²+Variance+Erreur </a:t>
            </a:r>
            <a:r>
              <a:rPr lang="fr-FR" dirty="0"/>
              <a:t>Irréductible</a:t>
            </a:r>
          </a:p>
          <a:p>
            <a:endParaRPr lang="fr-FR" dirty="0"/>
          </a:p>
        </p:txBody>
      </p:sp>
      <p:pic>
        <p:nvPicPr>
          <p:cNvPr id="3074" name="Picture 2" descr="On cherche à se placer au minimum de l'erreur tota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780928"/>
            <a:ext cx="5256584" cy="330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443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Minimisation de l’erreur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faire varier le </a:t>
            </a:r>
            <a:r>
              <a:rPr lang="fr-FR" dirty="0" err="1"/>
              <a:t>n_neighbors</a:t>
            </a:r>
            <a:r>
              <a:rPr lang="fr-FR" dirty="0"/>
              <a:t> entre 2 et 15</a:t>
            </a:r>
          </a:p>
          <a:p>
            <a:pPr marL="0" indent="0">
              <a:buNone/>
            </a:pP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k in range(2,15):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model =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nn.KNeighborsClassifier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(k)</a:t>
            </a:r>
          </a:p>
          <a:p>
            <a:pPr marL="0" indent="0"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errors.append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(1 -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model.fit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ytrain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).score(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ytest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lvl="1"/>
            <a:r>
              <a:rPr lang="fr-FR" dirty="0"/>
              <a:t>Il essayer les différents algorithmes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algorithm</a:t>
            </a:r>
            <a:endParaRPr lang="fr-FR" dirty="0"/>
          </a:p>
          <a:p>
            <a:pPr lvl="1"/>
            <a:r>
              <a:rPr lang="fr-FR" dirty="0"/>
              <a:t>Il faut essayer les 2 poids</a:t>
            </a:r>
          </a:p>
          <a:p>
            <a:pPr lvl="2"/>
            <a:r>
              <a:rPr lang="fr-FR" dirty="0"/>
              <a:t>Paramètre </a:t>
            </a:r>
            <a:r>
              <a:rPr lang="fr-FR" dirty="0" err="1"/>
              <a:t>weight</a:t>
            </a:r>
            <a:r>
              <a:rPr lang="fr-FR" dirty="0"/>
              <a:t> = « distance » qui monte la distance au carré, c’est-à-dire qu’il donne plus d’importance aux points proches</a:t>
            </a:r>
          </a:p>
        </p:txBody>
      </p:sp>
    </p:spTree>
    <p:extLst>
      <p:ext uri="{BB962C8B-B14F-4D97-AF65-F5344CB8AC3E}">
        <p14:creationId xmlns:p14="http://schemas.microsoft.com/office/powerpoint/2010/main" val="13284033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Entrainement et prédiction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faut ensuite choisir le meilleur modèle, l’entrainer et mettre en place la prédiction</a:t>
            </a:r>
          </a:p>
          <a:p>
            <a:r>
              <a:rPr lang="fr-FR" dirty="0" err="1"/>
              <a:t>model.fit</a:t>
            </a:r>
            <a:r>
              <a:rPr lang="fr-FR" dirty="0"/>
              <a:t>(</a:t>
            </a:r>
            <a:r>
              <a:rPr lang="fr-FR" dirty="0" err="1"/>
              <a:t>xtrain</a:t>
            </a:r>
            <a:r>
              <a:rPr lang="fr-FR" dirty="0"/>
              <a:t>, </a:t>
            </a:r>
            <a:r>
              <a:rPr lang="fr-FR" dirty="0" err="1"/>
              <a:t>ytrain</a:t>
            </a:r>
            <a:r>
              <a:rPr lang="fr-FR" dirty="0"/>
              <a:t>)</a:t>
            </a:r>
          </a:p>
          <a:p>
            <a:r>
              <a:rPr lang="fr-FR" dirty="0" err="1"/>
              <a:t>predicted</a:t>
            </a:r>
            <a:r>
              <a:rPr lang="fr-FR" dirty="0"/>
              <a:t> = </a:t>
            </a:r>
            <a:r>
              <a:rPr lang="fr-FR" dirty="0" err="1"/>
              <a:t>model.predict</a:t>
            </a:r>
            <a:r>
              <a:rPr lang="fr-FR" dirty="0"/>
              <a:t>(</a:t>
            </a:r>
            <a:r>
              <a:rPr lang="fr-FR" dirty="0" err="1"/>
              <a:t>xtest</a:t>
            </a:r>
            <a:r>
              <a:rPr lang="fr-FR" dirty="0"/>
              <a:t>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207917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Résultats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K = 3</a:t>
            </a:r>
          </a:p>
          <a:p>
            <a:r>
              <a:rPr lang="fr-FR" dirty="0"/>
              <a:t>Erreur = 5%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30" y="2418352"/>
            <a:ext cx="4972050" cy="401955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130" y="2852936"/>
            <a:ext cx="3470551" cy="260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47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Autres modèles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Il existe de nombreux autres modèles de classification</a:t>
            </a:r>
          </a:p>
          <a:p>
            <a:pPr lvl="1"/>
            <a:r>
              <a:rPr lang="fr-FR" dirty="0" err="1"/>
              <a:t>RandomForest</a:t>
            </a:r>
            <a:endParaRPr lang="fr-FR" dirty="0"/>
          </a:p>
          <a:p>
            <a:pPr lvl="1"/>
            <a:r>
              <a:rPr lang="fr-FR" dirty="0"/>
              <a:t>SVM</a:t>
            </a:r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896057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forêts d'arbres décisionnels ont été formellement proposées en 2001 par Leo </a:t>
            </a:r>
            <a:r>
              <a:rPr lang="fr-FR" dirty="0" err="1"/>
              <a:t>Breiman</a:t>
            </a:r>
            <a:r>
              <a:rPr lang="fr-FR" dirty="0"/>
              <a:t> et Adèle </a:t>
            </a:r>
            <a:r>
              <a:rPr lang="fr-FR" dirty="0" err="1"/>
              <a:t>Cutler</a:t>
            </a:r>
            <a:endParaRPr lang="fr-FR" dirty="0"/>
          </a:p>
          <a:p>
            <a:r>
              <a:rPr lang="fr-FR" dirty="0"/>
              <a:t>Cet algorithme combine les concepts de sous-espaces aléatoires et de </a:t>
            </a:r>
            <a:r>
              <a:rPr lang="fr-FR" dirty="0" err="1"/>
              <a:t>bagging</a:t>
            </a:r>
            <a:endParaRPr lang="fr-FR" dirty="0"/>
          </a:p>
          <a:p>
            <a:r>
              <a:rPr lang="fr-FR" dirty="0"/>
              <a:t>L'algorithme des forêts d'arbres décisionnels effectue un apprentissage sur de multiples arbres de décision entraînés sur des sous-ensembles de données légèrement différents</a:t>
            </a:r>
          </a:p>
        </p:txBody>
      </p:sp>
    </p:spTree>
    <p:extLst>
      <p:ext uri="{BB962C8B-B14F-4D97-AF65-F5344CB8AC3E}">
        <p14:creationId xmlns:p14="http://schemas.microsoft.com/office/powerpoint/2010/main" val="34285975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Asymétrie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 est un modèle asymétrique</a:t>
            </a:r>
          </a:p>
          <a:p>
            <a:pPr lvl="1"/>
            <a:r>
              <a:rPr lang="fr-FR" dirty="0"/>
              <a:t>Apprentissage couteux</a:t>
            </a:r>
          </a:p>
          <a:p>
            <a:pPr lvl="1"/>
            <a:r>
              <a:rPr lang="fr-FR" dirty="0"/>
              <a:t>Prédiction rapide</a:t>
            </a:r>
          </a:p>
          <a:p>
            <a:pPr lvl="1"/>
            <a:r>
              <a:rPr lang="fr-FR" dirty="0"/>
              <a:t>Très utile</a:t>
            </a:r>
          </a:p>
        </p:txBody>
      </p:sp>
    </p:spTree>
    <p:extLst>
      <p:ext uri="{BB962C8B-B14F-4D97-AF65-F5344CB8AC3E}">
        <p14:creationId xmlns:p14="http://schemas.microsoft.com/office/powerpoint/2010/main" val="8474020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  <a:p>
            <a:pPr lvl="1"/>
            <a:r>
              <a:rPr lang="fr-FR" dirty="0"/>
              <a:t>import </a:t>
            </a:r>
            <a:r>
              <a:rPr lang="fr-FR" dirty="0" err="1"/>
              <a:t>sk.ensemble</a:t>
            </a:r>
            <a:r>
              <a:rPr lang="fr-FR" dirty="0"/>
              <a:t> as </a:t>
            </a:r>
            <a:r>
              <a:rPr lang="fr-FR" dirty="0" err="1"/>
              <a:t>rf</a:t>
            </a:r>
            <a:endParaRPr lang="fr-FR" dirty="0"/>
          </a:p>
          <a:p>
            <a:pPr lvl="1"/>
            <a:r>
              <a:rPr lang="fr-FR" dirty="0"/>
              <a:t>model = </a:t>
            </a:r>
            <a:r>
              <a:rPr lang="fr-FR" dirty="0" err="1"/>
              <a:t>rf.RandomForestClassifier</a:t>
            </a:r>
            <a:r>
              <a:rPr lang="fr-FR" dirty="0"/>
              <a:t>(</a:t>
            </a:r>
            <a:r>
              <a:rPr lang="fr-FR" dirty="0" err="1"/>
              <a:t>n_estimators</a:t>
            </a:r>
            <a:r>
              <a:rPr lang="fr-FR" dirty="0"/>
              <a:t>=100)</a:t>
            </a:r>
          </a:p>
          <a:p>
            <a:r>
              <a:rPr lang="fr-FR" dirty="0"/>
              <a:t>Très puissant</a:t>
            </a:r>
          </a:p>
          <a:p>
            <a:pPr lvl="1"/>
            <a:r>
              <a:rPr lang="fr-FR" dirty="0"/>
              <a:t>Bien plus gourmand que </a:t>
            </a:r>
            <a:r>
              <a:rPr lang="fr-FR" dirty="0" err="1"/>
              <a:t>kNN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196997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Iris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26" name="Picture 2" descr="https://cdn-images-1.medium.com/max/1200/1*IPLwmH-TJRhEWXW7uaetM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56209"/>
            <a:ext cx="5363354" cy="5184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91726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Importances des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précédents algorithmes ne permettaient pas de connaître l'importance de chaque </a:t>
            </a:r>
            <a:r>
              <a:rPr lang="fr-FR" dirty="0" err="1"/>
              <a:t>feature</a:t>
            </a:r>
            <a:endParaRPr lang="fr-FR" dirty="0"/>
          </a:p>
          <a:p>
            <a:r>
              <a:rPr lang="fr-FR" dirty="0"/>
              <a:t>Il est souvent utile de savoir les </a:t>
            </a:r>
            <a:r>
              <a:rPr lang="fr-FR" dirty="0" err="1"/>
              <a:t>features</a:t>
            </a:r>
            <a:r>
              <a:rPr lang="fr-FR" dirty="0"/>
              <a:t> prépondérantes</a:t>
            </a:r>
          </a:p>
          <a:p>
            <a:pPr lvl="1"/>
            <a:r>
              <a:rPr lang="fr-FR" dirty="0"/>
              <a:t>Et l'inverse celle qui ne le sont pas</a:t>
            </a:r>
          </a:p>
          <a:p>
            <a:pPr lvl="1"/>
            <a:r>
              <a:rPr lang="fr-FR" dirty="0"/>
              <a:t>Permet de faire baisser le nombre de dimension</a:t>
            </a:r>
          </a:p>
          <a:p>
            <a:pPr lvl="1"/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173445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Importance </a:t>
            </a:r>
            <a:r>
              <a:rPr lang="fr-FR" dirty="0" err="1"/>
              <a:t>Feature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forest.feature_importances</a:t>
            </a:r>
            <a:r>
              <a:rPr lang="fr-FR" dirty="0"/>
              <a:t>_</a:t>
            </a:r>
          </a:p>
          <a:p>
            <a:pPr lvl="1"/>
            <a:r>
              <a:rPr lang="fr-FR" dirty="0"/>
              <a:t>Permet de donner pour chaque </a:t>
            </a:r>
            <a:r>
              <a:rPr lang="fr-FR" dirty="0" err="1"/>
              <a:t>feature</a:t>
            </a:r>
            <a:r>
              <a:rPr lang="fr-FR" dirty="0"/>
              <a:t> son importance sur 1</a:t>
            </a:r>
          </a:p>
        </p:txBody>
      </p:sp>
    </p:spTree>
    <p:extLst>
      <p:ext uri="{BB962C8B-B14F-4D97-AF65-F5344CB8AC3E}">
        <p14:creationId xmlns:p14="http://schemas.microsoft.com/office/powerpoint/2010/main" val="2784811699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3564</TotalTime>
  <Words>2111</Words>
  <Application>Microsoft Office PowerPoint</Application>
  <PresentationFormat>Affichage à l'écran (4:3)</PresentationFormat>
  <Paragraphs>284</Paragraphs>
  <Slides>63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63</vt:i4>
      </vt:variant>
    </vt:vector>
  </HeadingPairs>
  <TitlesOfParts>
    <vt:vector size="68" baseType="lpstr">
      <vt:lpstr>Arial</vt:lpstr>
      <vt:lpstr>Courier New</vt:lpstr>
      <vt:lpstr>Monotype Sorts</vt:lpstr>
      <vt:lpstr>Times New Roman</vt:lpstr>
      <vt:lpstr>cvc</vt:lpstr>
      <vt:lpstr>Présentation PowerPoint</vt:lpstr>
      <vt:lpstr>Présentation PowerPoint</vt:lpstr>
      <vt:lpstr>IA - ML - DL</vt:lpstr>
      <vt:lpstr>But</vt:lpstr>
      <vt:lpstr>Exemple</vt:lpstr>
      <vt:lpstr>Graphique</vt:lpstr>
      <vt:lpstr>Régression</vt:lpstr>
      <vt:lpstr>Régression linéaire</vt:lpstr>
      <vt:lpstr>Erreur</vt:lpstr>
      <vt:lpstr>Classification</vt:lpstr>
      <vt:lpstr>Principes mathématiques</vt:lpstr>
      <vt:lpstr>Trouver le bon modèle</vt:lpstr>
      <vt:lpstr>Quartet d’Ascombe</vt:lpstr>
      <vt:lpstr>La régression n’est pas tous les temps linéaire</vt:lpstr>
      <vt:lpstr>Les différents types de régression</vt:lpstr>
      <vt:lpstr>Les différents types de régression</vt:lpstr>
      <vt:lpstr>Les différents types de régression</vt:lpstr>
      <vt:lpstr>Machine Learning</vt:lpstr>
      <vt:lpstr>Modélisation</vt:lpstr>
      <vt:lpstr>Apprentissage</vt:lpstr>
      <vt:lpstr>Machine Learning vs Programmation</vt:lpstr>
      <vt:lpstr>Exemple</vt:lpstr>
      <vt:lpstr>Workflow</vt:lpstr>
      <vt:lpstr>Notre travail</vt:lpstr>
      <vt:lpstr>L'algorithme d'apprentissage</vt:lpstr>
      <vt:lpstr>Exemples</vt:lpstr>
      <vt:lpstr>Mesure de performance</vt:lpstr>
      <vt:lpstr>Exemple</vt:lpstr>
      <vt:lpstr>Autre exemple</vt:lpstr>
      <vt:lpstr>Le clustering</vt:lpstr>
      <vt:lpstr>Exemple</vt:lpstr>
      <vt:lpstr>Loss</vt:lpstr>
      <vt:lpstr>Erreur</vt:lpstr>
      <vt:lpstr>Problèmes non modélisables</vt:lpstr>
      <vt:lpstr>Edmunt Husserl</vt:lpstr>
      <vt:lpstr>Présentation PowerPoint</vt:lpstr>
      <vt:lpstr>Présentation PowerPoint</vt:lpstr>
      <vt:lpstr>Régression</vt:lpstr>
      <vt:lpstr>Régression</vt:lpstr>
      <vt:lpstr>Régression polynomiale</vt:lpstr>
      <vt:lpstr>Surapprentissage</vt:lpstr>
      <vt:lpstr>Échantillonnage</vt:lpstr>
      <vt:lpstr>Randomisation</vt:lpstr>
      <vt:lpstr>Randomisation</vt:lpstr>
      <vt:lpstr>Nearest Neighbors</vt:lpstr>
      <vt:lpstr>Explication</vt:lpstr>
      <vt:lpstr>knn</vt:lpstr>
      <vt:lpstr>Algorithmes</vt:lpstr>
      <vt:lpstr>Modèle</vt:lpstr>
      <vt:lpstr>Zonage</vt:lpstr>
      <vt:lpstr>Problème détecté</vt:lpstr>
      <vt:lpstr>Biais vs Variance</vt:lpstr>
      <vt:lpstr>Décomposition de l’erreur</vt:lpstr>
      <vt:lpstr>Minimisation de l’erreur</vt:lpstr>
      <vt:lpstr>Entrainement et prédiction</vt:lpstr>
      <vt:lpstr>Résultats</vt:lpstr>
      <vt:lpstr>Autres modèles</vt:lpstr>
      <vt:lpstr>Random Forest</vt:lpstr>
      <vt:lpstr>Asymétrie</vt:lpstr>
      <vt:lpstr>Random Forest</vt:lpstr>
      <vt:lpstr>Exemple Iris</vt:lpstr>
      <vt:lpstr>Importances des features</vt:lpstr>
      <vt:lpstr>Importance Feature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280</cp:revision>
  <dcterms:created xsi:type="dcterms:W3CDTF">2000-04-10T19:33:12Z</dcterms:created>
  <dcterms:modified xsi:type="dcterms:W3CDTF">2025-11-18T17:00:11Z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