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8"/>
  </p:notesMasterIdLst>
  <p:handoutMasterIdLst>
    <p:handoutMasterId r:id="rId29"/>
  </p:handoutMasterIdLst>
  <p:sldIdLst>
    <p:sldId id="264" r:id="rId2"/>
    <p:sldId id="324" r:id="rId3"/>
    <p:sldId id="310" r:id="rId4"/>
    <p:sldId id="325" r:id="rId5"/>
    <p:sldId id="326" r:id="rId6"/>
    <p:sldId id="337" r:id="rId7"/>
    <p:sldId id="338" r:id="rId8"/>
    <p:sldId id="339" r:id="rId9"/>
    <p:sldId id="355" r:id="rId10"/>
    <p:sldId id="356" r:id="rId11"/>
    <p:sldId id="342" r:id="rId12"/>
    <p:sldId id="345" r:id="rId13"/>
    <p:sldId id="375" r:id="rId14"/>
    <p:sldId id="376" r:id="rId15"/>
    <p:sldId id="377" r:id="rId16"/>
    <p:sldId id="313" r:id="rId17"/>
    <p:sldId id="314" r:id="rId18"/>
    <p:sldId id="315" r:id="rId19"/>
    <p:sldId id="316" r:id="rId20"/>
    <p:sldId id="317" r:id="rId21"/>
    <p:sldId id="318" r:id="rId22"/>
    <p:sldId id="319" r:id="rId23"/>
    <p:sldId id="320" r:id="rId24"/>
    <p:sldId id="321" r:id="rId25"/>
    <p:sldId id="322" r:id="rId26"/>
    <p:sldId id="323" r:id="rId27"/>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931"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628650" y="6356351"/>
            <a:ext cx="2057400" cy="365125"/>
          </a:xfrm>
          <a:prstGeom prst="rect">
            <a:avLst/>
          </a:prstGeom>
        </p:spPr>
        <p:txBody>
          <a:bodyPr/>
          <a:lstStyle/>
          <a:p>
            <a:fld id="{A0ABDEA8-EB22-42D4-B8E2-0C26FFC92FC1}" type="datetimeFigureOut">
              <a:rPr lang="fr-FR" smtClean="0"/>
              <a:t>28/12/2025</a:t>
            </a:fld>
            <a:endParaRPr lang="fr-FR"/>
          </a:p>
        </p:txBody>
      </p:sp>
      <p:sp>
        <p:nvSpPr>
          <p:cNvPr id="3" name="Espace réservé du pied de page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Espace réservé du numéro de diapositive 3"/>
          <p:cNvSpPr>
            <a:spLocks noGrp="1"/>
          </p:cNvSpPr>
          <p:nvPr>
            <p:ph type="sldNum" sz="quarter" idx="12"/>
          </p:nvPr>
        </p:nvSpPr>
        <p:spPr>
          <a:xfrm>
            <a:off x="6457950" y="6356351"/>
            <a:ext cx="2057400" cy="365125"/>
          </a:xfrm>
          <a:prstGeom prst="rect">
            <a:avLst/>
          </a:prstGeom>
        </p:spPr>
        <p:txBody>
          <a:bodyPr/>
          <a:lstStyle/>
          <a:p>
            <a:fld id="{123B6F03-2704-4FB7-B539-03DC9F576B43}" type="slidenum">
              <a:rPr lang="fr-FR" smtClean="0"/>
              <a:t>‹N°›</a:t>
            </a:fld>
            <a:endParaRPr lang="fr-FR"/>
          </a:p>
        </p:txBody>
      </p:sp>
      <p:sp>
        <p:nvSpPr>
          <p:cNvPr id="5" name="Rectangle 4"/>
          <p:cNvSpPr/>
          <p:nvPr userDrawn="1"/>
        </p:nvSpPr>
        <p:spPr bwMode="auto">
          <a:xfrm>
            <a:off x="0" y="0"/>
            <a:ext cx="4550228" cy="767468"/>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fr-FR" sz="1350" b="0" i="0" u="none" strike="noStrike" cap="none" normalizeH="0" baseline="0" dirty="0">
              <a:ln>
                <a:noFill/>
              </a:ln>
              <a:solidFill>
                <a:schemeClr val="tx1"/>
              </a:solidFill>
              <a:effectLst/>
              <a:latin typeface="Arial" charset="0"/>
            </a:endParaRPr>
          </a:p>
        </p:txBody>
      </p:sp>
      <p:sp>
        <p:nvSpPr>
          <p:cNvPr id="6" name="Rectangle 2"/>
          <p:cNvSpPr>
            <a:spLocks noGrp="1" noChangeArrowheads="1"/>
          </p:cNvSpPr>
          <p:nvPr>
            <p:ph type="title"/>
          </p:nvPr>
        </p:nvSpPr>
        <p:spPr bwMode="auto">
          <a:xfrm>
            <a:off x="134634" y="29354"/>
            <a:ext cx="4284966" cy="723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defRPr sz="1800">
                <a:solidFill>
                  <a:schemeClr val="bg2">
                    <a:lumMod val="25000"/>
                  </a:schemeClr>
                </a:solidFill>
              </a:defRPr>
            </a:lvl1pPr>
          </a:lstStyle>
          <a:p>
            <a:pPr lvl="0"/>
            <a:r>
              <a:rPr lang="fr-FR" dirty="0"/>
              <a:t>Ecran xx</a:t>
            </a:r>
            <a:br>
              <a:rPr lang="fr-FR" dirty="0"/>
            </a:br>
            <a:r>
              <a:rPr lang="fr-FR" dirty="0"/>
              <a:t>Titre de l’écran</a:t>
            </a:r>
          </a:p>
        </p:txBody>
      </p:sp>
      <p:sp>
        <p:nvSpPr>
          <p:cNvPr id="7" name="Rectangle 6"/>
          <p:cNvSpPr/>
          <p:nvPr userDrawn="1"/>
        </p:nvSpPr>
        <p:spPr bwMode="auto">
          <a:xfrm>
            <a:off x="4550229" y="0"/>
            <a:ext cx="4593772" cy="767468"/>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fr-FR" sz="1350" b="0" i="0" u="none" strike="noStrike" cap="none" normalizeH="0" baseline="0" dirty="0">
              <a:ln>
                <a:noFill/>
              </a:ln>
              <a:solidFill>
                <a:schemeClr val="tx1"/>
              </a:solidFill>
              <a:effectLst/>
              <a:latin typeface="Arial" charset="0"/>
            </a:endParaRPr>
          </a:p>
        </p:txBody>
      </p:sp>
      <p:sp>
        <p:nvSpPr>
          <p:cNvPr id="8" name="Espace réservé du texte 6"/>
          <p:cNvSpPr>
            <a:spLocks noGrp="1"/>
          </p:cNvSpPr>
          <p:nvPr>
            <p:ph type="body" sz="quarter" idx="13" hasCustomPrompt="1"/>
          </p:nvPr>
        </p:nvSpPr>
        <p:spPr>
          <a:xfrm>
            <a:off x="4572000" y="62245"/>
            <a:ext cx="4572000" cy="657818"/>
          </a:xfrm>
          <a:prstGeom prst="rect">
            <a:avLst/>
          </a:prstGeom>
        </p:spPr>
        <p:txBody>
          <a:bodyPr anchor="ctr">
            <a:noAutofit/>
          </a:bodyPr>
          <a:lstStyle>
            <a:lvl1pPr marL="0" indent="0">
              <a:buNone/>
              <a:defRPr sz="1350" baseline="0">
                <a:solidFill>
                  <a:schemeClr val="bg2">
                    <a:lumMod val="25000"/>
                  </a:schemeClr>
                </a:solidFill>
              </a:defRPr>
            </a:lvl1pPr>
            <a:lvl2pPr>
              <a:defRPr sz="825"/>
            </a:lvl2pPr>
            <a:lvl3pPr>
              <a:defRPr sz="788"/>
            </a:lvl3pPr>
            <a:lvl4pPr>
              <a:defRPr sz="675"/>
            </a:lvl4pPr>
            <a:lvl5pPr>
              <a:defRPr sz="600"/>
            </a:lvl5pPr>
          </a:lstStyle>
          <a:p>
            <a:pPr lvl="0"/>
            <a:r>
              <a:rPr lang="fr-FR" dirty="0"/>
              <a:t>Modifiez le style du titre</a:t>
            </a:r>
          </a:p>
        </p:txBody>
      </p:sp>
    </p:spTree>
    <p:extLst>
      <p:ext uri="{BB962C8B-B14F-4D97-AF65-F5344CB8AC3E}">
        <p14:creationId xmlns:p14="http://schemas.microsoft.com/office/powerpoint/2010/main" val="3470116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11.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19.png"/><Relationship Id="rId4" Type="http://schemas.openxmlformats.org/officeDocument/2006/relationships/image" Target="../media/image17.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3</a:t>
            </a:r>
          </a:p>
          <a:p>
            <a:pPr eaLnBrk="1" hangingPunct="1"/>
            <a:r>
              <a:rPr lang="fr-FR" altLang="fr-FR" dirty="0"/>
              <a:t>Gouvernance</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CA26E6-9317-B749-3AC3-6E9E2FCF7524}"/>
              </a:ext>
            </a:extLst>
          </p:cNvPr>
          <p:cNvSpPr>
            <a:spLocks noGrp="1"/>
          </p:cNvSpPr>
          <p:nvPr>
            <p:ph type="title"/>
          </p:nvPr>
        </p:nvSpPr>
        <p:spPr/>
        <p:txBody>
          <a:bodyPr/>
          <a:lstStyle/>
          <a:p>
            <a:r>
              <a:rPr lang="fr-FR" dirty="0"/>
              <a:t>Concept essentiel</a:t>
            </a:r>
          </a:p>
        </p:txBody>
      </p:sp>
      <p:sp>
        <p:nvSpPr>
          <p:cNvPr id="3" name="Espace réservé du contenu 2">
            <a:extLst>
              <a:ext uri="{FF2B5EF4-FFF2-40B4-BE49-F238E27FC236}">
                <a16:creationId xmlns:a16="http://schemas.microsoft.com/office/drawing/2014/main" id="{4F41C2B1-AD82-5463-2806-70CDD38A64F2}"/>
              </a:ext>
            </a:extLst>
          </p:cNvPr>
          <p:cNvSpPr>
            <a:spLocks noGrp="1"/>
          </p:cNvSpPr>
          <p:nvPr>
            <p:ph idx="1"/>
          </p:nvPr>
        </p:nvSpPr>
        <p:spPr/>
        <p:txBody>
          <a:bodyPr/>
          <a:lstStyle/>
          <a:p>
            <a:endParaRPr lang="fr-FR"/>
          </a:p>
        </p:txBody>
      </p:sp>
      <p:pic>
        <p:nvPicPr>
          <p:cNvPr id="5" name="Image 4" descr="Une image contenant texte, capture d’écran, Police, logo&#10;&#10;Le contenu généré par l’IA peut être incorrect.">
            <a:extLst>
              <a:ext uri="{FF2B5EF4-FFF2-40B4-BE49-F238E27FC236}">
                <a16:creationId xmlns:a16="http://schemas.microsoft.com/office/drawing/2014/main" id="{7E661FC0-397C-1A8B-FE54-05A404FE0AF3}"/>
              </a:ext>
            </a:extLst>
          </p:cNvPr>
          <p:cNvPicPr>
            <a:picLocks noChangeAspect="1"/>
          </p:cNvPicPr>
          <p:nvPr/>
        </p:nvPicPr>
        <p:blipFill>
          <a:blip r:embed="rId2"/>
          <a:stretch>
            <a:fillRect/>
          </a:stretch>
        </p:blipFill>
        <p:spPr>
          <a:xfrm>
            <a:off x="690021" y="1723787"/>
            <a:ext cx="7763958" cy="3410426"/>
          </a:xfrm>
          <a:prstGeom prst="rect">
            <a:avLst/>
          </a:prstGeom>
        </p:spPr>
      </p:pic>
    </p:spTree>
    <p:extLst>
      <p:ext uri="{BB962C8B-B14F-4D97-AF65-F5344CB8AC3E}">
        <p14:creationId xmlns:p14="http://schemas.microsoft.com/office/powerpoint/2010/main" val="2554515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01BDF0-DF6B-D820-FFCD-868B50F708D4}"/>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83F493A2-FB1C-A50B-63EC-2D06A57CD31B}"/>
              </a:ext>
            </a:extLst>
          </p:cNvPr>
          <p:cNvSpPr>
            <a:spLocks noGrp="1"/>
          </p:cNvSpPr>
          <p:nvPr>
            <p:ph idx="1"/>
          </p:nvPr>
        </p:nvSpPr>
        <p:spPr/>
        <p:txBody>
          <a:bodyPr/>
          <a:lstStyle/>
          <a:p>
            <a:r>
              <a:rPr lang="fr-FR" dirty="0"/>
              <a:t>La gouvernance des données est constituée du cadre et des procédures mises en place au sein d’une entreprise afin de structurer les flux et les centres de stockage de la donnée : de leur collecte à leur utilisation finale</a:t>
            </a:r>
          </a:p>
          <a:p>
            <a:r>
              <a:rPr lang="fr-FR" dirty="0"/>
              <a:t>Elle s'assure du respect des obligations légales et de mise en place des structures et processus internes pour optimiser leur gestion, leur utilisation, et ainsi maximiser la valeur qui en est extraite pour l'entreprise et les utilisateurs</a:t>
            </a:r>
          </a:p>
        </p:txBody>
      </p:sp>
    </p:spTree>
    <p:extLst>
      <p:ext uri="{BB962C8B-B14F-4D97-AF65-F5344CB8AC3E}">
        <p14:creationId xmlns:p14="http://schemas.microsoft.com/office/powerpoint/2010/main" val="1188784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C2454A-E3CC-1FFF-5B11-BB25EF55AB4D}"/>
              </a:ext>
            </a:extLst>
          </p:cNvPr>
          <p:cNvSpPr>
            <a:spLocks noGrp="1"/>
          </p:cNvSpPr>
          <p:nvPr>
            <p:ph type="title"/>
          </p:nvPr>
        </p:nvSpPr>
        <p:spPr/>
        <p:txBody>
          <a:bodyPr/>
          <a:lstStyle/>
          <a:p>
            <a:r>
              <a:rPr lang="fr-FR" dirty="0"/>
              <a:t>Organisation data-</a:t>
            </a:r>
            <a:r>
              <a:rPr lang="fr-FR" dirty="0" err="1"/>
              <a:t>centric</a:t>
            </a:r>
            <a:endParaRPr lang="fr-FR" dirty="0"/>
          </a:p>
        </p:txBody>
      </p:sp>
      <p:sp>
        <p:nvSpPr>
          <p:cNvPr id="3" name="Espace réservé du contenu 2">
            <a:extLst>
              <a:ext uri="{FF2B5EF4-FFF2-40B4-BE49-F238E27FC236}">
                <a16:creationId xmlns:a16="http://schemas.microsoft.com/office/drawing/2014/main" id="{C4447E89-A405-2C72-5602-8B8A10A5A26B}"/>
              </a:ext>
            </a:extLst>
          </p:cNvPr>
          <p:cNvSpPr>
            <a:spLocks noGrp="1"/>
          </p:cNvSpPr>
          <p:nvPr>
            <p:ph idx="1"/>
          </p:nvPr>
        </p:nvSpPr>
        <p:spPr/>
        <p:txBody>
          <a:bodyPr/>
          <a:lstStyle/>
          <a:p>
            <a:r>
              <a:rPr lang="fr-FR" sz="2400" dirty="0"/>
              <a:t>Une organisation centrée sur les données valorise les données comme un atout et les gère à chaque étape de leur cycle de vie, du développement de projets aux opérations courantes</a:t>
            </a:r>
          </a:p>
          <a:p>
            <a:r>
              <a:rPr lang="fr-FR" sz="2400" dirty="0"/>
              <a:t>Pour devenir centrée sur les données, une organisation doit repenser sa manière de traduire sa stratégie en actions</a:t>
            </a:r>
          </a:p>
          <a:p>
            <a:r>
              <a:rPr lang="fr-FR" sz="2400" dirty="0"/>
              <a:t>Les données ne sont plus considérées comme un simple sous-produit des processus et des applications</a:t>
            </a:r>
          </a:p>
          <a:p>
            <a:r>
              <a:rPr lang="fr-FR" sz="2400" dirty="0"/>
              <a:t>Garantir la qualité des données est un objectif des processus métier</a:t>
            </a:r>
          </a:p>
          <a:p>
            <a:r>
              <a:rPr lang="fr-FR" sz="2400" dirty="0"/>
              <a:t>Pour devenir centrées sur les données, les organisations doivent changer de perspective et reconnaître que la gestion des données est différente de la gestion informatique</a:t>
            </a:r>
          </a:p>
        </p:txBody>
      </p:sp>
    </p:spTree>
    <p:extLst>
      <p:ext uri="{BB962C8B-B14F-4D97-AF65-F5344CB8AC3E}">
        <p14:creationId xmlns:p14="http://schemas.microsoft.com/office/powerpoint/2010/main" val="2015676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D548E-64C6-3AF0-2171-3743B40CF0E2}"/>
              </a:ext>
            </a:extLst>
          </p:cNvPr>
          <p:cNvSpPr>
            <a:spLocks noGrp="1"/>
          </p:cNvSpPr>
          <p:nvPr>
            <p:ph type="title"/>
          </p:nvPr>
        </p:nvSpPr>
        <p:spPr/>
        <p:txBody>
          <a:bodyPr/>
          <a:lstStyle/>
          <a:p>
            <a:r>
              <a:rPr lang="fr-FR" dirty="0"/>
              <a:t>Gouvernance</a:t>
            </a:r>
          </a:p>
        </p:txBody>
      </p:sp>
      <p:sp>
        <p:nvSpPr>
          <p:cNvPr id="3" name="Espace réservé du contenu 2">
            <a:extLst>
              <a:ext uri="{FF2B5EF4-FFF2-40B4-BE49-F238E27FC236}">
                <a16:creationId xmlns:a16="http://schemas.microsoft.com/office/drawing/2014/main" id="{868E8E2B-1BF0-FF37-08FA-07C5766BFA34}"/>
              </a:ext>
            </a:extLst>
          </p:cNvPr>
          <p:cNvSpPr>
            <a:spLocks noGrp="1"/>
          </p:cNvSpPr>
          <p:nvPr>
            <p:ph idx="1"/>
          </p:nvPr>
        </p:nvSpPr>
        <p:spPr/>
        <p:txBody>
          <a:bodyPr/>
          <a:lstStyle/>
          <a:p>
            <a:endParaRPr lang="fr-FR"/>
          </a:p>
        </p:txBody>
      </p:sp>
      <p:pic>
        <p:nvPicPr>
          <p:cNvPr id="5" name="Image 4" descr="Une image contenant texte, capture d’écran, Police, Parallèle&#10;&#10;Le contenu généré par l’IA peut être incorrect.">
            <a:extLst>
              <a:ext uri="{FF2B5EF4-FFF2-40B4-BE49-F238E27FC236}">
                <a16:creationId xmlns:a16="http://schemas.microsoft.com/office/drawing/2014/main" id="{2A05BE58-2474-BCDF-29C2-89D8D2D4F7F3}"/>
              </a:ext>
            </a:extLst>
          </p:cNvPr>
          <p:cNvPicPr>
            <a:picLocks noChangeAspect="1"/>
          </p:cNvPicPr>
          <p:nvPr/>
        </p:nvPicPr>
        <p:blipFill>
          <a:blip r:embed="rId2"/>
          <a:stretch>
            <a:fillRect/>
          </a:stretch>
        </p:blipFill>
        <p:spPr>
          <a:xfrm>
            <a:off x="1688232" y="1156209"/>
            <a:ext cx="6239746" cy="5439534"/>
          </a:xfrm>
          <a:prstGeom prst="rect">
            <a:avLst/>
          </a:prstGeom>
        </p:spPr>
      </p:pic>
    </p:spTree>
    <p:extLst>
      <p:ext uri="{BB962C8B-B14F-4D97-AF65-F5344CB8AC3E}">
        <p14:creationId xmlns:p14="http://schemas.microsoft.com/office/powerpoint/2010/main" val="1227272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5053903" y="2929768"/>
            <a:ext cx="937196" cy="1989877"/>
          </a:xfrm>
          <a:prstGeom prst="rect">
            <a:avLst/>
          </a:prstGeom>
        </p:spPr>
      </p:pic>
      <p:sp>
        <p:nvSpPr>
          <p:cNvPr id="47" name="Titre 46"/>
          <p:cNvSpPr>
            <a:spLocks noGrp="1"/>
          </p:cNvSpPr>
          <p:nvPr>
            <p:ph type="title"/>
          </p:nvPr>
        </p:nvSpPr>
        <p:spPr/>
        <p:txBody>
          <a:bodyPr/>
          <a:lstStyle/>
          <a:p>
            <a:r>
              <a:rPr lang="fr-FR" sz="1500" dirty="0">
                <a:latin typeface="+mn-lt"/>
              </a:rPr>
              <a:t>L’équipe DataLab – la photo de famille !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3"/>
          <a:stretch>
            <a:fillRect/>
          </a:stretch>
        </p:blipFill>
        <p:spPr>
          <a:xfrm>
            <a:off x="6986934" y="5223488"/>
            <a:ext cx="1689112" cy="698341"/>
          </a:xfrm>
          <a:prstGeom prst="rect">
            <a:avLst/>
          </a:prstGeom>
        </p:spPr>
      </p:pic>
      <p:sp>
        <p:nvSpPr>
          <p:cNvPr id="26" name="Rectangle 25"/>
          <p:cNvSpPr/>
          <p:nvPr/>
        </p:nvSpPr>
        <p:spPr>
          <a:xfrm>
            <a:off x="108153" y="2149189"/>
            <a:ext cx="6293047"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Mon responsable DataLab me présente les profils </a:t>
            </a:r>
            <a:br>
              <a:rPr lang="fr-FR" sz="18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d’experts qui l’accompagnent dans sa tâche :</a:t>
            </a:r>
          </a:p>
        </p:txBody>
      </p:sp>
      <p:sp>
        <p:nvSpPr>
          <p:cNvPr id="36" name="Rectangle 35"/>
          <p:cNvSpPr/>
          <p:nvPr/>
        </p:nvSpPr>
        <p:spPr>
          <a:xfrm>
            <a:off x="998806" y="5380010"/>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Steward</a:t>
            </a:r>
          </a:p>
        </p:txBody>
      </p:sp>
      <p:grpSp>
        <p:nvGrpSpPr>
          <p:cNvPr id="12" name="Groupe 11"/>
          <p:cNvGrpSpPr/>
          <p:nvPr/>
        </p:nvGrpSpPr>
        <p:grpSpPr>
          <a:xfrm>
            <a:off x="1430260" y="2871281"/>
            <a:ext cx="3833075" cy="2321499"/>
            <a:chOff x="1290034" y="2954428"/>
            <a:chExt cx="5110766" cy="3095332"/>
          </a:xfrm>
        </p:grpSpPr>
        <p:grpSp>
          <p:nvGrpSpPr>
            <p:cNvPr id="4" name="Groupe 3"/>
            <p:cNvGrpSpPr/>
            <p:nvPr/>
          </p:nvGrpSpPr>
          <p:grpSpPr>
            <a:xfrm>
              <a:off x="1639152" y="2954428"/>
              <a:ext cx="4761648" cy="3095332"/>
              <a:chOff x="1639152" y="2954428"/>
              <a:chExt cx="4761648" cy="3095332"/>
            </a:xfrm>
          </p:grpSpPr>
          <p:pic>
            <p:nvPicPr>
              <p:cNvPr id="37" name="Image 36"/>
              <p:cNvPicPr>
                <a:picLocks noChangeAspect="1"/>
              </p:cNvPicPr>
              <p:nvPr/>
            </p:nvPicPr>
            <p:blipFill rotWithShape="1">
              <a:blip r:embed="rId4" cstate="email">
                <a:extLst>
                  <a:ext uri="{28A0092B-C50C-407E-A947-70E740481C1C}">
                    <a14:useLocalDpi xmlns:a14="http://schemas.microsoft.com/office/drawing/2010/main"/>
                  </a:ext>
                </a:extLst>
              </a:blip>
              <a:srcRect l="-1" r="-26120"/>
              <a:stretch/>
            </p:blipFill>
            <p:spPr>
              <a:xfrm>
                <a:off x="1639152" y="2954428"/>
                <a:ext cx="4761648" cy="2922223"/>
              </a:xfrm>
              <a:prstGeom prst="rect">
                <a:avLst/>
              </a:prstGeom>
            </p:spPr>
          </p:pic>
          <p:pic>
            <p:nvPicPr>
              <p:cNvPr id="38" name="Image 37"/>
              <p:cNvPicPr>
                <a:picLocks noChangeAspect="1"/>
              </p:cNvPicPr>
              <p:nvPr/>
            </p:nvPicPr>
            <p:blipFill rotWithShape="1">
              <a:blip r:embed="rId5" cstate="email">
                <a:extLst>
                  <a:ext uri="{28A0092B-C50C-407E-A947-70E740481C1C}">
                    <a14:useLocalDpi xmlns:a14="http://schemas.microsoft.com/office/drawing/2010/main"/>
                  </a:ext>
                </a:extLst>
              </a:blip>
              <a:srcRect l="75260"/>
              <a:stretch/>
            </p:blipFill>
            <p:spPr>
              <a:xfrm>
                <a:off x="5413244" y="2959065"/>
                <a:ext cx="781934" cy="3090695"/>
              </a:xfrm>
              <a:prstGeom prst="rect">
                <a:avLst/>
              </a:prstGeom>
            </p:spPr>
          </p:pic>
        </p:grpSp>
        <p:sp>
          <p:nvSpPr>
            <p:cNvPr id="8" name="Rectangle 7"/>
            <p:cNvSpPr/>
            <p:nvPr/>
          </p:nvSpPr>
          <p:spPr>
            <a:xfrm>
              <a:off x="1290034" y="3561999"/>
              <a:ext cx="456623" cy="388696"/>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cxnSp>
        <p:nvCxnSpPr>
          <p:cNvPr id="14" name="Connecteur droit 13"/>
          <p:cNvCxnSpPr/>
          <p:nvPr/>
        </p:nvCxnSpPr>
        <p:spPr>
          <a:xfrm flipV="1">
            <a:off x="2345631" y="5073185"/>
            <a:ext cx="232515" cy="455653"/>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2141918" y="5527913"/>
            <a:ext cx="208074"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6" name="Image 45"/>
          <p:cNvPicPr>
            <a:picLocks noChangeAspect="1"/>
          </p:cNvPicPr>
          <p:nvPr/>
        </p:nvPicPr>
        <p:blipFill rotWithShape="1">
          <a:blip r:embed="rId6"/>
          <a:srcRect l="20444"/>
          <a:stretch/>
        </p:blipFill>
        <p:spPr>
          <a:xfrm flipH="1">
            <a:off x="831322" y="3114015"/>
            <a:ext cx="779960" cy="2015299"/>
          </a:xfrm>
          <a:prstGeom prst="rect">
            <a:avLst/>
          </a:prstGeom>
        </p:spPr>
      </p:pic>
      <p:sp>
        <p:nvSpPr>
          <p:cNvPr id="55" name="Rectangle 54"/>
          <p:cNvSpPr/>
          <p:nvPr/>
        </p:nvSpPr>
        <p:spPr>
          <a:xfrm>
            <a:off x="5008657" y="5319823"/>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Scientist</a:t>
            </a:r>
          </a:p>
        </p:txBody>
      </p:sp>
      <p:grpSp>
        <p:nvGrpSpPr>
          <p:cNvPr id="18" name="Groupe 17"/>
          <p:cNvGrpSpPr/>
          <p:nvPr/>
        </p:nvGrpSpPr>
        <p:grpSpPr>
          <a:xfrm flipH="1">
            <a:off x="4746476" y="5238267"/>
            <a:ext cx="326438" cy="240499"/>
            <a:chOff x="6099805" y="6154395"/>
            <a:chExt cx="435250" cy="320665"/>
          </a:xfrm>
        </p:grpSpPr>
        <p:cxnSp>
          <p:nvCxnSpPr>
            <p:cNvPr id="56" name="Connecteur droit 55"/>
            <p:cNvCxnSpPr/>
            <p:nvPr/>
          </p:nvCxnSpPr>
          <p:spPr>
            <a:xfrm flipV="1">
              <a:off x="6371423" y="6154395"/>
              <a:ext cx="163632" cy="32066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58" name="Rectangle 57"/>
          <p:cNvSpPr/>
          <p:nvPr/>
        </p:nvSpPr>
        <p:spPr>
          <a:xfrm>
            <a:off x="2551392" y="5322080"/>
            <a:ext cx="1181690" cy="981423"/>
          </a:xfrm>
          <a:prstGeom prst="rect">
            <a:avLst/>
          </a:prstGeom>
        </p:spPr>
        <p:txBody>
          <a:bodyPr wrap="square">
            <a:spAutoFit/>
          </a:bodyPr>
          <a:lstStyle/>
          <a:p>
            <a:pPr algn="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Responsable DataLab</a:t>
            </a:r>
          </a:p>
        </p:txBody>
      </p:sp>
      <p:grpSp>
        <p:nvGrpSpPr>
          <p:cNvPr id="59" name="Groupe 58"/>
          <p:cNvGrpSpPr/>
          <p:nvPr/>
        </p:nvGrpSpPr>
        <p:grpSpPr>
          <a:xfrm>
            <a:off x="3724011" y="5069473"/>
            <a:ext cx="402524" cy="389603"/>
            <a:chOff x="6099805" y="5955590"/>
            <a:chExt cx="536698" cy="519471"/>
          </a:xfrm>
        </p:grpSpPr>
        <p:cxnSp>
          <p:nvCxnSpPr>
            <p:cNvPr id="60" name="Connecteur droit 59"/>
            <p:cNvCxnSpPr/>
            <p:nvPr/>
          </p:nvCxnSpPr>
          <p:spPr>
            <a:xfrm flipV="1">
              <a:off x="6371423" y="5955590"/>
              <a:ext cx="265080" cy="51947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1" name="Connecteur droit 60"/>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63" name="Rectangle 62"/>
          <p:cNvSpPr/>
          <p:nvPr/>
        </p:nvSpPr>
        <p:spPr>
          <a:xfrm>
            <a:off x="193933" y="4527566"/>
            <a:ext cx="701387" cy="367216"/>
          </a:xfrm>
          <a:prstGeom prst="rect">
            <a:avLst/>
          </a:prstGeom>
        </p:spPr>
        <p:txBody>
          <a:bodyPr wrap="square">
            <a:spAutoFit/>
          </a:bodyPr>
          <a:lstStyle/>
          <a:p>
            <a:pPr algn="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CDO</a:t>
            </a:r>
          </a:p>
        </p:txBody>
      </p:sp>
      <p:grpSp>
        <p:nvGrpSpPr>
          <p:cNvPr id="64" name="Groupe 63"/>
          <p:cNvGrpSpPr/>
          <p:nvPr/>
        </p:nvGrpSpPr>
        <p:grpSpPr>
          <a:xfrm>
            <a:off x="901644" y="4567471"/>
            <a:ext cx="290146" cy="106121"/>
            <a:chOff x="6099805" y="6332333"/>
            <a:chExt cx="386861" cy="141494"/>
          </a:xfrm>
        </p:grpSpPr>
        <p:cxnSp>
          <p:nvCxnSpPr>
            <p:cNvPr id="65" name="Connecteur droit 64"/>
            <p:cNvCxnSpPr/>
            <p:nvPr/>
          </p:nvCxnSpPr>
          <p:spPr>
            <a:xfrm flipV="1">
              <a:off x="6373804" y="6332333"/>
              <a:ext cx="112862" cy="1411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6" name="Connecteur droit 65"/>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67" name="Groupe 66"/>
          <p:cNvGrpSpPr/>
          <p:nvPr/>
        </p:nvGrpSpPr>
        <p:grpSpPr>
          <a:xfrm rot="10800000" flipH="1">
            <a:off x="1284844" y="2889520"/>
            <a:ext cx="592853" cy="307361"/>
            <a:chOff x="6099805" y="6065245"/>
            <a:chExt cx="790470" cy="409815"/>
          </a:xfrm>
        </p:grpSpPr>
        <p:cxnSp>
          <p:nvCxnSpPr>
            <p:cNvPr id="68" name="Connecteur droit 67"/>
            <p:cNvCxnSpPr/>
            <p:nvPr/>
          </p:nvCxnSpPr>
          <p:spPr>
            <a:xfrm rot="10800000" flipH="1">
              <a:off x="6371423" y="6065245"/>
              <a:ext cx="518852" cy="40981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70" name="Rectangle 69"/>
          <p:cNvSpPr/>
          <p:nvPr/>
        </p:nvSpPr>
        <p:spPr>
          <a:xfrm>
            <a:off x="150850" y="2731757"/>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Engineer</a:t>
            </a:r>
          </a:p>
        </p:txBody>
      </p:sp>
      <p:sp>
        <p:nvSpPr>
          <p:cNvPr id="89" name="Rectangle 88"/>
          <p:cNvSpPr/>
          <p:nvPr/>
        </p:nvSpPr>
        <p:spPr>
          <a:xfrm>
            <a:off x="5749906" y="2342191"/>
            <a:ext cx="1181690" cy="685059"/>
          </a:xfrm>
          <a:prstGeom prst="rect">
            <a:avLst/>
          </a:prstGeom>
        </p:spPr>
        <p:txBody>
          <a:bodyPr wrap="square">
            <a:spAutoFit/>
          </a:bodyPr>
          <a:lstStyle/>
          <a:p>
            <a:pP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a:t>
            </a:r>
            <a:br>
              <a:rPr lang="fr-FR" sz="18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Analyst</a:t>
            </a:r>
          </a:p>
        </p:txBody>
      </p:sp>
      <p:grpSp>
        <p:nvGrpSpPr>
          <p:cNvPr id="90" name="Groupe 89"/>
          <p:cNvGrpSpPr/>
          <p:nvPr/>
        </p:nvGrpSpPr>
        <p:grpSpPr>
          <a:xfrm flipH="1" flipV="1">
            <a:off x="5457405" y="2607824"/>
            <a:ext cx="301216" cy="329124"/>
            <a:chOff x="6099805" y="6036228"/>
            <a:chExt cx="401621" cy="438832"/>
          </a:xfrm>
        </p:grpSpPr>
        <p:cxnSp>
          <p:nvCxnSpPr>
            <p:cNvPr id="91" name="Connecteur droit 90"/>
            <p:cNvCxnSpPr/>
            <p:nvPr/>
          </p:nvCxnSpPr>
          <p:spPr>
            <a:xfrm flipV="1">
              <a:off x="6371423" y="6036228"/>
              <a:ext cx="130003" cy="43883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2" name="Connecteur droit 91"/>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87" name="Groupe 86"/>
          <p:cNvGrpSpPr/>
          <p:nvPr/>
        </p:nvGrpSpPr>
        <p:grpSpPr>
          <a:xfrm>
            <a:off x="559081" y="1597264"/>
            <a:ext cx="5299520" cy="414060"/>
            <a:chOff x="745442" y="986685"/>
            <a:chExt cx="7066026" cy="552080"/>
          </a:xfrm>
        </p:grpSpPr>
        <p:grpSp>
          <p:nvGrpSpPr>
            <p:cNvPr id="88" name="Groupe 87"/>
            <p:cNvGrpSpPr/>
            <p:nvPr/>
          </p:nvGrpSpPr>
          <p:grpSpPr>
            <a:xfrm>
              <a:off x="745442" y="986685"/>
              <a:ext cx="7066026" cy="552080"/>
              <a:chOff x="2691257" y="529120"/>
              <a:chExt cx="7066026" cy="552080"/>
            </a:xfrm>
          </p:grpSpPr>
          <p:sp>
            <p:nvSpPr>
              <p:cNvPr id="98" name="Pentagone 97"/>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99" name="Ellipse 98"/>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0" name="Ellipse 99"/>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1" name="Ellipse 100"/>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2" name="Ellipse 101"/>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103" name="Groupe 102"/>
              <p:cNvGrpSpPr/>
              <p:nvPr/>
            </p:nvGrpSpPr>
            <p:grpSpPr>
              <a:xfrm>
                <a:off x="8732261" y="529120"/>
                <a:ext cx="551453" cy="549030"/>
                <a:chOff x="9401004" y="529120"/>
                <a:chExt cx="551453" cy="549030"/>
              </a:xfrm>
            </p:grpSpPr>
            <p:sp>
              <p:nvSpPr>
                <p:cNvPr id="105" name="Ellipse 104"/>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106" name="Image 105"/>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104" name="Ellipse 103"/>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93" name="Image 92"/>
            <p:cNvPicPr>
              <a:picLocks noChangeAspect="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94" name="Image 93"/>
            <p:cNvPicPr>
              <a:picLocks noChangeAspect="1"/>
            </p:cNvPicPr>
            <p:nvPr/>
          </p:nvPicPr>
          <p:blipFill>
            <a:blip r:embed="rId9"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95" name="Image 94"/>
            <p:cNvPicPr>
              <a:picLocks noChangeAspect="1"/>
            </p:cNvPicPr>
            <p:nvPr/>
          </p:nvPicPr>
          <p:blipFill>
            <a:blip r:embed="rId10"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96" name="Image 95"/>
            <p:cNvPicPr>
              <a:picLocks noChangeAspect="1"/>
            </p:cNvPicPr>
            <p:nvPr/>
          </p:nvPicPr>
          <p:blipFill>
            <a:blip r:embed="rId1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97" name="Image 96"/>
            <p:cNvPicPr>
              <a:picLocks noChangeAspect="1"/>
            </p:cNvPicPr>
            <p:nvPr/>
          </p:nvPicPr>
          <p:blipFill>
            <a:blip r:embed="rId12" cstate="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418046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Image 95"/>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29581"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Scientist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55" name="Rectangle 54"/>
          <p:cNvSpPr/>
          <p:nvPr/>
        </p:nvSpPr>
        <p:spPr>
          <a:xfrm>
            <a:off x="5008657" y="5319823"/>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Scientist</a:t>
            </a:r>
          </a:p>
        </p:txBody>
      </p:sp>
      <p:grpSp>
        <p:nvGrpSpPr>
          <p:cNvPr id="18" name="Groupe 17"/>
          <p:cNvGrpSpPr/>
          <p:nvPr/>
        </p:nvGrpSpPr>
        <p:grpSpPr>
          <a:xfrm flipH="1">
            <a:off x="4746476" y="5238267"/>
            <a:ext cx="326438" cy="240499"/>
            <a:chOff x="6099805" y="6154395"/>
            <a:chExt cx="435250" cy="320665"/>
          </a:xfrm>
        </p:grpSpPr>
        <p:cxnSp>
          <p:nvCxnSpPr>
            <p:cNvPr id="56" name="Connecteur droit 55"/>
            <p:cNvCxnSpPr/>
            <p:nvPr/>
          </p:nvCxnSpPr>
          <p:spPr>
            <a:xfrm flipV="1">
              <a:off x="6371423" y="6154395"/>
              <a:ext cx="163632" cy="32066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pic>
        <p:nvPicPr>
          <p:cNvPr id="93" name="Image 92"/>
          <p:cNvPicPr>
            <a:picLocks noChangeAspect="1"/>
          </p:cNvPicPr>
          <p:nvPr/>
        </p:nvPicPr>
        <p:blipFill rotWithShape="1">
          <a:blip r:embed="rId3"/>
          <a:srcRect l="82695" r="2288"/>
          <a:stretch/>
        </p:blipFill>
        <p:spPr>
          <a:xfrm>
            <a:off x="4493521" y="2884088"/>
            <a:ext cx="665328" cy="2318205"/>
          </a:xfrm>
          <a:prstGeom prst="rect">
            <a:avLst/>
          </a:prstGeom>
        </p:spPr>
      </p:pic>
      <p:pic>
        <p:nvPicPr>
          <p:cNvPr id="95" name="Image 94"/>
          <p:cNvPicPr>
            <a:picLocks noChangeAspect="1"/>
          </p:cNvPicPr>
          <p:nvPr/>
        </p:nvPicPr>
        <p:blipFill rotWithShape="1">
          <a:blip r:embed="rId3"/>
          <a:srcRect l="79229" t="56069" r="16150"/>
          <a:stretch/>
        </p:blipFill>
        <p:spPr>
          <a:xfrm>
            <a:off x="4339983" y="4183892"/>
            <a:ext cx="204718" cy="1018401"/>
          </a:xfrm>
          <a:prstGeom prst="rect">
            <a:avLst/>
          </a:prstGeom>
        </p:spPr>
      </p:pic>
      <p:sp>
        <p:nvSpPr>
          <p:cNvPr id="3" name="Rectangle à coins arrondis 2"/>
          <p:cNvSpPr/>
          <p:nvPr/>
        </p:nvSpPr>
        <p:spPr>
          <a:xfrm>
            <a:off x="135522" y="4483126"/>
            <a:ext cx="4203511" cy="972842"/>
          </a:xfrm>
          <a:prstGeom prst="roundRect">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dirty="0"/>
              <a:t>Le </a:t>
            </a:r>
            <a:r>
              <a:rPr lang="fr-FR" sz="1800" b="1" dirty="0"/>
              <a:t>DATA SCIENTIST </a:t>
            </a:r>
            <a:r>
              <a:rPr lang="fr-FR" sz="1800" dirty="0"/>
              <a:t>met au point les modèles de traitement des données et de production d’indicateurs </a:t>
            </a:r>
            <a:endParaRPr lang="fr-FR" sz="1800" b="1" dirty="0"/>
          </a:p>
        </p:txBody>
      </p:sp>
      <p:grpSp>
        <p:nvGrpSpPr>
          <p:cNvPr id="33" name="Groupe 32"/>
          <p:cNvGrpSpPr/>
          <p:nvPr/>
        </p:nvGrpSpPr>
        <p:grpSpPr>
          <a:xfrm>
            <a:off x="559081" y="1597264"/>
            <a:ext cx="5299520" cy="414060"/>
            <a:chOff x="745442" y="986685"/>
            <a:chExt cx="7066026" cy="552080"/>
          </a:xfrm>
        </p:grpSpPr>
        <p:grpSp>
          <p:nvGrpSpPr>
            <p:cNvPr id="34" name="Groupe 33"/>
            <p:cNvGrpSpPr/>
            <p:nvPr/>
          </p:nvGrpSpPr>
          <p:grpSpPr>
            <a:xfrm>
              <a:off x="745442" y="986685"/>
              <a:ext cx="7066026" cy="552080"/>
              <a:chOff x="2691257" y="529120"/>
              <a:chExt cx="7066026" cy="552080"/>
            </a:xfrm>
          </p:grpSpPr>
          <p:sp>
            <p:nvSpPr>
              <p:cNvPr id="40" name="Pentagone 39"/>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5" name="Groupe 44"/>
              <p:cNvGrpSpPr/>
              <p:nvPr/>
            </p:nvGrpSpPr>
            <p:grpSpPr>
              <a:xfrm>
                <a:off x="8732261" y="529120"/>
                <a:ext cx="551453" cy="549030"/>
                <a:chOff x="9401004" y="529120"/>
                <a:chExt cx="551453" cy="549030"/>
              </a:xfrm>
            </p:grpSpPr>
            <p:sp>
              <p:nvSpPr>
                <p:cNvPr id="52" name="Ellipse 51"/>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3" name="Image 52"/>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6" name="Ellipse 45"/>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5" name="Image 34"/>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6" name="Image 35"/>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7" name="Image 36"/>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8" name="Image 37"/>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9" name="Image 38"/>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3360506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Image 53"/>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50053"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Steward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36" name="Rectangle 35"/>
          <p:cNvSpPr/>
          <p:nvPr/>
        </p:nvSpPr>
        <p:spPr>
          <a:xfrm>
            <a:off x="998806" y="5380010"/>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Steward</a:t>
            </a:r>
          </a:p>
        </p:txBody>
      </p:sp>
      <p:cxnSp>
        <p:nvCxnSpPr>
          <p:cNvPr id="14" name="Connecteur droit 13"/>
          <p:cNvCxnSpPr/>
          <p:nvPr/>
        </p:nvCxnSpPr>
        <p:spPr>
          <a:xfrm flipV="1">
            <a:off x="2345631" y="5073185"/>
            <a:ext cx="232515" cy="455653"/>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2141918" y="5527913"/>
            <a:ext cx="208074"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3" name="Image 92"/>
          <p:cNvPicPr>
            <a:picLocks noChangeAspect="1"/>
          </p:cNvPicPr>
          <p:nvPr/>
        </p:nvPicPr>
        <p:blipFill rotWithShape="1">
          <a:blip r:embed="rId3"/>
          <a:srcRect l="33945" r="52655"/>
          <a:stretch/>
        </p:blipFill>
        <p:spPr>
          <a:xfrm>
            <a:off x="2354234" y="2884088"/>
            <a:ext cx="593678" cy="2318205"/>
          </a:xfrm>
          <a:prstGeom prst="rect">
            <a:avLst/>
          </a:prstGeom>
        </p:spPr>
      </p:pic>
      <p:sp>
        <p:nvSpPr>
          <p:cNvPr id="53" name="Rectangle à coins arrondis 52"/>
          <p:cNvSpPr/>
          <p:nvPr/>
        </p:nvSpPr>
        <p:spPr>
          <a:xfrm>
            <a:off x="3527164" y="4129135"/>
            <a:ext cx="2822322" cy="1542397"/>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Le </a:t>
            </a:r>
            <a:r>
              <a:rPr lang="fr-FR" sz="1400" b="1" dirty="0"/>
              <a:t>DATA STEWARD </a:t>
            </a:r>
            <a:r>
              <a:rPr lang="fr-FR" sz="1400" dirty="0"/>
              <a:t>vous accompagne sur l’organisation et </a:t>
            </a:r>
            <a:br>
              <a:rPr lang="fr-FR" sz="1400" dirty="0"/>
            </a:br>
            <a:r>
              <a:rPr lang="fr-FR" sz="1400" dirty="0"/>
              <a:t>la gestion des données </a:t>
            </a:r>
            <a:br>
              <a:rPr lang="fr-FR" sz="1400" dirty="0"/>
            </a:br>
            <a:r>
              <a:rPr lang="fr-FR" sz="1400" dirty="0"/>
              <a:t>dans le DataLake. Il vous guide pour identifier les données disponibles pour vos besoins.</a:t>
            </a:r>
            <a:endParaRPr lang="fr-FR" sz="1400" b="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40" name="Pentagone 39"/>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5" name="Ellipse 44"/>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6" name="Groupe 45"/>
              <p:cNvGrpSpPr/>
              <p:nvPr/>
            </p:nvGrpSpPr>
            <p:grpSpPr>
              <a:xfrm>
                <a:off x="8732261" y="529120"/>
                <a:ext cx="551453" cy="549030"/>
                <a:chOff x="9401004" y="529120"/>
                <a:chExt cx="551453" cy="549030"/>
              </a:xfrm>
            </p:grpSpPr>
            <p:sp>
              <p:nvSpPr>
                <p:cNvPr id="55" name="Ellipse 54"/>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6" name="Image 55"/>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52" name="Ellipse 51"/>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7" name="Image 36"/>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8" name="Image 37"/>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9" name="Image 38"/>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421599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Image 90"/>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39817"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Engineer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70" name="Rectangle 69"/>
          <p:cNvSpPr/>
          <p:nvPr/>
        </p:nvSpPr>
        <p:spPr>
          <a:xfrm>
            <a:off x="140614" y="2731757"/>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Engineer</a:t>
            </a:r>
          </a:p>
        </p:txBody>
      </p:sp>
      <p:pic>
        <p:nvPicPr>
          <p:cNvPr id="93" name="Image 92"/>
          <p:cNvPicPr>
            <a:picLocks noChangeAspect="1"/>
          </p:cNvPicPr>
          <p:nvPr/>
        </p:nvPicPr>
        <p:blipFill rotWithShape="1">
          <a:blip r:embed="rId3"/>
          <a:srcRect l="19857" r="65357"/>
          <a:stretch/>
        </p:blipFill>
        <p:spPr>
          <a:xfrm>
            <a:off x="1719614" y="2884088"/>
            <a:ext cx="655092" cy="2318205"/>
          </a:xfrm>
          <a:prstGeom prst="rect">
            <a:avLst/>
          </a:prstGeom>
        </p:spPr>
      </p:pic>
      <p:grpSp>
        <p:nvGrpSpPr>
          <p:cNvPr id="67" name="Groupe 66"/>
          <p:cNvGrpSpPr/>
          <p:nvPr/>
        </p:nvGrpSpPr>
        <p:grpSpPr>
          <a:xfrm rot="10800000" flipH="1">
            <a:off x="1274608" y="2889520"/>
            <a:ext cx="592853" cy="307361"/>
            <a:chOff x="6099805" y="6065245"/>
            <a:chExt cx="790470" cy="409815"/>
          </a:xfrm>
        </p:grpSpPr>
        <p:cxnSp>
          <p:nvCxnSpPr>
            <p:cNvPr id="68" name="Connecteur droit 67"/>
            <p:cNvCxnSpPr/>
            <p:nvPr/>
          </p:nvCxnSpPr>
          <p:spPr>
            <a:xfrm rot="10800000" flipH="1">
              <a:off x="6371423" y="6065245"/>
              <a:ext cx="518852" cy="40981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53" name="Rectangle à coins arrondis 52"/>
          <p:cNvSpPr/>
          <p:nvPr/>
        </p:nvSpPr>
        <p:spPr>
          <a:xfrm>
            <a:off x="2794379" y="4231495"/>
            <a:ext cx="3555107" cy="1364942"/>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Le </a:t>
            </a:r>
            <a:r>
              <a:rPr lang="fr-FR" sz="1200" b="1" dirty="0"/>
              <a:t>DATA ENGINEER </a:t>
            </a:r>
            <a:r>
              <a:rPr lang="fr-FR" sz="1200" dirty="0"/>
              <a:t>prépare les données </a:t>
            </a:r>
            <a:br>
              <a:rPr lang="fr-FR" sz="1200" dirty="0"/>
            </a:br>
            <a:r>
              <a:rPr lang="fr-FR" sz="1200" dirty="0"/>
              <a:t>pour vos besoins d’analyse ou opérationnels.</a:t>
            </a:r>
            <a:br>
              <a:rPr lang="fr-FR" sz="1200" dirty="0"/>
            </a:br>
            <a:r>
              <a:rPr lang="fr-FR" sz="1200" dirty="0"/>
              <a:t> Il met en place les espaces DataLab et DataSpace ainsi que l’ensemble des traitements associés </a:t>
            </a:r>
            <a:r>
              <a:rPr lang="fr-FR" sz="1200" i="1" dirty="0"/>
              <a:t>(désensibilisation, industrialisation…).</a:t>
            </a:r>
            <a:endParaRPr lang="fr-FR" sz="1200" b="1" i="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39" name="Pentagone 3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Ellipse 3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4" name="Groupe 43"/>
              <p:cNvGrpSpPr/>
              <p:nvPr/>
            </p:nvGrpSpPr>
            <p:grpSpPr>
              <a:xfrm>
                <a:off x="8732261" y="529120"/>
                <a:ext cx="551453" cy="549030"/>
                <a:chOff x="9401004" y="529120"/>
                <a:chExt cx="551453" cy="549030"/>
              </a:xfrm>
            </p:grpSpPr>
            <p:sp>
              <p:nvSpPr>
                <p:cNvPr id="46" name="Ellipse 4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2" name="Image 51"/>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5" name="Ellipse 4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6" name="Image 35"/>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7" name="Image 36"/>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8" name="Image 37"/>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3135870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Image 90"/>
          <p:cNvPicPr>
            <a:picLocks noChangeAspect="1"/>
          </p:cNvPicPr>
          <p:nvPr/>
        </p:nvPicPr>
        <p:blipFill>
          <a:blip r:embed="rId2"/>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39817"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Engineer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53" name="Rectangle à coins arrondis 52"/>
          <p:cNvSpPr/>
          <p:nvPr/>
        </p:nvSpPr>
        <p:spPr>
          <a:xfrm>
            <a:off x="479092" y="3868059"/>
            <a:ext cx="4072436" cy="1257530"/>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Le </a:t>
            </a:r>
            <a:r>
              <a:rPr lang="fr-FR" sz="1600" b="1" dirty="0"/>
              <a:t>DATA ANALYST </a:t>
            </a:r>
            <a:r>
              <a:rPr lang="fr-FR" sz="1600" dirty="0"/>
              <a:t>industrialise </a:t>
            </a:r>
            <a:br>
              <a:rPr lang="fr-FR" sz="1600" dirty="0"/>
            </a:br>
            <a:r>
              <a:rPr lang="fr-FR" sz="1600" dirty="0"/>
              <a:t>des modèles de traitement des données et </a:t>
            </a:r>
            <a:br>
              <a:rPr lang="fr-FR" sz="1600" dirty="0"/>
            </a:br>
            <a:r>
              <a:rPr lang="fr-FR" sz="1600" dirty="0"/>
              <a:t>développe les écrans de restitutions </a:t>
            </a:r>
            <a:br>
              <a:rPr lang="fr-FR" sz="1600" dirty="0"/>
            </a:br>
            <a:r>
              <a:rPr lang="fr-FR" sz="1600" dirty="0"/>
              <a:t>des données et indicateurs.</a:t>
            </a:r>
            <a:endParaRPr lang="fr-FR" sz="1600" b="1" i="1" dirty="0"/>
          </a:p>
        </p:txBody>
      </p:sp>
      <p:sp>
        <p:nvSpPr>
          <p:cNvPr id="32" name="Rectangle 31"/>
          <p:cNvSpPr/>
          <p:nvPr/>
        </p:nvSpPr>
        <p:spPr>
          <a:xfrm>
            <a:off x="4156506" y="2440557"/>
            <a:ext cx="1181690" cy="685059"/>
          </a:xfrm>
          <a:prstGeom prst="rect">
            <a:avLst/>
          </a:prstGeom>
        </p:spPr>
        <p:txBody>
          <a:bodyPr wrap="square">
            <a:spAutoFit/>
          </a:bodyPr>
          <a:lstStyle/>
          <a:p>
            <a:pP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Analyst</a:t>
            </a:r>
          </a:p>
        </p:txBody>
      </p:sp>
      <p:grpSp>
        <p:nvGrpSpPr>
          <p:cNvPr id="33" name="Groupe 32"/>
          <p:cNvGrpSpPr/>
          <p:nvPr/>
        </p:nvGrpSpPr>
        <p:grpSpPr>
          <a:xfrm flipV="1">
            <a:off x="5212445" y="2589532"/>
            <a:ext cx="301216" cy="329124"/>
            <a:chOff x="6099805" y="6036228"/>
            <a:chExt cx="401621" cy="438832"/>
          </a:xfrm>
        </p:grpSpPr>
        <p:cxnSp>
          <p:nvCxnSpPr>
            <p:cNvPr id="34" name="Connecteur droit 33"/>
            <p:cNvCxnSpPr/>
            <p:nvPr/>
          </p:nvCxnSpPr>
          <p:spPr>
            <a:xfrm flipV="1">
              <a:off x="6371423" y="6036228"/>
              <a:ext cx="130003" cy="43883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e 35"/>
          <p:cNvGrpSpPr/>
          <p:nvPr/>
        </p:nvGrpSpPr>
        <p:grpSpPr>
          <a:xfrm>
            <a:off x="559081" y="1597264"/>
            <a:ext cx="5299520" cy="414060"/>
            <a:chOff x="745442" y="986685"/>
            <a:chExt cx="7066026" cy="552080"/>
          </a:xfrm>
        </p:grpSpPr>
        <p:grpSp>
          <p:nvGrpSpPr>
            <p:cNvPr id="37" name="Groupe 36"/>
            <p:cNvGrpSpPr/>
            <p:nvPr/>
          </p:nvGrpSpPr>
          <p:grpSpPr>
            <a:xfrm>
              <a:off x="745442" y="986685"/>
              <a:ext cx="7066026" cy="552080"/>
              <a:chOff x="2691257" y="529120"/>
              <a:chExt cx="7066026" cy="552080"/>
            </a:xfrm>
          </p:grpSpPr>
          <p:sp>
            <p:nvSpPr>
              <p:cNvPr id="43" name="Pentagone 42"/>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5" name="Ellipse 44"/>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6" name="Ellipse 45"/>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52" name="Ellipse 51"/>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54" name="Groupe 53"/>
              <p:cNvGrpSpPr/>
              <p:nvPr/>
            </p:nvGrpSpPr>
            <p:grpSpPr>
              <a:xfrm>
                <a:off x="8732261" y="529120"/>
                <a:ext cx="551453" cy="549030"/>
                <a:chOff x="9401004" y="529120"/>
                <a:chExt cx="551453" cy="549030"/>
              </a:xfrm>
            </p:grpSpPr>
            <p:sp>
              <p:nvSpPr>
                <p:cNvPr id="56" name="Ellipse 5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7" name="Image 56"/>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55" name="Ellipse 5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8" name="Image 37"/>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9" name="Image 38"/>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40" name="Image 39"/>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41" name="Image 40"/>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42" name="Image 41"/>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1436129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Image 88"/>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50053" y="2884088"/>
            <a:ext cx="4430652" cy="2318205"/>
          </a:xfrm>
          <a:prstGeom prst="rect">
            <a:avLst/>
          </a:prstGeom>
        </p:spPr>
      </p:pic>
      <p:pic>
        <p:nvPicPr>
          <p:cNvPr id="93" name="Image 92"/>
          <p:cNvPicPr>
            <a:picLocks noChangeAspect="1"/>
          </p:cNvPicPr>
          <p:nvPr/>
        </p:nvPicPr>
        <p:blipFill rotWithShape="1">
          <a:blip r:embed="rId3"/>
          <a:srcRect l="-1169" r="81531"/>
          <a:stretch/>
        </p:blipFill>
        <p:spPr>
          <a:xfrm>
            <a:off x="798389" y="2884088"/>
            <a:ext cx="870045"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Chief Data Management </a:t>
            </a:r>
            <a:r>
              <a:rPr lang="fr-FR" sz="1500" dirty="0" err="1">
                <a:latin typeface="+mn-lt"/>
              </a:rPr>
              <a:t>Officer</a:t>
            </a:r>
            <a:r>
              <a:rPr lang="fr-FR" sz="1500" dirty="0">
                <a:latin typeface="+mn-lt"/>
              </a:rPr>
              <a:t>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63" name="Rectangle 62"/>
          <p:cNvSpPr/>
          <p:nvPr/>
        </p:nvSpPr>
        <p:spPr>
          <a:xfrm>
            <a:off x="191250" y="4527566"/>
            <a:ext cx="704071" cy="367216"/>
          </a:xfrm>
          <a:prstGeom prst="rect">
            <a:avLst/>
          </a:prstGeom>
        </p:spPr>
        <p:txBody>
          <a:bodyPr wrap="square">
            <a:spAutoFit/>
          </a:bodyPr>
          <a:lstStyle/>
          <a:p>
            <a:pPr algn="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CDO</a:t>
            </a:r>
          </a:p>
        </p:txBody>
      </p:sp>
      <p:grpSp>
        <p:nvGrpSpPr>
          <p:cNvPr id="64" name="Groupe 63"/>
          <p:cNvGrpSpPr/>
          <p:nvPr/>
        </p:nvGrpSpPr>
        <p:grpSpPr>
          <a:xfrm>
            <a:off x="901644" y="4567471"/>
            <a:ext cx="290146" cy="106121"/>
            <a:chOff x="6099805" y="6332333"/>
            <a:chExt cx="386861" cy="141494"/>
          </a:xfrm>
        </p:grpSpPr>
        <p:cxnSp>
          <p:nvCxnSpPr>
            <p:cNvPr id="65" name="Connecteur droit 64"/>
            <p:cNvCxnSpPr/>
            <p:nvPr/>
          </p:nvCxnSpPr>
          <p:spPr>
            <a:xfrm flipV="1">
              <a:off x="6373804" y="6332333"/>
              <a:ext cx="112862" cy="1411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6" name="Connecteur droit 65"/>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88" name="Rectangle à coins arrondis 87"/>
          <p:cNvSpPr/>
          <p:nvPr/>
        </p:nvSpPr>
        <p:spPr>
          <a:xfrm>
            <a:off x="2078253" y="3412001"/>
            <a:ext cx="4203511" cy="1038022"/>
          </a:xfrm>
          <a:prstGeom prst="roundRect">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Le </a:t>
            </a:r>
            <a:r>
              <a:rPr lang="fr-FR" sz="1400" b="1" dirty="0"/>
              <a:t>CHIEF DATA MANAGEMENT OFFICER </a:t>
            </a:r>
            <a:r>
              <a:rPr lang="fr-FR" sz="1400" dirty="0"/>
              <a:t>est responsable de la mise en œuvre et du respect des règles de gestion des données</a:t>
            </a:r>
            <a:r>
              <a:rPr lang="fr-FR" sz="1400" i="1" dirty="0"/>
              <a:t> (sécurité, conformité, réglementaire…)</a:t>
            </a:r>
            <a:r>
              <a:rPr lang="fr-FR" sz="1400" dirty="0"/>
              <a:t>.</a:t>
            </a:r>
            <a:endParaRPr lang="fr-FR" sz="1400" b="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39" name="Pentagone 3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Ellipse 3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4" name="Groupe 43"/>
              <p:cNvGrpSpPr/>
              <p:nvPr/>
            </p:nvGrpSpPr>
            <p:grpSpPr>
              <a:xfrm>
                <a:off x="8732261" y="529120"/>
                <a:ext cx="551453" cy="549030"/>
                <a:chOff x="9401004" y="529120"/>
                <a:chExt cx="551453" cy="549030"/>
              </a:xfrm>
            </p:grpSpPr>
            <p:sp>
              <p:nvSpPr>
                <p:cNvPr id="46" name="Ellipse 4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2" name="Image 51"/>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5" name="Ellipse 4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6" name="Image 35"/>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7" name="Image 36"/>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8" name="Image 37"/>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128628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p:txBody>
          <a:bodyPr/>
          <a:lstStyle/>
          <a:p>
            <a:r>
              <a:rPr lang="fr-FR" sz="1500" dirty="0">
                <a:latin typeface="+mn-lt"/>
              </a:rPr>
              <a:t>Faciliter l’instruction de ma demande</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1061829"/>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a:p>
            <a:endParaRPr lang="fr-FR" sz="1050" b="1" dirty="0">
              <a:solidFill>
                <a:schemeClr val="bg1"/>
              </a:solidFill>
              <a:latin typeface="Calibri" panose="020F0502020204030204" pitchFamily="34" charset="0"/>
            </a:endParaRPr>
          </a:p>
          <a:p>
            <a:pPr marL="214313" indent="-214313">
              <a:buFontTx/>
              <a:buChar char="-"/>
            </a:pPr>
            <a:r>
              <a:rPr lang="fr-FR" sz="1050" dirty="0">
                <a:solidFill>
                  <a:schemeClr val="bg1"/>
                </a:solidFill>
                <a:latin typeface="Calibri" panose="020F0502020204030204" pitchFamily="34" charset="0"/>
              </a:rPr>
              <a:t>Marc et le bureau reste affiché de l’écran précédent</a:t>
            </a:r>
          </a:p>
          <a:p>
            <a:pPr marL="214313" indent="-214313">
              <a:buFontTx/>
              <a:buChar char="-"/>
            </a:pPr>
            <a:r>
              <a:rPr lang="fr-FR" sz="1050" dirty="0">
                <a:solidFill>
                  <a:schemeClr val="bg1"/>
                </a:solidFill>
                <a:latin typeface="Calibri" panose="020F0502020204030204" pitchFamily="34" charset="0"/>
              </a:rPr>
              <a:t>Affichage du texte </a:t>
            </a:r>
          </a:p>
        </p:txBody>
      </p:sp>
      <p:pic>
        <p:nvPicPr>
          <p:cNvPr id="28" name="Image 27"/>
          <p:cNvPicPr>
            <a:picLocks noChangeAspect="1"/>
          </p:cNvPicPr>
          <p:nvPr/>
        </p:nvPicPr>
        <p:blipFill>
          <a:blip r:embed="rId2"/>
          <a:stretch>
            <a:fillRect/>
          </a:stretch>
        </p:blipFill>
        <p:spPr>
          <a:xfrm>
            <a:off x="187416" y="2207416"/>
            <a:ext cx="3103580" cy="3325265"/>
          </a:xfrm>
          <a:prstGeom prst="rect">
            <a:avLst/>
          </a:prstGeom>
        </p:spPr>
      </p:pic>
      <p:sp>
        <p:nvSpPr>
          <p:cNvPr id="55" name="Rectangle 54"/>
          <p:cNvSpPr/>
          <p:nvPr/>
        </p:nvSpPr>
        <p:spPr>
          <a:xfrm>
            <a:off x="1946000" y="2422046"/>
            <a:ext cx="4192970" cy="1870512"/>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Bien décrire mon besoin est essentiel </a:t>
            </a: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pour permettre une qualification améliorer de celui-ci par les équipes DataLab et </a:t>
            </a: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permettre de valider la pertinence de l’usage de la Plateforme </a:t>
            </a:r>
            <a:r>
              <a:rPr lang="fr-FR" sz="1800" b="1" dirty="0" err="1">
                <a:solidFill>
                  <a:schemeClr val="tx1">
                    <a:lumMod val="75000"/>
                    <a:lumOff val="25000"/>
                  </a:schemeClr>
                </a:solidFill>
                <a:ea typeface="Yu Gothic Light" panose="020B0300000000000000" pitchFamily="34" charset="-128"/>
                <a:cs typeface="Times New Roman" panose="02020603050405020304" pitchFamily="18" charset="0"/>
              </a:rPr>
              <a:t>DataLake</a:t>
            </a: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 et du DataLab.</a:t>
            </a:r>
          </a:p>
        </p:txBody>
      </p:sp>
      <p:grpSp>
        <p:nvGrpSpPr>
          <p:cNvPr id="26" name="Groupe 25"/>
          <p:cNvGrpSpPr/>
          <p:nvPr/>
        </p:nvGrpSpPr>
        <p:grpSpPr>
          <a:xfrm>
            <a:off x="559081" y="1597264"/>
            <a:ext cx="5299520" cy="414060"/>
            <a:chOff x="745442" y="986685"/>
            <a:chExt cx="7066026" cy="552080"/>
          </a:xfrm>
        </p:grpSpPr>
        <p:grpSp>
          <p:nvGrpSpPr>
            <p:cNvPr id="27" name="Groupe 26"/>
            <p:cNvGrpSpPr/>
            <p:nvPr/>
          </p:nvGrpSpPr>
          <p:grpSpPr>
            <a:xfrm>
              <a:off x="745442" y="986685"/>
              <a:ext cx="7066026" cy="552080"/>
              <a:chOff x="2691257" y="529120"/>
              <a:chExt cx="7066026" cy="552080"/>
            </a:xfrm>
          </p:grpSpPr>
          <p:sp>
            <p:nvSpPr>
              <p:cNvPr id="35" name="Pentagone 34"/>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6" name="Ellipse 35"/>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7" name="Ellipse 36"/>
              <p:cNvSpPr/>
              <p:nvPr/>
            </p:nvSpPr>
            <p:spPr>
              <a:xfrm>
                <a:off x="4264756"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8" name="Ellipse 37"/>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9" name="Ellipse 38"/>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0" name="Groupe 39"/>
              <p:cNvGrpSpPr/>
              <p:nvPr/>
            </p:nvGrpSpPr>
            <p:grpSpPr>
              <a:xfrm>
                <a:off x="8732261" y="529120"/>
                <a:ext cx="551453" cy="549030"/>
                <a:chOff x="9401004" y="529120"/>
                <a:chExt cx="551453" cy="549030"/>
              </a:xfrm>
            </p:grpSpPr>
            <p:sp>
              <p:nvSpPr>
                <p:cNvPr id="42" name="Ellipse 41"/>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43" name="Image 42"/>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1" name="Ellipse 40"/>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29" name="Image 28"/>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0" name="Image 29"/>
            <p:cNvPicPr>
              <a:picLocks noChangeAspect="1"/>
            </p:cNvPicPr>
            <p:nvPr/>
          </p:nvPicPr>
          <p:blipFill>
            <a:blip r:embed="rId6"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2" name="Image 31"/>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3" name="Image 32"/>
            <p:cNvPicPr>
              <a:picLocks noChangeAspect="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4" name="Image 33"/>
            <p:cNvPicPr>
              <a:picLocks noChangeAspect="1"/>
            </p:cNvPicPr>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pic>
        <p:nvPicPr>
          <p:cNvPr id="44" name="Image 43"/>
          <p:cNvPicPr>
            <a:picLocks noChangeAspect="1"/>
          </p:cNvPicPr>
          <p:nvPr/>
        </p:nvPicPr>
        <p:blipFill>
          <a:blip r:embed="rId10"/>
          <a:stretch>
            <a:fillRect/>
          </a:stretch>
        </p:blipFill>
        <p:spPr>
          <a:xfrm>
            <a:off x="6992884" y="5223488"/>
            <a:ext cx="1691986" cy="701715"/>
          </a:xfrm>
          <a:prstGeom prst="rect">
            <a:avLst/>
          </a:prstGeom>
        </p:spPr>
      </p:pic>
    </p:spTree>
    <p:extLst>
      <p:ext uri="{BB962C8B-B14F-4D97-AF65-F5344CB8AC3E}">
        <p14:creationId xmlns:p14="http://schemas.microsoft.com/office/powerpoint/2010/main" val="1568918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10312" y="116331"/>
            <a:ext cx="4284966" cy="542700"/>
          </a:xfrm>
        </p:spPr>
        <p:txBody>
          <a:bodyPr/>
          <a:lstStyle/>
          <a:p>
            <a:r>
              <a:rPr lang="fr-FR" sz="1500" dirty="0">
                <a:latin typeface="+mn-lt"/>
              </a:rPr>
              <a:t>Bilan et industrialisation</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203281" y="4679339"/>
            <a:ext cx="6121285" cy="1730923"/>
          </a:xfrm>
          <a:prstGeom prst="rect">
            <a:avLst/>
          </a:prstGeom>
        </p:spPr>
        <p:txBody>
          <a:bodyPr wrap="square">
            <a:spAutoFit/>
          </a:bodyPr>
          <a:lstStyle/>
          <a:p>
            <a:pPr algn="ctr">
              <a:lnSpc>
                <a:spcPct val="107000"/>
              </a:lnSpc>
              <a:spcAft>
                <a:spcPts val="600"/>
              </a:spcAft>
            </a:pP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Je planifie une rencontre avec mon responsable DataLab </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pour faire le bilan </a:t>
            </a:r>
            <a:br>
              <a:rPr lang="fr-FR" sz="16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de mon expérimentation et travailler sur la suite de celle-ci.</a:t>
            </a:r>
          </a:p>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Je lui indique que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je souhaite disposer en production au quotidien des traitements et tableaux de bord mis en œuvre dans le cadre expérimental.</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2847898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156815" y="130809"/>
            <a:ext cx="4284966" cy="542700"/>
          </a:xfrm>
        </p:spPr>
        <p:txBody>
          <a:bodyPr/>
          <a:lstStyle/>
          <a:p>
            <a:r>
              <a:rPr lang="fr-FR" sz="1500" dirty="0">
                <a:latin typeface="+mn-lt"/>
              </a:rPr>
              <a:t>La demande d’industrialisation</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203281" y="4607151"/>
            <a:ext cx="6121285" cy="1467453"/>
          </a:xfrm>
          <a:prstGeom prst="rect">
            <a:avLst/>
          </a:prstGeom>
        </p:spPr>
        <p:txBody>
          <a:bodyPr wrap="square">
            <a:spAutoFit/>
          </a:bodyPr>
          <a:lstStyle/>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Mon responsable DataLab m’indique que nous allons faire une demande pour industrialiser les livrables de mon expérimentation.</a:t>
            </a:r>
          </a:p>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Ces travaux d’industrialisation vont permettre de rendre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robustes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 et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sécurisés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 les traitements conçus et de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permettre l’automatisation </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de leur exécution sur des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données rafraichies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495207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67759" y="138778"/>
            <a:ext cx="4284966" cy="542700"/>
          </a:xfrm>
        </p:spPr>
        <p:txBody>
          <a:bodyPr/>
          <a:lstStyle/>
          <a:p>
            <a:r>
              <a:rPr lang="fr-FR" sz="1500" dirty="0">
                <a:latin typeface="+mn-lt"/>
              </a:rPr>
              <a:t>Passage par la Data Factory</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102784" y="4607150"/>
            <a:ext cx="6733413" cy="1782860"/>
          </a:xfrm>
          <a:prstGeom prst="rect">
            <a:avLst/>
          </a:prstGeom>
        </p:spPr>
        <p:txBody>
          <a:bodyPr wrap="square">
            <a:spAutoFit/>
          </a:bodyPr>
          <a:lstStyle/>
          <a:p>
            <a:pPr algn="ctr">
              <a:lnSpc>
                <a:spcPct val="107000"/>
              </a:lnSpc>
              <a:spcAft>
                <a:spcPts val="600"/>
              </a:spcAft>
            </a:pP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Il m’indique que </a:t>
            </a:r>
            <a:r>
              <a:rPr lang="fr-FR" sz="1400" b="1" dirty="0">
                <a:solidFill>
                  <a:schemeClr val="tx1">
                    <a:lumMod val="75000"/>
                    <a:lumOff val="25000"/>
                  </a:schemeClr>
                </a:solidFill>
                <a:ea typeface="Yu Gothic Light" panose="020B0300000000000000" pitchFamily="34" charset="-128"/>
                <a:cs typeface="Times New Roman" panose="02020603050405020304" pitchFamily="18" charset="0"/>
              </a:rPr>
              <a:t>c’est la Data Factory qui va prendre en charge ces travaux </a:t>
            </a:r>
            <a:br>
              <a:rPr lang="fr-FR" sz="14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d’industrialisation et mettre en conformité mon travail avec les exigences de production.</a:t>
            </a:r>
          </a:p>
          <a:p>
            <a:pPr algn="ctr">
              <a:lnSpc>
                <a:spcPct val="107000"/>
              </a:lnSpc>
              <a:spcAft>
                <a:spcPts val="600"/>
              </a:spcAft>
            </a:pP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Ce chantier vise à intégrer complétement mon travail à la chaîne opérationnelle du SI.</a:t>
            </a:r>
            <a:br>
              <a:rPr lang="fr-FR" sz="14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Il me précise que cela peut donc</a:t>
            </a:r>
            <a:r>
              <a:rPr lang="fr-FR" sz="1400" b="1" dirty="0">
                <a:solidFill>
                  <a:schemeClr val="tx1">
                    <a:lumMod val="75000"/>
                    <a:lumOff val="25000"/>
                  </a:schemeClr>
                </a:solidFill>
                <a:ea typeface="Yu Gothic Light" panose="020B0300000000000000" pitchFamily="34" charset="-128"/>
                <a:cs typeface="Times New Roman" panose="02020603050405020304" pitchFamily="18" charset="0"/>
              </a:rPr>
              <a:t> nécessiter un délai plus long que l’expérimentation.</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1840005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C09963-907A-104D-2A5A-CE4E33B23828}"/>
              </a:ext>
            </a:extLst>
          </p:cNvPr>
          <p:cNvSpPr>
            <a:spLocks noGrp="1"/>
          </p:cNvSpPr>
          <p:nvPr>
            <p:ph type="title"/>
          </p:nvPr>
        </p:nvSpPr>
        <p:spPr/>
        <p:txBody>
          <a:bodyPr/>
          <a:lstStyle/>
          <a:p>
            <a:r>
              <a:rPr lang="fr-FR" dirty="0"/>
              <a:t>Les 4 dimensions</a:t>
            </a:r>
          </a:p>
        </p:txBody>
      </p:sp>
      <p:sp>
        <p:nvSpPr>
          <p:cNvPr id="3" name="Espace réservé du contenu 2">
            <a:extLst>
              <a:ext uri="{FF2B5EF4-FFF2-40B4-BE49-F238E27FC236}">
                <a16:creationId xmlns:a16="http://schemas.microsoft.com/office/drawing/2014/main" id="{C6DF6A77-BA5C-E50F-DCBA-E12E834ED32A}"/>
              </a:ext>
            </a:extLst>
          </p:cNvPr>
          <p:cNvSpPr>
            <a:spLocks noGrp="1"/>
          </p:cNvSpPr>
          <p:nvPr>
            <p:ph idx="1"/>
          </p:nvPr>
        </p:nvSpPr>
        <p:spPr/>
        <p:txBody>
          <a:bodyPr/>
          <a:lstStyle/>
          <a:p>
            <a:r>
              <a:rPr lang="fr-FR" dirty="0"/>
              <a:t>La gestion des données possède quatre dimensions principales :</a:t>
            </a:r>
          </a:p>
          <a:p>
            <a:pPr lvl="1"/>
            <a:r>
              <a:rPr lang="fr-FR" dirty="0"/>
              <a:t>La disponibilité des données</a:t>
            </a:r>
          </a:p>
          <a:p>
            <a:pPr lvl="1"/>
            <a:r>
              <a:rPr lang="fr-FR" dirty="0"/>
              <a:t>L’utilisabilité des données</a:t>
            </a:r>
          </a:p>
          <a:p>
            <a:pPr lvl="1"/>
            <a:r>
              <a:rPr lang="fr-FR" dirty="0"/>
              <a:t>L’intégrité des données</a:t>
            </a:r>
          </a:p>
          <a:p>
            <a:pPr lvl="1"/>
            <a:r>
              <a:rPr lang="fr-FR" dirty="0"/>
              <a:t>La sécurité des données</a:t>
            </a:r>
          </a:p>
        </p:txBody>
      </p:sp>
    </p:spTree>
    <p:extLst>
      <p:ext uri="{BB962C8B-B14F-4D97-AF65-F5344CB8AC3E}">
        <p14:creationId xmlns:p14="http://schemas.microsoft.com/office/powerpoint/2010/main" val="3932508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BAB247-AE91-30CE-0D5F-E344C8C77C48}"/>
              </a:ext>
            </a:extLst>
          </p:cNvPr>
          <p:cNvSpPr>
            <a:spLocks noGrp="1"/>
          </p:cNvSpPr>
          <p:nvPr>
            <p:ph type="title"/>
          </p:nvPr>
        </p:nvSpPr>
        <p:spPr/>
        <p:txBody>
          <a:bodyPr/>
          <a:lstStyle/>
          <a:p>
            <a:r>
              <a:rPr lang="fr-FR" dirty="0"/>
              <a:t>La disponibilité</a:t>
            </a:r>
          </a:p>
        </p:txBody>
      </p:sp>
      <p:sp>
        <p:nvSpPr>
          <p:cNvPr id="3" name="Espace réservé du contenu 2">
            <a:extLst>
              <a:ext uri="{FF2B5EF4-FFF2-40B4-BE49-F238E27FC236}">
                <a16:creationId xmlns:a16="http://schemas.microsoft.com/office/drawing/2014/main" id="{B7C8E5FD-D66E-6EC0-2244-CC9E81EC720D}"/>
              </a:ext>
            </a:extLst>
          </p:cNvPr>
          <p:cNvSpPr>
            <a:spLocks noGrp="1"/>
          </p:cNvSpPr>
          <p:nvPr>
            <p:ph idx="1"/>
          </p:nvPr>
        </p:nvSpPr>
        <p:spPr/>
        <p:txBody>
          <a:bodyPr/>
          <a:lstStyle/>
          <a:p>
            <a:r>
              <a:rPr lang="fr-FR" dirty="0"/>
              <a:t>Cela concerne leur sauvegarde, leur stockage, leur mise à jour, leur diffusion et de leur partage au sein de l'entreprise, tout en gérant et sécurisant les accès des différents utilisateurs et profils</a:t>
            </a:r>
          </a:p>
        </p:txBody>
      </p:sp>
    </p:spTree>
    <p:extLst>
      <p:ext uri="{BB962C8B-B14F-4D97-AF65-F5344CB8AC3E}">
        <p14:creationId xmlns:p14="http://schemas.microsoft.com/office/powerpoint/2010/main" val="1723836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DCF93A-0BB1-7997-0F7A-94338E06A618}"/>
              </a:ext>
            </a:extLst>
          </p:cNvPr>
          <p:cNvSpPr>
            <a:spLocks noGrp="1"/>
          </p:cNvSpPr>
          <p:nvPr>
            <p:ph type="title"/>
          </p:nvPr>
        </p:nvSpPr>
        <p:spPr/>
        <p:txBody>
          <a:bodyPr/>
          <a:lstStyle/>
          <a:p>
            <a:r>
              <a:rPr lang="fr-FR" dirty="0"/>
              <a:t>L’utilisabilité</a:t>
            </a:r>
          </a:p>
        </p:txBody>
      </p:sp>
      <p:sp>
        <p:nvSpPr>
          <p:cNvPr id="3" name="Espace réservé du contenu 2">
            <a:extLst>
              <a:ext uri="{FF2B5EF4-FFF2-40B4-BE49-F238E27FC236}">
                <a16:creationId xmlns:a16="http://schemas.microsoft.com/office/drawing/2014/main" id="{99A75CBA-EE58-75E8-BDAB-9C26086FE445}"/>
              </a:ext>
            </a:extLst>
          </p:cNvPr>
          <p:cNvSpPr>
            <a:spLocks noGrp="1"/>
          </p:cNvSpPr>
          <p:nvPr>
            <p:ph idx="1"/>
          </p:nvPr>
        </p:nvSpPr>
        <p:spPr/>
        <p:txBody>
          <a:bodyPr/>
          <a:lstStyle/>
          <a:p>
            <a:r>
              <a:rPr lang="fr-FR" dirty="0"/>
              <a:t>E</a:t>
            </a:r>
            <a:r>
              <a:rPr lang="fr-FR"/>
              <a:t>lle </a:t>
            </a:r>
            <a:r>
              <a:rPr lang="fr-FR" dirty="0"/>
              <a:t>doit veiller à ce que les données soient à jour, cohérentes, et facile d'accès pour les utilisateurs et usages définis dans l'entreprise</a:t>
            </a:r>
          </a:p>
        </p:txBody>
      </p:sp>
    </p:spTree>
    <p:extLst>
      <p:ext uri="{BB962C8B-B14F-4D97-AF65-F5344CB8AC3E}">
        <p14:creationId xmlns:p14="http://schemas.microsoft.com/office/powerpoint/2010/main" val="408528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6D1291-C697-482B-3AB8-A224AB256B37}"/>
              </a:ext>
            </a:extLst>
          </p:cNvPr>
          <p:cNvSpPr>
            <a:spLocks noGrp="1"/>
          </p:cNvSpPr>
          <p:nvPr>
            <p:ph type="title"/>
          </p:nvPr>
        </p:nvSpPr>
        <p:spPr/>
        <p:txBody>
          <a:bodyPr/>
          <a:lstStyle/>
          <a:p>
            <a:r>
              <a:rPr lang="fr-FR" dirty="0"/>
              <a:t>L’intégrité</a:t>
            </a:r>
          </a:p>
        </p:txBody>
      </p:sp>
      <p:sp>
        <p:nvSpPr>
          <p:cNvPr id="3" name="Espace réservé du contenu 2">
            <a:extLst>
              <a:ext uri="{FF2B5EF4-FFF2-40B4-BE49-F238E27FC236}">
                <a16:creationId xmlns:a16="http://schemas.microsoft.com/office/drawing/2014/main" id="{2CCDB93B-A198-4DDA-D7F2-66F44496054A}"/>
              </a:ext>
            </a:extLst>
          </p:cNvPr>
          <p:cNvSpPr>
            <a:spLocks noGrp="1"/>
          </p:cNvSpPr>
          <p:nvPr>
            <p:ph idx="1"/>
          </p:nvPr>
        </p:nvSpPr>
        <p:spPr/>
        <p:txBody>
          <a:bodyPr/>
          <a:lstStyle/>
          <a:p>
            <a:r>
              <a:rPr lang="fr-FR" dirty="0"/>
              <a:t>Les données doivent être sécurisées de telle sorte à ce qu'elles soient cohérentes, fiables, pertinentes et valides</a:t>
            </a:r>
          </a:p>
        </p:txBody>
      </p:sp>
    </p:spTree>
    <p:extLst>
      <p:ext uri="{BB962C8B-B14F-4D97-AF65-F5344CB8AC3E}">
        <p14:creationId xmlns:p14="http://schemas.microsoft.com/office/powerpoint/2010/main" val="363554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5613D4-C94B-25FC-210E-360363796354}"/>
              </a:ext>
            </a:extLst>
          </p:cNvPr>
          <p:cNvSpPr>
            <a:spLocks noGrp="1"/>
          </p:cNvSpPr>
          <p:nvPr>
            <p:ph type="title"/>
          </p:nvPr>
        </p:nvSpPr>
        <p:spPr/>
        <p:txBody>
          <a:bodyPr/>
          <a:lstStyle/>
          <a:p>
            <a:r>
              <a:rPr lang="fr-FR" dirty="0"/>
              <a:t>La sécurité</a:t>
            </a:r>
          </a:p>
        </p:txBody>
      </p:sp>
      <p:sp>
        <p:nvSpPr>
          <p:cNvPr id="3" name="Espace réservé du contenu 2">
            <a:extLst>
              <a:ext uri="{FF2B5EF4-FFF2-40B4-BE49-F238E27FC236}">
                <a16:creationId xmlns:a16="http://schemas.microsoft.com/office/drawing/2014/main" id="{4F372042-04DD-DCCA-53AE-73016AE5B1A0}"/>
              </a:ext>
            </a:extLst>
          </p:cNvPr>
          <p:cNvSpPr>
            <a:spLocks noGrp="1"/>
          </p:cNvSpPr>
          <p:nvPr>
            <p:ph idx="1"/>
          </p:nvPr>
        </p:nvSpPr>
        <p:spPr/>
        <p:txBody>
          <a:bodyPr/>
          <a:lstStyle/>
          <a:p>
            <a:r>
              <a:rPr lang="fr-FR"/>
              <a:t>Cela </a:t>
            </a:r>
            <a:r>
              <a:rPr lang="fr-FR" dirty="0"/>
              <a:t>implique de mettre en place une politique de sécurisation des informations de l’entreprise et de ses clients, et doit permettre d’assurer la continuité des trois notions précédentes.</a:t>
            </a:r>
          </a:p>
        </p:txBody>
      </p:sp>
    </p:spTree>
    <p:extLst>
      <p:ext uri="{BB962C8B-B14F-4D97-AF65-F5344CB8AC3E}">
        <p14:creationId xmlns:p14="http://schemas.microsoft.com/office/powerpoint/2010/main" val="338240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8461D3-D313-9850-D313-D66F9BB11F29}"/>
              </a:ext>
            </a:extLst>
          </p:cNvPr>
          <p:cNvSpPr>
            <a:spLocks noGrp="1"/>
          </p:cNvSpPr>
          <p:nvPr>
            <p:ph type="title"/>
          </p:nvPr>
        </p:nvSpPr>
        <p:spPr/>
        <p:txBody>
          <a:bodyPr/>
          <a:lstStyle/>
          <a:p>
            <a:r>
              <a:rPr lang="fr-FR" dirty="0"/>
              <a:t>DMBOK</a:t>
            </a:r>
          </a:p>
        </p:txBody>
      </p:sp>
      <p:sp>
        <p:nvSpPr>
          <p:cNvPr id="3" name="Espace réservé du contenu 2">
            <a:extLst>
              <a:ext uri="{FF2B5EF4-FFF2-40B4-BE49-F238E27FC236}">
                <a16:creationId xmlns:a16="http://schemas.microsoft.com/office/drawing/2014/main" id="{85B0EFC2-4975-1A6C-E09D-FDCE9A2E6F67}"/>
              </a:ext>
            </a:extLst>
          </p:cNvPr>
          <p:cNvSpPr>
            <a:spLocks noGrp="1"/>
          </p:cNvSpPr>
          <p:nvPr>
            <p:ph idx="1"/>
          </p:nvPr>
        </p:nvSpPr>
        <p:spPr>
          <a:xfrm>
            <a:off x="179513" y="1412776"/>
            <a:ext cx="5688632" cy="5040560"/>
          </a:xfrm>
        </p:spPr>
        <p:txBody>
          <a:bodyPr/>
          <a:lstStyle/>
          <a:p>
            <a:r>
              <a:rPr lang="en-US" dirty="0"/>
              <a:t>Le DAMA Body of Knowledge </a:t>
            </a:r>
            <a:r>
              <a:rPr lang="en-US" dirty="0" err="1"/>
              <a:t>DMBoK</a:t>
            </a:r>
            <a:endParaRPr lang="en-US" dirty="0"/>
          </a:p>
          <a:p>
            <a:pPr lvl="1"/>
            <a:r>
              <a:rPr lang="en-US" dirty="0"/>
              <a:t>Dama.org</a:t>
            </a:r>
          </a:p>
          <a:p>
            <a:pPr lvl="1"/>
            <a:r>
              <a:rPr lang="fr-FR" dirty="0"/>
              <a:t>Le corpus de connaissances sur la gestion des données est un ensemble de processus et de meilleures pratiques</a:t>
            </a:r>
          </a:p>
        </p:txBody>
      </p:sp>
      <p:pic>
        <p:nvPicPr>
          <p:cNvPr id="7" name="Image 6">
            <a:extLst>
              <a:ext uri="{FF2B5EF4-FFF2-40B4-BE49-F238E27FC236}">
                <a16:creationId xmlns:a16="http://schemas.microsoft.com/office/drawing/2014/main" id="{DAE1BAAD-FDC9-491F-1F6C-6B29B630DE38}"/>
              </a:ext>
            </a:extLst>
          </p:cNvPr>
          <p:cNvPicPr>
            <a:picLocks noChangeAspect="1"/>
          </p:cNvPicPr>
          <p:nvPr/>
        </p:nvPicPr>
        <p:blipFill>
          <a:blip r:embed="rId2"/>
          <a:stretch>
            <a:fillRect/>
          </a:stretch>
        </p:blipFill>
        <p:spPr>
          <a:xfrm>
            <a:off x="6156176" y="1412776"/>
            <a:ext cx="2057578" cy="2629128"/>
          </a:xfrm>
          <a:prstGeom prst="rect">
            <a:avLst/>
          </a:prstGeom>
        </p:spPr>
      </p:pic>
      <p:pic>
        <p:nvPicPr>
          <p:cNvPr id="9" name="Image 8">
            <a:extLst>
              <a:ext uri="{FF2B5EF4-FFF2-40B4-BE49-F238E27FC236}">
                <a16:creationId xmlns:a16="http://schemas.microsoft.com/office/drawing/2014/main" id="{7AEF4EB1-10A0-080E-D3ED-52709BE097F6}"/>
              </a:ext>
            </a:extLst>
          </p:cNvPr>
          <p:cNvPicPr>
            <a:picLocks noChangeAspect="1"/>
          </p:cNvPicPr>
          <p:nvPr/>
        </p:nvPicPr>
        <p:blipFill>
          <a:blip r:embed="rId3"/>
          <a:stretch>
            <a:fillRect/>
          </a:stretch>
        </p:blipFill>
        <p:spPr>
          <a:xfrm>
            <a:off x="1979712" y="4653136"/>
            <a:ext cx="4892464" cy="883997"/>
          </a:xfrm>
          <a:prstGeom prst="rect">
            <a:avLst/>
          </a:prstGeom>
        </p:spPr>
      </p:pic>
    </p:spTree>
    <p:extLst>
      <p:ext uri="{BB962C8B-B14F-4D97-AF65-F5344CB8AC3E}">
        <p14:creationId xmlns:p14="http://schemas.microsoft.com/office/powerpoint/2010/main" val="899357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F47710-6E4A-954B-43DE-C1DF4933F30A}"/>
              </a:ext>
            </a:extLst>
          </p:cNvPr>
          <p:cNvSpPr>
            <a:spLocks noGrp="1"/>
          </p:cNvSpPr>
          <p:nvPr>
            <p:ph type="title"/>
          </p:nvPr>
        </p:nvSpPr>
        <p:spPr/>
        <p:txBody>
          <a:bodyPr/>
          <a:lstStyle/>
          <a:p>
            <a:r>
              <a:rPr lang="fr-FR" dirty="0"/>
              <a:t>DMBOK</a:t>
            </a:r>
          </a:p>
        </p:txBody>
      </p:sp>
      <p:sp>
        <p:nvSpPr>
          <p:cNvPr id="3" name="Espace réservé du contenu 2">
            <a:extLst>
              <a:ext uri="{FF2B5EF4-FFF2-40B4-BE49-F238E27FC236}">
                <a16:creationId xmlns:a16="http://schemas.microsoft.com/office/drawing/2014/main" id="{C134FE94-B783-4895-57A2-7E14693BC44F}"/>
              </a:ext>
            </a:extLst>
          </p:cNvPr>
          <p:cNvSpPr>
            <a:spLocks noGrp="1"/>
          </p:cNvSpPr>
          <p:nvPr>
            <p:ph idx="1"/>
          </p:nvPr>
        </p:nvSpPr>
        <p:spPr/>
        <p:txBody>
          <a:bodyPr/>
          <a:lstStyle/>
          <a:p>
            <a:r>
              <a:rPr lang="fr-FR" dirty="0"/>
              <a:t>Contient les meilleures pratiques et références généralement acceptées pour chaque discipline de gestion des données</a:t>
            </a:r>
          </a:p>
          <a:p>
            <a:r>
              <a:rPr lang="fr-FR" dirty="0"/>
              <a:t>La gestion des données (DM) est un terme global qui décrit les processus utilisés pour planifier, spécifier, activer, créer, acquérir, maintenir, utiliser, archiver, récupérer, contrôler et purger les données</a:t>
            </a:r>
          </a:p>
        </p:txBody>
      </p:sp>
    </p:spTree>
    <p:extLst>
      <p:ext uri="{BB962C8B-B14F-4D97-AF65-F5344CB8AC3E}">
        <p14:creationId xmlns:p14="http://schemas.microsoft.com/office/powerpoint/2010/main" val="1987392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D3AAA3-60F1-F69F-2552-9BDC9E64E4AD}"/>
              </a:ext>
            </a:extLst>
          </p:cNvPr>
          <p:cNvSpPr>
            <a:spLocks noGrp="1"/>
          </p:cNvSpPr>
          <p:nvPr>
            <p:ph type="title"/>
          </p:nvPr>
        </p:nvSpPr>
        <p:spPr/>
        <p:txBody>
          <a:bodyPr/>
          <a:lstStyle/>
          <a:p>
            <a:r>
              <a:rPr lang="fr-FR" dirty="0"/>
              <a:t>DMBOK 2</a:t>
            </a:r>
          </a:p>
        </p:txBody>
      </p:sp>
      <p:sp>
        <p:nvSpPr>
          <p:cNvPr id="3" name="Espace réservé du contenu 2">
            <a:extLst>
              <a:ext uri="{FF2B5EF4-FFF2-40B4-BE49-F238E27FC236}">
                <a16:creationId xmlns:a16="http://schemas.microsoft.com/office/drawing/2014/main" id="{658F48D2-EC65-A5E6-58AA-86A9AB437BF8}"/>
              </a:ext>
            </a:extLst>
          </p:cNvPr>
          <p:cNvSpPr>
            <a:spLocks noGrp="1"/>
          </p:cNvSpPr>
          <p:nvPr>
            <p:ph idx="1"/>
          </p:nvPr>
        </p:nvSpPr>
        <p:spPr/>
        <p:txBody>
          <a:bodyPr/>
          <a:lstStyle/>
          <a:p>
            <a:r>
              <a:rPr lang="fr-FR" dirty="0"/>
              <a:t>Les 11 domaines de compétence</a:t>
            </a:r>
          </a:p>
        </p:txBody>
      </p:sp>
      <p:pic>
        <p:nvPicPr>
          <p:cNvPr id="5" name="Image 4">
            <a:extLst>
              <a:ext uri="{FF2B5EF4-FFF2-40B4-BE49-F238E27FC236}">
                <a16:creationId xmlns:a16="http://schemas.microsoft.com/office/drawing/2014/main" id="{3D4878E9-24E8-BF9D-362E-8499A7AA7F48}"/>
              </a:ext>
            </a:extLst>
          </p:cNvPr>
          <p:cNvPicPr>
            <a:picLocks noChangeAspect="1"/>
          </p:cNvPicPr>
          <p:nvPr/>
        </p:nvPicPr>
        <p:blipFill>
          <a:blip r:embed="rId2"/>
          <a:stretch>
            <a:fillRect/>
          </a:stretch>
        </p:blipFill>
        <p:spPr>
          <a:xfrm>
            <a:off x="2668803" y="2132856"/>
            <a:ext cx="3787468" cy="3817951"/>
          </a:xfrm>
          <a:prstGeom prst="rect">
            <a:avLst/>
          </a:prstGeom>
        </p:spPr>
      </p:pic>
    </p:spTree>
    <p:extLst>
      <p:ext uri="{BB962C8B-B14F-4D97-AF65-F5344CB8AC3E}">
        <p14:creationId xmlns:p14="http://schemas.microsoft.com/office/powerpoint/2010/main" val="530583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DEA07-75FC-DC19-5A7B-75ACFE0512B6}"/>
              </a:ext>
            </a:extLst>
          </p:cNvPr>
          <p:cNvSpPr>
            <a:spLocks noGrp="1"/>
          </p:cNvSpPr>
          <p:nvPr>
            <p:ph type="title"/>
          </p:nvPr>
        </p:nvSpPr>
        <p:spPr/>
        <p:txBody>
          <a:bodyPr/>
          <a:lstStyle/>
          <a:p>
            <a:r>
              <a:rPr lang="fr-FR" dirty="0"/>
              <a:t>Domaines de compétence</a:t>
            </a:r>
          </a:p>
        </p:txBody>
      </p:sp>
      <p:sp>
        <p:nvSpPr>
          <p:cNvPr id="3" name="Espace réservé du contenu 2">
            <a:extLst>
              <a:ext uri="{FF2B5EF4-FFF2-40B4-BE49-F238E27FC236}">
                <a16:creationId xmlns:a16="http://schemas.microsoft.com/office/drawing/2014/main" id="{9387F90B-1A8E-C7C6-9DCC-3F1002FDDBAE}"/>
              </a:ext>
            </a:extLst>
          </p:cNvPr>
          <p:cNvSpPr>
            <a:spLocks noGrp="1"/>
          </p:cNvSpPr>
          <p:nvPr>
            <p:ph idx="1"/>
          </p:nvPr>
        </p:nvSpPr>
        <p:spPr/>
        <p:txBody>
          <a:bodyPr/>
          <a:lstStyle/>
          <a:p>
            <a:r>
              <a:rPr lang="fr-FR" dirty="0"/>
              <a:t>L'interaction se produit à travers les processus de gouvernance des données</a:t>
            </a:r>
          </a:p>
          <a:p>
            <a:pPr lvl="1"/>
            <a:r>
              <a:rPr lang="fr-FR" dirty="0"/>
              <a:t>La gouvernance des données est reconnue comme la connaissance coordinatrice</a:t>
            </a:r>
          </a:p>
          <a:p>
            <a:pPr lvl="1"/>
            <a:r>
              <a:rPr lang="fr-FR" dirty="0"/>
              <a:t>Les processus et les ressources de la DG sont exploités à travers les connaissances</a:t>
            </a:r>
          </a:p>
          <a:p>
            <a:pPr lvl="1"/>
            <a:r>
              <a:rPr lang="fr-FR" dirty="0"/>
              <a:t>Les rôles et responsabilités communs peuvent être exploités à travers les domaines</a:t>
            </a:r>
          </a:p>
          <a:p>
            <a:pPr lvl="1"/>
            <a:endParaRPr lang="fr-FR" dirty="0"/>
          </a:p>
        </p:txBody>
      </p:sp>
    </p:spTree>
    <p:extLst>
      <p:ext uri="{BB962C8B-B14F-4D97-AF65-F5344CB8AC3E}">
        <p14:creationId xmlns:p14="http://schemas.microsoft.com/office/powerpoint/2010/main" val="153057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583B26-A826-694E-77C7-94A5EBFC1427}"/>
              </a:ext>
            </a:extLst>
          </p:cNvPr>
          <p:cNvSpPr>
            <a:spLocks noGrp="1"/>
          </p:cNvSpPr>
          <p:nvPr>
            <p:ph type="title"/>
          </p:nvPr>
        </p:nvSpPr>
        <p:spPr/>
        <p:txBody>
          <a:bodyPr/>
          <a:lstStyle/>
          <a:p>
            <a:r>
              <a:rPr lang="fr-FR" dirty="0"/>
              <a:t>Exemples</a:t>
            </a:r>
          </a:p>
        </p:txBody>
      </p:sp>
      <p:sp>
        <p:nvSpPr>
          <p:cNvPr id="3" name="Espace réservé du contenu 2">
            <a:extLst>
              <a:ext uri="{FF2B5EF4-FFF2-40B4-BE49-F238E27FC236}">
                <a16:creationId xmlns:a16="http://schemas.microsoft.com/office/drawing/2014/main" id="{464BD72F-9B5B-0159-2C9C-A6049F60A4EC}"/>
              </a:ext>
            </a:extLst>
          </p:cNvPr>
          <p:cNvSpPr>
            <a:spLocks noGrp="1"/>
          </p:cNvSpPr>
          <p:nvPr>
            <p:ph idx="1"/>
          </p:nvPr>
        </p:nvSpPr>
        <p:spPr/>
        <p:txBody>
          <a:bodyPr/>
          <a:lstStyle/>
          <a:p>
            <a:r>
              <a:rPr lang="fr-FR" dirty="0"/>
              <a:t>Gouvernance des données de référence et de référence :</a:t>
            </a:r>
          </a:p>
          <a:p>
            <a:pPr lvl="1"/>
            <a:r>
              <a:rPr lang="fr-FR" dirty="0"/>
              <a:t>Détermination des systèmes/données d'enregistrement</a:t>
            </a:r>
          </a:p>
          <a:p>
            <a:pPr lvl="1"/>
            <a:r>
              <a:rPr lang="fr-FR" dirty="0"/>
              <a:t>Détermination et gestion des règles métier</a:t>
            </a:r>
          </a:p>
          <a:p>
            <a:pPr lvl="1"/>
            <a:r>
              <a:rPr lang="fr-FR" dirty="0"/>
              <a:t>Gestion des exceptions</a:t>
            </a:r>
          </a:p>
          <a:p>
            <a:pPr lvl="1"/>
            <a:r>
              <a:rPr lang="fr-FR" dirty="0"/>
              <a:t>Métriques</a:t>
            </a:r>
          </a:p>
          <a:p>
            <a:pPr lvl="1"/>
            <a:r>
              <a:rPr lang="fr-FR" dirty="0"/>
              <a:t>Réglementations gouvernementales</a:t>
            </a:r>
          </a:p>
          <a:p>
            <a:pPr lvl="1"/>
            <a:r>
              <a:rPr lang="fr-FR" dirty="0"/>
              <a:t>Normes de l'industrie</a:t>
            </a:r>
          </a:p>
        </p:txBody>
      </p:sp>
    </p:spTree>
    <p:extLst>
      <p:ext uri="{BB962C8B-B14F-4D97-AF65-F5344CB8AC3E}">
        <p14:creationId xmlns:p14="http://schemas.microsoft.com/office/powerpoint/2010/main" val="4223577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7B145A-54AD-19BD-60ED-7680889F4AC6}"/>
              </a:ext>
            </a:extLst>
          </p:cNvPr>
          <p:cNvSpPr>
            <a:spLocks noGrp="1"/>
          </p:cNvSpPr>
          <p:nvPr>
            <p:ph type="title"/>
          </p:nvPr>
        </p:nvSpPr>
        <p:spPr/>
        <p:txBody>
          <a:bodyPr/>
          <a:lstStyle/>
          <a:p>
            <a:r>
              <a:rPr lang="fr-FR" dirty="0"/>
              <a:t>Exemple de Gouvernance</a:t>
            </a:r>
          </a:p>
        </p:txBody>
      </p:sp>
      <p:pic>
        <p:nvPicPr>
          <p:cNvPr id="4" name="Picture 4">
            <a:extLst>
              <a:ext uri="{FF2B5EF4-FFF2-40B4-BE49-F238E27FC236}">
                <a16:creationId xmlns:a16="http://schemas.microsoft.com/office/drawing/2014/main" id="{1D24C807-7EA0-988D-3B2B-B89F8A1C69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8212" y="1412875"/>
            <a:ext cx="7108526"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4611640"/>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3655</TotalTime>
  <Words>1080</Words>
  <Application>Microsoft Office PowerPoint</Application>
  <PresentationFormat>Affichage à l'écran (4:3)</PresentationFormat>
  <Paragraphs>98</Paragraphs>
  <Slides>26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Yu Gothic Light</vt:lpstr>
      <vt:lpstr>Arial</vt:lpstr>
      <vt:lpstr>Calibri</vt:lpstr>
      <vt:lpstr>Monotype Sorts</vt:lpstr>
      <vt:lpstr>Times New Roman</vt:lpstr>
      <vt:lpstr>cvc</vt:lpstr>
      <vt:lpstr>Présentation PowerPoint</vt:lpstr>
      <vt:lpstr>Concept essentiel</vt:lpstr>
      <vt:lpstr>Wikipedia</vt:lpstr>
      <vt:lpstr>Organisation data-centric</vt:lpstr>
      <vt:lpstr>Gouvernance</vt:lpstr>
      <vt:lpstr>L’équipe DataLab – la photo de famille ! </vt:lpstr>
      <vt:lpstr>L’équipe DataLab – le Data Scientist </vt:lpstr>
      <vt:lpstr>L’équipe DataLab – le Data Steward </vt:lpstr>
      <vt:lpstr>L’équipe DataLab – le Data Engineer </vt:lpstr>
      <vt:lpstr>L’équipe DataLab – le Data Engineer </vt:lpstr>
      <vt:lpstr>L’équipe DataLab – le Chief Data Management Officer  </vt:lpstr>
      <vt:lpstr>Faciliter l’instruction de ma demande</vt:lpstr>
      <vt:lpstr>Bilan et industrialisation</vt:lpstr>
      <vt:lpstr>La demande d’industrialisation</vt:lpstr>
      <vt:lpstr>Passage par la Data Factory</vt:lpstr>
      <vt:lpstr>Les 4 dimensions</vt:lpstr>
      <vt:lpstr>La disponibilité</vt:lpstr>
      <vt:lpstr>L’utilisabilité</vt:lpstr>
      <vt:lpstr>L’intégrité</vt:lpstr>
      <vt:lpstr>La sécurité</vt:lpstr>
      <vt:lpstr>DMBOK</vt:lpstr>
      <vt:lpstr>DMBOK</vt:lpstr>
      <vt:lpstr>DMBOK 2</vt:lpstr>
      <vt:lpstr>Domaines de compétence</vt:lpstr>
      <vt:lpstr>Exemples</vt:lpstr>
      <vt:lpstr>Exemple de Gouvernance</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243</cp:revision>
  <dcterms:created xsi:type="dcterms:W3CDTF">2000-04-10T19:33:12Z</dcterms:created>
  <dcterms:modified xsi:type="dcterms:W3CDTF">2025-12-28T21:52:13Z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