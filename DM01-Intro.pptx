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16"/>
  </p:notesMasterIdLst>
  <p:handoutMasterIdLst>
    <p:handoutMasterId r:id="rId17"/>
  </p:handoutMasterIdLst>
  <p:sldIdLst>
    <p:sldId id="264" r:id="rId2"/>
    <p:sldId id="339" r:id="rId3"/>
    <p:sldId id="340" r:id="rId4"/>
    <p:sldId id="341" r:id="rId5"/>
    <p:sldId id="286" r:id="rId6"/>
    <p:sldId id="285" r:id="rId7"/>
    <p:sldId id="280" r:id="rId8"/>
    <p:sldId id="281" r:id="rId9"/>
    <p:sldId id="282" r:id="rId10"/>
    <p:sldId id="283" r:id="rId11"/>
    <p:sldId id="342" r:id="rId12"/>
    <p:sldId id="284" r:id="rId13"/>
    <p:sldId id="338" r:id="rId14"/>
    <p:sldId id="343" r:id="rId15"/>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70" d="100"/>
          <a:sy n="70" d="100"/>
        </p:scale>
        <p:origin x="1810"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1956" y="-1386"/>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Titre 3">
            <a:extLst>
              <a:ext uri="{FF2B5EF4-FFF2-40B4-BE49-F238E27FC236}">
                <a16:creationId xmlns:a16="http://schemas.microsoft.com/office/drawing/2014/main" id="{3A247214-8E32-7B08-69F0-65328C7A8B65}"/>
              </a:ext>
            </a:extLst>
          </p:cNvPr>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MDM</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Chapitre 1</a:t>
            </a:r>
          </a:p>
          <a:p>
            <a:pPr eaLnBrk="1" hangingPunct="1"/>
            <a:r>
              <a:rPr lang="fr-FR" altLang="fr-FR" dirty="0"/>
              <a:t>Introduction</a:t>
            </a:r>
          </a:p>
        </p:txBody>
      </p:sp>
      <p:sp>
        <p:nvSpPr>
          <p:cNvPr id="3" name="ZoneTexte 2"/>
          <p:cNvSpPr txBox="1"/>
          <p:nvPr/>
        </p:nvSpPr>
        <p:spPr>
          <a:xfrm>
            <a:off x="2581711" y="2132856"/>
            <a:ext cx="3980577" cy="646331"/>
          </a:xfrm>
          <a:prstGeom prst="rect">
            <a:avLst/>
          </a:prstGeom>
          <a:noFill/>
        </p:spPr>
        <p:txBody>
          <a:bodyPr wrap="none" rtlCol="0">
            <a:spAutoFit/>
          </a:bodyPr>
          <a:lstStyle/>
          <a:p>
            <a:r>
              <a:rPr lang="fr-FR" sz="3600" dirty="0"/>
              <a:t>Data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8EED99-74B7-D3B7-3FD4-BDD0B23D4F07}"/>
              </a:ext>
            </a:extLst>
          </p:cNvPr>
          <p:cNvSpPr>
            <a:spLocks noGrp="1"/>
          </p:cNvSpPr>
          <p:nvPr>
            <p:ph type="title"/>
          </p:nvPr>
        </p:nvSpPr>
        <p:spPr/>
        <p:txBody>
          <a:bodyPr/>
          <a:lstStyle/>
          <a:p>
            <a:r>
              <a:rPr lang="fr-FR" dirty="0"/>
              <a:t>Intro</a:t>
            </a:r>
          </a:p>
        </p:txBody>
      </p:sp>
      <p:sp>
        <p:nvSpPr>
          <p:cNvPr id="3" name="Espace réservé du contenu 2">
            <a:extLst>
              <a:ext uri="{FF2B5EF4-FFF2-40B4-BE49-F238E27FC236}">
                <a16:creationId xmlns:a16="http://schemas.microsoft.com/office/drawing/2014/main" id="{07994B50-A0B0-A1D6-4B28-D17FCAF8603C}"/>
              </a:ext>
            </a:extLst>
          </p:cNvPr>
          <p:cNvSpPr>
            <a:spLocks noGrp="1"/>
          </p:cNvSpPr>
          <p:nvPr>
            <p:ph idx="1"/>
          </p:nvPr>
        </p:nvSpPr>
        <p:spPr/>
        <p:txBody>
          <a:bodyPr/>
          <a:lstStyle/>
          <a:p>
            <a:r>
              <a:rPr lang="fr-FR" sz="2400" dirty="0"/>
              <a:t>Toute organisation reconnaît que ses données constituent un atout essentiel.</a:t>
            </a:r>
          </a:p>
          <a:p>
            <a:r>
              <a:rPr lang="fr-FR" sz="2400" dirty="0"/>
              <a:t>Les données et les informations lui permettent de mieux comprendre ses clients, ses produits et ses services</a:t>
            </a:r>
          </a:p>
          <a:p>
            <a:r>
              <a:rPr lang="fr-FR" sz="2400" dirty="0"/>
              <a:t>Elles peuvent l'aider à innover et à atteindre ses objectifs stratégiques</a:t>
            </a:r>
          </a:p>
          <a:p>
            <a:r>
              <a:rPr lang="fr-FR" sz="2400" dirty="0"/>
              <a:t>Malgré cette reconnaissance, rares sont les organisations qui gèrent activement leurs données comme un actif dont elles peuvent tirer une valeur continue.</a:t>
            </a:r>
          </a:p>
          <a:p>
            <a:r>
              <a:rPr lang="fr-FR" sz="2400" dirty="0"/>
              <a:t>Tirer profit des données ne se fait ni par hasard ni de manière isolée. Cela exige une intention, une planification, une coordination et un engagement. Cela requiert une gestion et un leadership efficaces.</a:t>
            </a:r>
          </a:p>
        </p:txBody>
      </p:sp>
    </p:spTree>
    <p:extLst>
      <p:ext uri="{BB962C8B-B14F-4D97-AF65-F5344CB8AC3E}">
        <p14:creationId xmlns:p14="http://schemas.microsoft.com/office/powerpoint/2010/main" val="3669483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ACFA17-6F51-2959-69D4-E7C5CF756C6B}"/>
              </a:ext>
            </a:extLst>
          </p:cNvPr>
          <p:cNvSpPr>
            <a:spLocks noGrp="1"/>
          </p:cNvSpPr>
          <p:nvPr>
            <p:ph type="title"/>
          </p:nvPr>
        </p:nvSpPr>
        <p:spPr/>
        <p:txBody>
          <a:bodyPr/>
          <a:lstStyle/>
          <a:p>
            <a:r>
              <a:rPr lang="fr-FR" dirty="0"/>
              <a:t>Data Management</a:t>
            </a:r>
          </a:p>
        </p:txBody>
      </p:sp>
      <p:sp>
        <p:nvSpPr>
          <p:cNvPr id="3" name="Espace réservé du contenu 2">
            <a:extLst>
              <a:ext uri="{FF2B5EF4-FFF2-40B4-BE49-F238E27FC236}">
                <a16:creationId xmlns:a16="http://schemas.microsoft.com/office/drawing/2014/main" id="{B2BD4BAB-B70D-4659-696F-B87C2332E092}"/>
              </a:ext>
            </a:extLst>
          </p:cNvPr>
          <p:cNvSpPr>
            <a:spLocks noGrp="1"/>
          </p:cNvSpPr>
          <p:nvPr>
            <p:ph idx="1"/>
          </p:nvPr>
        </p:nvSpPr>
        <p:spPr/>
        <p:txBody>
          <a:bodyPr/>
          <a:lstStyle/>
          <a:p>
            <a:r>
              <a:rPr lang="fr-FR" dirty="0"/>
              <a:t>La gestion des données consiste à élaborer, mettre en œuvre et superviser des plans, des politiques, des programmes et des pratiques visant à fournir, contrôler, protéger et valoriser les données et les actifs informationnels tout au long de leur cycle de vie.</a:t>
            </a:r>
          </a:p>
        </p:txBody>
      </p:sp>
    </p:spTree>
    <p:extLst>
      <p:ext uri="{BB962C8B-B14F-4D97-AF65-F5344CB8AC3E}">
        <p14:creationId xmlns:p14="http://schemas.microsoft.com/office/powerpoint/2010/main" val="1882592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604291-1CFA-7892-9627-E6F0F9AB3F02}"/>
              </a:ext>
            </a:extLst>
          </p:cNvPr>
          <p:cNvSpPr>
            <a:spLocks noGrp="1"/>
          </p:cNvSpPr>
          <p:nvPr>
            <p:ph type="title"/>
          </p:nvPr>
        </p:nvSpPr>
        <p:spPr/>
        <p:txBody>
          <a:bodyPr/>
          <a:lstStyle/>
          <a:p>
            <a:r>
              <a:rPr lang="fr-FR" dirty="0"/>
              <a:t>Le professionnel</a:t>
            </a:r>
          </a:p>
        </p:txBody>
      </p:sp>
      <p:sp>
        <p:nvSpPr>
          <p:cNvPr id="3" name="Espace réservé du contenu 2">
            <a:extLst>
              <a:ext uri="{FF2B5EF4-FFF2-40B4-BE49-F238E27FC236}">
                <a16:creationId xmlns:a16="http://schemas.microsoft.com/office/drawing/2014/main" id="{37620E4B-6EF4-0544-865F-6BA8C4804161}"/>
              </a:ext>
            </a:extLst>
          </p:cNvPr>
          <p:cNvSpPr>
            <a:spLocks noGrp="1"/>
          </p:cNvSpPr>
          <p:nvPr>
            <p:ph idx="1"/>
          </p:nvPr>
        </p:nvSpPr>
        <p:spPr/>
        <p:txBody>
          <a:bodyPr/>
          <a:lstStyle/>
          <a:p>
            <a:r>
              <a:rPr lang="fr-FR" dirty="0"/>
              <a:t>Un professionnel de la gestion des données est toute personne œuvrant dans n'importe quel aspect de la gestion des données afin d'atteindre les objectifs stratégiques de l'organisation</a:t>
            </a:r>
          </a:p>
          <a:p>
            <a:r>
              <a:rPr lang="fr-FR" dirty="0"/>
              <a:t>Ils occupent de nombreux rôles, allant des fonctions hautement techniques (administrateurs de bases de données, administrateurs réseau, programmeurs, etc.) aux fonctions stratégiques (responsables de la gestion des données, stratèges des données, directeurs des données, etc.).</a:t>
            </a:r>
          </a:p>
        </p:txBody>
      </p:sp>
    </p:spTree>
    <p:extLst>
      <p:ext uri="{BB962C8B-B14F-4D97-AF65-F5344CB8AC3E}">
        <p14:creationId xmlns:p14="http://schemas.microsoft.com/office/powerpoint/2010/main" val="162270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208367-5988-5C6F-9090-7146BFE61E47}"/>
              </a:ext>
            </a:extLst>
          </p:cNvPr>
          <p:cNvSpPr>
            <a:spLocks noGrp="1"/>
          </p:cNvSpPr>
          <p:nvPr>
            <p:ph type="title"/>
          </p:nvPr>
        </p:nvSpPr>
        <p:spPr/>
        <p:txBody>
          <a:bodyPr/>
          <a:lstStyle/>
          <a:p>
            <a:r>
              <a:rPr lang="fr-FR" dirty="0"/>
              <a:t>Vous avez dit data ?</a:t>
            </a:r>
          </a:p>
        </p:txBody>
      </p:sp>
      <p:sp>
        <p:nvSpPr>
          <p:cNvPr id="3" name="Espace réservé du contenu 2">
            <a:extLst>
              <a:ext uri="{FF2B5EF4-FFF2-40B4-BE49-F238E27FC236}">
                <a16:creationId xmlns:a16="http://schemas.microsoft.com/office/drawing/2014/main" id="{AA310301-AB1F-6B99-0255-90BDD5FAC7C2}"/>
              </a:ext>
            </a:extLst>
          </p:cNvPr>
          <p:cNvSpPr>
            <a:spLocks noGrp="1"/>
          </p:cNvSpPr>
          <p:nvPr>
            <p:ph idx="1"/>
          </p:nvPr>
        </p:nvSpPr>
        <p:spPr/>
        <p:txBody>
          <a:bodyPr/>
          <a:lstStyle/>
          <a:p>
            <a:r>
              <a:rPr lang="fr-FR" dirty="0"/>
              <a:t>Les chiffres donnent le vertige : chaque minute, environ 350 000 tweets, 15 millions de SMS et 200 millions de mails sont envoyés au niveau mondial</a:t>
            </a:r>
          </a:p>
          <a:p>
            <a:r>
              <a:rPr lang="fr-FR" dirty="0"/>
              <a:t>Pendant le même laps de temps, des dizaines d’heures de vidéos sont mises en ligne sur YouTube, des centaines de milliers de nouveaux fichiers sont archivés sur les serveurs de Facebook.</a:t>
            </a:r>
          </a:p>
        </p:txBody>
      </p:sp>
    </p:spTree>
    <p:extLst>
      <p:ext uri="{BB962C8B-B14F-4D97-AF65-F5344CB8AC3E}">
        <p14:creationId xmlns:p14="http://schemas.microsoft.com/office/powerpoint/2010/main" val="3751223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A34A68-6E93-AFEF-0D3F-FC4E3FD7EDC7}"/>
              </a:ext>
            </a:extLst>
          </p:cNvPr>
          <p:cNvSpPr>
            <a:spLocks noGrp="1"/>
          </p:cNvSpPr>
          <p:nvPr>
            <p:ph type="title"/>
          </p:nvPr>
        </p:nvSpPr>
        <p:spPr/>
        <p:txBody>
          <a:bodyPr/>
          <a:lstStyle/>
          <a:p>
            <a:r>
              <a:rPr lang="fr-FR" dirty="0"/>
              <a:t>Transformation digitale</a:t>
            </a:r>
          </a:p>
        </p:txBody>
      </p:sp>
      <p:sp>
        <p:nvSpPr>
          <p:cNvPr id="3" name="Espace réservé du contenu 2">
            <a:extLst>
              <a:ext uri="{FF2B5EF4-FFF2-40B4-BE49-F238E27FC236}">
                <a16:creationId xmlns:a16="http://schemas.microsoft.com/office/drawing/2014/main" id="{D0FDBEC0-A00D-BDB3-0D96-064DB45FEAFB}"/>
              </a:ext>
            </a:extLst>
          </p:cNvPr>
          <p:cNvSpPr>
            <a:spLocks noGrp="1"/>
          </p:cNvSpPr>
          <p:nvPr>
            <p:ph idx="1"/>
          </p:nvPr>
        </p:nvSpPr>
        <p:spPr/>
        <p:txBody>
          <a:bodyPr/>
          <a:lstStyle/>
          <a:p>
            <a:r>
              <a:rPr lang="fr-FR" dirty="0"/>
              <a:t>La transformation digitale est le phénomène de mutation lié à l'essor du numérique et d'Internet.</a:t>
            </a:r>
          </a:p>
          <a:p>
            <a:pPr lvl="1"/>
            <a:r>
              <a:rPr lang="fr-FR" dirty="0"/>
              <a:t>Cette notion vise à conceptualiser l'influence de ceux-ci sur les organisations</a:t>
            </a:r>
          </a:p>
          <a:p>
            <a:r>
              <a:rPr lang="fr-FR" dirty="0"/>
              <a:t>La transformation digitale s’inscrit donc dans le contexte actuel comme un phénomène de grande ampleur lié pour une part à la dématérialisation de certaines activités et à l’évolution concomitante de la réalité économique, technologique et sociale du travail</a:t>
            </a:r>
          </a:p>
        </p:txBody>
      </p:sp>
    </p:spTree>
    <p:extLst>
      <p:ext uri="{BB962C8B-B14F-4D97-AF65-F5344CB8AC3E}">
        <p14:creationId xmlns:p14="http://schemas.microsoft.com/office/powerpoint/2010/main" val="492626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Wikipedia</a:t>
            </a:r>
            <a:endParaRPr lang="fr-FR" dirty="0"/>
          </a:p>
        </p:txBody>
      </p:sp>
      <p:sp>
        <p:nvSpPr>
          <p:cNvPr id="3" name="Espace réservé du contenu 2"/>
          <p:cNvSpPr>
            <a:spLocks noGrp="1"/>
          </p:cNvSpPr>
          <p:nvPr>
            <p:ph idx="1"/>
          </p:nvPr>
        </p:nvSpPr>
        <p:spPr/>
        <p:txBody>
          <a:bodyPr/>
          <a:lstStyle/>
          <a:p>
            <a:r>
              <a:rPr lang="fr-FR" dirty="0"/>
              <a:t>Gouvernance des données est une stratégie d'entreprise pour gérer les données, leur flux, leurs accès, leur stockage, leur mise à jour, et leur consommation en son sein, afin d'en optimiser la valeur et l'efficience de traitement</a:t>
            </a:r>
          </a:p>
        </p:txBody>
      </p:sp>
    </p:spTree>
    <p:extLst>
      <p:ext uri="{BB962C8B-B14F-4D97-AF65-F5344CB8AC3E}">
        <p14:creationId xmlns:p14="http://schemas.microsoft.com/office/powerpoint/2010/main" val="1773936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83D643-DC94-2A0E-4CE3-D7C13FC53AA6}"/>
              </a:ext>
            </a:extLst>
          </p:cNvPr>
          <p:cNvSpPr>
            <a:spLocks noGrp="1"/>
          </p:cNvSpPr>
          <p:nvPr>
            <p:ph type="title"/>
          </p:nvPr>
        </p:nvSpPr>
        <p:spPr/>
        <p:txBody>
          <a:bodyPr/>
          <a:lstStyle/>
          <a:p>
            <a:r>
              <a:rPr lang="fr-FR" dirty="0"/>
              <a:t>Data</a:t>
            </a:r>
          </a:p>
        </p:txBody>
      </p:sp>
      <p:sp>
        <p:nvSpPr>
          <p:cNvPr id="3" name="Espace réservé du contenu 2">
            <a:extLst>
              <a:ext uri="{FF2B5EF4-FFF2-40B4-BE49-F238E27FC236}">
                <a16:creationId xmlns:a16="http://schemas.microsoft.com/office/drawing/2014/main" id="{37A47AA0-B4F0-085B-410F-AF1FD69E703F}"/>
              </a:ext>
            </a:extLst>
          </p:cNvPr>
          <p:cNvSpPr>
            <a:spLocks noGrp="1"/>
          </p:cNvSpPr>
          <p:nvPr>
            <p:ph idx="1"/>
          </p:nvPr>
        </p:nvSpPr>
        <p:spPr/>
        <p:txBody>
          <a:bodyPr/>
          <a:lstStyle/>
          <a:p>
            <a:r>
              <a:rPr lang="fr-FR" dirty="0"/>
              <a:t>Une donnée est ce qui est connu et qui sert de point de départ à un raisonnement ayant pour objet la détermination d'une solution à un problème en relation avec cette donnée</a:t>
            </a:r>
          </a:p>
          <a:p>
            <a:r>
              <a:rPr lang="fr-FR" dirty="0"/>
              <a:t>Cela peut être une description élémentaire d’une réalité, le résultat d'une comparaison entre deux événements du même ordre (mesure) soit en d'autres termes une observation ou une mesure</a:t>
            </a:r>
          </a:p>
        </p:txBody>
      </p:sp>
    </p:spTree>
    <p:extLst>
      <p:ext uri="{BB962C8B-B14F-4D97-AF65-F5344CB8AC3E}">
        <p14:creationId xmlns:p14="http://schemas.microsoft.com/office/powerpoint/2010/main" val="1505776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495775-A3A4-1428-2595-66257C6746DA}"/>
              </a:ext>
            </a:extLst>
          </p:cNvPr>
          <p:cNvSpPr>
            <a:spLocks noGrp="1"/>
          </p:cNvSpPr>
          <p:nvPr>
            <p:ph type="title"/>
          </p:nvPr>
        </p:nvSpPr>
        <p:spPr/>
        <p:txBody>
          <a:bodyPr/>
          <a:lstStyle/>
          <a:p>
            <a:r>
              <a:rPr lang="fr-FR" dirty="0"/>
              <a:t>Données brute</a:t>
            </a:r>
          </a:p>
        </p:txBody>
      </p:sp>
      <p:sp>
        <p:nvSpPr>
          <p:cNvPr id="3" name="Espace réservé du contenu 2">
            <a:extLst>
              <a:ext uri="{FF2B5EF4-FFF2-40B4-BE49-F238E27FC236}">
                <a16:creationId xmlns:a16="http://schemas.microsoft.com/office/drawing/2014/main" id="{97866D39-2CC3-EE1D-6116-BAF5460E7576}"/>
              </a:ext>
            </a:extLst>
          </p:cNvPr>
          <p:cNvSpPr>
            <a:spLocks noGrp="1"/>
          </p:cNvSpPr>
          <p:nvPr>
            <p:ph idx="1"/>
          </p:nvPr>
        </p:nvSpPr>
        <p:spPr/>
        <p:txBody>
          <a:bodyPr/>
          <a:lstStyle/>
          <a:p>
            <a:r>
              <a:rPr lang="fr-FR" dirty="0"/>
              <a:t>La donnée brute est dépourvue de tout raisonnement, supposition, constatation, probabilité. Si elle est considérée comme indiscutable ou même si elle est indiscutée par méconnaissance, elle peut servir de base à une recherche, à un examen quelconque</a:t>
            </a:r>
          </a:p>
        </p:txBody>
      </p:sp>
    </p:spTree>
    <p:extLst>
      <p:ext uri="{BB962C8B-B14F-4D97-AF65-F5344CB8AC3E}">
        <p14:creationId xmlns:p14="http://schemas.microsoft.com/office/powerpoint/2010/main" val="2347650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FD9C23-1DD7-E824-2508-BE775F664793}"/>
              </a:ext>
            </a:extLst>
          </p:cNvPr>
          <p:cNvSpPr>
            <a:spLocks noGrp="1"/>
          </p:cNvSpPr>
          <p:nvPr>
            <p:ph type="title"/>
          </p:nvPr>
        </p:nvSpPr>
        <p:spPr/>
        <p:txBody>
          <a:bodyPr/>
          <a:lstStyle/>
          <a:p>
            <a:r>
              <a:rPr lang="fr-FR" dirty="0"/>
              <a:t>La nature de la data</a:t>
            </a:r>
          </a:p>
        </p:txBody>
      </p:sp>
      <p:sp>
        <p:nvSpPr>
          <p:cNvPr id="3" name="Espace réservé du contenu 2">
            <a:extLst>
              <a:ext uri="{FF2B5EF4-FFF2-40B4-BE49-F238E27FC236}">
                <a16:creationId xmlns:a16="http://schemas.microsoft.com/office/drawing/2014/main" id="{CBCE3F68-057E-6502-99C0-2BE809D72637}"/>
              </a:ext>
            </a:extLst>
          </p:cNvPr>
          <p:cNvSpPr>
            <a:spLocks noGrp="1"/>
          </p:cNvSpPr>
          <p:nvPr>
            <p:ph idx="1"/>
          </p:nvPr>
        </p:nvSpPr>
        <p:spPr/>
        <p:txBody>
          <a:bodyPr/>
          <a:lstStyle/>
          <a:p>
            <a:r>
              <a:rPr lang="fr-FR" dirty="0"/>
              <a:t>Les données pouvant être de nature très différentes suivant leur source</a:t>
            </a:r>
          </a:p>
          <a:p>
            <a:pPr lvl="1"/>
            <a:r>
              <a:rPr lang="fr-FR" dirty="0"/>
              <a:t>Numérique, Image, Vidéo, Son, …</a:t>
            </a:r>
          </a:p>
          <a:p>
            <a:r>
              <a:rPr lang="fr-FR" dirty="0"/>
              <a:t>Elles doivent souvent faire l'objet d'une transformation préalable avant traitement</a:t>
            </a:r>
          </a:p>
          <a:p>
            <a:pPr lvl="1"/>
            <a:r>
              <a:rPr lang="fr-FR" dirty="0"/>
              <a:t>Image vers mesure</a:t>
            </a:r>
          </a:p>
          <a:p>
            <a:pPr lvl="1"/>
            <a:r>
              <a:rPr lang="fr-FR" dirty="0"/>
              <a:t>Capteur numérique vers CSV</a:t>
            </a:r>
          </a:p>
          <a:p>
            <a:pPr lvl="1"/>
            <a:r>
              <a:rPr lang="fr-FR"/>
              <a:t>…</a:t>
            </a:r>
            <a:endParaRPr lang="fr-FR" dirty="0"/>
          </a:p>
        </p:txBody>
      </p:sp>
    </p:spTree>
    <p:extLst>
      <p:ext uri="{BB962C8B-B14F-4D97-AF65-F5344CB8AC3E}">
        <p14:creationId xmlns:p14="http://schemas.microsoft.com/office/powerpoint/2010/main" val="2184804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533FEF-A039-1AAB-130A-327470C63E3A}"/>
              </a:ext>
            </a:extLst>
          </p:cNvPr>
          <p:cNvSpPr>
            <a:spLocks noGrp="1"/>
          </p:cNvSpPr>
          <p:nvPr>
            <p:ph type="title"/>
          </p:nvPr>
        </p:nvSpPr>
        <p:spPr/>
        <p:txBody>
          <a:bodyPr/>
          <a:lstStyle/>
          <a:p>
            <a:r>
              <a:rPr lang="fr-FR" dirty="0"/>
              <a:t>Buts</a:t>
            </a:r>
          </a:p>
        </p:txBody>
      </p:sp>
      <p:sp>
        <p:nvSpPr>
          <p:cNvPr id="3" name="Espace réservé du contenu 2">
            <a:extLst>
              <a:ext uri="{FF2B5EF4-FFF2-40B4-BE49-F238E27FC236}">
                <a16:creationId xmlns:a16="http://schemas.microsoft.com/office/drawing/2014/main" id="{2A8C3A89-4D16-7A1A-D1D8-535E675AD2BA}"/>
              </a:ext>
            </a:extLst>
          </p:cNvPr>
          <p:cNvSpPr>
            <a:spLocks noGrp="1"/>
          </p:cNvSpPr>
          <p:nvPr>
            <p:ph idx="1"/>
          </p:nvPr>
        </p:nvSpPr>
        <p:spPr/>
        <p:txBody>
          <a:bodyPr/>
          <a:lstStyle/>
          <a:p>
            <a:r>
              <a:rPr lang="fr-FR" sz="2400" dirty="0"/>
              <a:t>Comprendre et répondre aux besoins d'information de l'entreprise et de ses parties prenantes, notamment les clients, les employés et les partenaires commerciaux.</a:t>
            </a:r>
          </a:p>
          <a:p>
            <a:r>
              <a:rPr lang="fr-FR" sz="2400" dirty="0"/>
              <a:t>Collecter, stocker, protéger et garantir l'intégrité des données.</a:t>
            </a:r>
          </a:p>
          <a:p>
            <a:r>
              <a:rPr lang="fr-FR" sz="2400" dirty="0"/>
              <a:t>Assurer la qualité des données et des informations.</a:t>
            </a:r>
          </a:p>
          <a:p>
            <a:r>
              <a:rPr lang="fr-FR" sz="2400" dirty="0"/>
              <a:t>Garantir la confidentialité des données des parties prenantes.</a:t>
            </a:r>
          </a:p>
          <a:p>
            <a:r>
              <a:rPr lang="fr-FR" sz="2400" dirty="0"/>
              <a:t>Prévenir tout accès, manipulation ou utilisation non autorisés ou inappropriés des données et des informations.</a:t>
            </a:r>
          </a:p>
          <a:p>
            <a:r>
              <a:rPr lang="fr-FR" sz="2400" dirty="0"/>
              <a:t>Garantir une utilisation efficace des données pour créer de la valeur ajoutée pour l'entreprise.</a:t>
            </a:r>
          </a:p>
        </p:txBody>
      </p:sp>
    </p:spTree>
    <p:extLst>
      <p:ext uri="{BB962C8B-B14F-4D97-AF65-F5344CB8AC3E}">
        <p14:creationId xmlns:p14="http://schemas.microsoft.com/office/powerpoint/2010/main" val="3142482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EF4CAF-379D-926D-73CA-333077542363}"/>
              </a:ext>
            </a:extLst>
          </p:cNvPr>
          <p:cNvSpPr>
            <a:spLocks noGrp="1"/>
          </p:cNvSpPr>
          <p:nvPr>
            <p:ph type="title"/>
          </p:nvPr>
        </p:nvSpPr>
        <p:spPr/>
        <p:txBody>
          <a:bodyPr/>
          <a:lstStyle/>
          <a:p>
            <a:r>
              <a:rPr lang="fr-FR" dirty="0"/>
              <a:t>Exemples d’exploitation</a:t>
            </a:r>
          </a:p>
        </p:txBody>
      </p:sp>
      <p:sp>
        <p:nvSpPr>
          <p:cNvPr id="3" name="Espace réservé du contenu 2">
            <a:extLst>
              <a:ext uri="{FF2B5EF4-FFF2-40B4-BE49-F238E27FC236}">
                <a16:creationId xmlns:a16="http://schemas.microsoft.com/office/drawing/2014/main" id="{25D5A50A-B9F0-842D-52C1-33DBC4B5D60E}"/>
              </a:ext>
            </a:extLst>
          </p:cNvPr>
          <p:cNvSpPr>
            <a:spLocks noGrp="1"/>
          </p:cNvSpPr>
          <p:nvPr>
            <p:ph idx="1"/>
          </p:nvPr>
        </p:nvSpPr>
        <p:spPr/>
        <p:txBody>
          <a:bodyPr/>
          <a:lstStyle/>
          <a:p>
            <a:r>
              <a:rPr lang="fr-FR" dirty="0"/>
              <a:t>A vous</a:t>
            </a:r>
          </a:p>
        </p:txBody>
      </p:sp>
    </p:spTree>
    <p:extLst>
      <p:ext uri="{BB962C8B-B14F-4D97-AF65-F5344CB8AC3E}">
        <p14:creationId xmlns:p14="http://schemas.microsoft.com/office/powerpoint/2010/main" val="1392523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0C81AD-6FA8-CF68-56BE-9CE0E08C96F3}"/>
              </a:ext>
            </a:extLst>
          </p:cNvPr>
          <p:cNvSpPr>
            <a:spLocks noGrp="1"/>
          </p:cNvSpPr>
          <p:nvPr>
            <p:ph type="title"/>
          </p:nvPr>
        </p:nvSpPr>
        <p:spPr/>
        <p:txBody>
          <a:bodyPr/>
          <a:lstStyle/>
          <a:p>
            <a:r>
              <a:rPr lang="fr-FR" dirty="0"/>
              <a:t>Vue historique</a:t>
            </a:r>
          </a:p>
        </p:txBody>
      </p:sp>
      <p:sp>
        <p:nvSpPr>
          <p:cNvPr id="3" name="Espace réservé du contenu 2">
            <a:extLst>
              <a:ext uri="{FF2B5EF4-FFF2-40B4-BE49-F238E27FC236}">
                <a16:creationId xmlns:a16="http://schemas.microsoft.com/office/drawing/2014/main" id="{5A6632A6-9481-A19A-030C-D3B0EE122499}"/>
              </a:ext>
            </a:extLst>
          </p:cNvPr>
          <p:cNvSpPr>
            <a:spLocks noGrp="1"/>
          </p:cNvSpPr>
          <p:nvPr>
            <p:ph idx="1"/>
          </p:nvPr>
        </p:nvSpPr>
        <p:spPr/>
        <p:txBody>
          <a:bodyPr/>
          <a:lstStyle/>
          <a:p>
            <a:endParaRPr lang="fr-FR" dirty="0"/>
          </a:p>
        </p:txBody>
      </p:sp>
      <p:pic>
        <p:nvPicPr>
          <p:cNvPr id="5" name="Image 4">
            <a:extLst>
              <a:ext uri="{FF2B5EF4-FFF2-40B4-BE49-F238E27FC236}">
                <a16:creationId xmlns:a16="http://schemas.microsoft.com/office/drawing/2014/main" id="{3CAFA0FD-19FD-B029-9A2B-9FFD2D17BFFA}"/>
              </a:ext>
            </a:extLst>
          </p:cNvPr>
          <p:cNvPicPr>
            <a:picLocks noChangeAspect="1"/>
          </p:cNvPicPr>
          <p:nvPr/>
        </p:nvPicPr>
        <p:blipFill>
          <a:blip r:embed="rId2"/>
          <a:stretch>
            <a:fillRect/>
          </a:stretch>
        </p:blipFill>
        <p:spPr>
          <a:xfrm>
            <a:off x="430171" y="2640261"/>
            <a:ext cx="8283658" cy="1577477"/>
          </a:xfrm>
          <a:prstGeom prst="rect">
            <a:avLst/>
          </a:prstGeom>
        </p:spPr>
      </p:pic>
    </p:spTree>
    <p:extLst>
      <p:ext uri="{BB962C8B-B14F-4D97-AF65-F5344CB8AC3E}">
        <p14:creationId xmlns:p14="http://schemas.microsoft.com/office/powerpoint/2010/main" val="2356202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02CD63-4670-FCCA-5181-6B9448837695}"/>
              </a:ext>
            </a:extLst>
          </p:cNvPr>
          <p:cNvSpPr>
            <a:spLocks noGrp="1"/>
          </p:cNvSpPr>
          <p:nvPr>
            <p:ph type="title"/>
          </p:nvPr>
        </p:nvSpPr>
        <p:spPr/>
        <p:txBody>
          <a:bodyPr/>
          <a:lstStyle/>
          <a:p>
            <a:r>
              <a:rPr lang="fr-FR" dirty="0"/>
              <a:t>Plan du cours</a:t>
            </a:r>
          </a:p>
        </p:txBody>
      </p:sp>
      <p:sp>
        <p:nvSpPr>
          <p:cNvPr id="3" name="Espace réservé du contenu 2">
            <a:extLst>
              <a:ext uri="{FF2B5EF4-FFF2-40B4-BE49-F238E27FC236}">
                <a16:creationId xmlns:a16="http://schemas.microsoft.com/office/drawing/2014/main" id="{1473E258-2099-EBCC-18C9-771A4990BCDC}"/>
              </a:ext>
            </a:extLst>
          </p:cNvPr>
          <p:cNvSpPr>
            <a:spLocks noGrp="1"/>
          </p:cNvSpPr>
          <p:nvPr>
            <p:ph idx="1"/>
          </p:nvPr>
        </p:nvSpPr>
        <p:spPr/>
        <p:txBody>
          <a:bodyPr/>
          <a:lstStyle/>
          <a:p>
            <a:endParaRPr lang="fr-FR" dirty="0"/>
          </a:p>
        </p:txBody>
      </p:sp>
      <p:pic>
        <p:nvPicPr>
          <p:cNvPr id="5" name="Image 4" descr="Une image contenant texte, capture d’écran, Police, conception&#10;&#10;Le contenu généré par l’IA peut être incorrect.">
            <a:extLst>
              <a:ext uri="{FF2B5EF4-FFF2-40B4-BE49-F238E27FC236}">
                <a16:creationId xmlns:a16="http://schemas.microsoft.com/office/drawing/2014/main" id="{9C2E243A-7311-CED0-91EF-5BB5FF95EC61}"/>
              </a:ext>
            </a:extLst>
          </p:cNvPr>
          <p:cNvPicPr>
            <a:picLocks noChangeAspect="1"/>
          </p:cNvPicPr>
          <p:nvPr/>
        </p:nvPicPr>
        <p:blipFill>
          <a:blip r:embed="rId2"/>
          <a:stretch>
            <a:fillRect/>
          </a:stretch>
        </p:blipFill>
        <p:spPr>
          <a:xfrm>
            <a:off x="1835696" y="955597"/>
            <a:ext cx="6033028" cy="5889194"/>
          </a:xfrm>
          <a:prstGeom prst="rect">
            <a:avLst/>
          </a:prstGeom>
        </p:spPr>
      </p:pic>
    </p:spTree>
    <p:extLst>
      <p:ext uri="{BB962C8B-B14F-4D97-AF65-F5344CB8AC3E}">
        <p14:creationId xmlns:p14="http://schemas.microsoft.com/office/powerpoint/2010/main" val="245226791"/>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3643</TotalTime>
  <Words>659</Words>
  <Application>Microsoft Office PowerPoint</Application>
  <PresentationFormat>Affichage à l'écran (4:3)</PresentationFormat>
  <Paragraphs>46</Paragraphs>
  <Slides>14</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14</vt:i4>
      </vt:variant>
    </vt:vector>
  </HeadingPairs>
  <TitlesOfParts>
    <vt:vector size="18" baseType="lpstr">
      <vt:lpstr>Arial</vt:lpstr>
      <vt:lpstr>Monotype Sorts</vt:lpstr>
      <vt:lpstr>Times New Roman</vt:lpstr>
      <vt:lpstr>cvc</vt:lpstr>
      <vt:lpstr>Présentation PowerPoint</vt:lpstr>
      <vt:lpstr>Intro</vt:lpstr>
      <vt:lpstr>Data Management</vt:lpstr>
      <vt:lpstr>Le professionnel</vt:lpstr>
      <vt:lpstr>Vous avez dit data ?</vt:lpstr>
      <vt:lpstr>Transformation digitale</vt:lpstr>
      <vt:lpstr>Wikipedia</vt:lpstr>
      <vt:lpstr>Data</vt:lpstr>
      <vt:lpstr>Données brute</vt:lpstr>
      <vt:lpstr>La nature de la data</vt:lpstr>
      <vt:lpstr>Buts</vt:lpstr>
      <vt:lpstr>Exemples d’exploitation</vt:lpstr>
      <vt:lpstr>Vue historique</vt:lpstr>
      <vt:lpstr>Plan du cours</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245</cp:revision>
  <dcterms:created xsi:type="dcterms:W3CDTF">2000-04-10T19:33:12Z</dcterms:created>
  <dcterms:modified xsi:type="dcterms:W3CDTF">2025-12-28T20:48:28Z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