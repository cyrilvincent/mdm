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60"/>
  </p:notesMasterIdLst>
  <p:handoutMasterIdLst>
    <p:handoutMasterId r:id="rId61"/>
  </p:handoutMasterIdLst>
  <p:sldIdLst>
    <p:sldId id="264" r:id="rId2"/>
    <p:sldId id="265" r:id="rId3"/>
    <p:sldId id="266" r:id="rId4"/>
    <p:sldId id="267" r:id="rId5"/>
    <p:sldId id="268" r:id="rId6"/>
    <p:sldId id="275" r:id="rId7"/>
    <p:sldId id="276" r:id="rId8"/>
    <p:sldId id="258" r:id="rId9"/>
    <p:sldId id="260" r:id="rId10"/>
    <p:sldId id="261" r:id="rId11"/>
    <p:sldId id="263" r:id="rId12"/>
    <p:sldId id="289" r:id="rId13"/>
    <p:sldId id="287" r:id="rId14"/>
    <p:sldId id="290" r:id="rId15"/>
    <p:sldId id="284" r:id="rId16"/>
    <p:sldId id="285" r:id="rId17"/>
    <p:sldId id="291" r:id="rId18"/>
    <p:sldId id="294" r:id="rId19"/>
    <p:sldId id="293" r:id="rId20"/>
    <p:sldId id="295" r:id="rId21"/>
    <p:sldId id="296" r:id="rId22"/>
    <p:sldId id="297" r:id="rId23"/>
    <p:sldId id="262" r:id="rId24"/>
    <p:sldId id="298" r:id="rId25"/>
    <p:sldId id="299" r:id="rId26"/>
    <p:sldId id="270" r:id="rId27"/>
    <p:sldId id="271" r:id="rId28"/>
    <p:sldId id="303" r:id="rId29"/>
    <p:sldId id="305" r:id="rId30"/>
    <p:sldId id="307" r:id="rId31"/>
    <p:sldId id="308" r:id="rId32"/>
    <p:sldId id="309" r:id="rId33"/>
    <p:sldId id="310" r:id="rId34"/>
    <p:sldId id="269" r:id="rId35"/>
    <p:sldId id="311" r:id="rId36"/>
    <p:sldId id="316" r:id="rId37"/>
    <p:sldId id="317" r:id="rId38"/>
    <p:sldId id="259" r:id="rId39"/>
    <p:sldId id="278" r:id="rId40"/>
    <p:sldId id="279" r:id="rId41"/>
    <p:sldId id="280" r:id="rId42"/>
    <p:sldId id="328" r:id="rId43"/>
    <p:sldId id="329" r:id="rId44"/>
    <p:sldId id="330" r:id="rId45"/>
    <p:sldId id="340" r:id="rId46"/>
    <p:sldId id="341" r:id="rId47"/>
    <p:sldId id="344" r:id="rId48"/>
    <p:sldId id="345" r:id="rId49"/>
    <p:sldId id="346" r:id="rId50"/>
    <p:sldId id="348" r:id="rId51"/>
    <p:sldId id="349" r:id="rId52"/>
    <p:sldId id="350" r:id="rId53"/>
    <p:sldId id="351" r:id="rId54"/>
    <p:sldId id="352" r:id="rId55"/>
    <p:sldId id="353" r:id="rId56"/>
    <p:sldId id="354" r:id="rId57"/>
    <p:sldId id="355" r:id="rId58"/>
    <p:sldId id="356" r:id="rId59"/>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slide" Target="slides/slide35.xml"/><Relationship Id="rId1" Type="http://schemas.openxmlformats.org/officeDocument/2006/relationships/slide" Target="slides/slide15.xml"/><Relationship Id="rId5" Type="http://schemas.openxmlformats.org/officeDocument/2006/relationships/slide" Target="slides/slide45.xml"/><Relationship Id="rId4"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4B139386-60C6-4679-8C8D-180A14E71E06}" type="slidenum">
              <a:rPr lang="fr-FR" altLang="fr-FR"/>
              <a:pPr/>
              <a:t>21</a:t>
            </a:fld>
            <a:endParaRPr lang="fr-FR" altLang="fr-FR"/>
          </a:p>
        </p:txBody>
      </p:sp>
      <p:sp>
        <p:nvSpPr>
          <p:cNvPr id="107522" name="Rectangle 2"/>
          <p:cNvSpPr>
            <a:spLocks noGrp="1" noRot="1" noChangeAspect="1" noChangeArrowheads="1" noTextEdit="1"/>
          </p:cNvSpPr>
          <p:nvPr>
            <p:ph type="sldImg"/>
          </p:nvPr>
        </p:nvSpPr>
        <p:spPr>
          <a:xfrm>
            <a:off x="592138" y="606425"/>
            <a:ext cx="5619750" cy="4214813"/>
          </a:xfrm>
          <a:ln/>
        </p:spPr>
      </p:sp>
      <p:sp>
        <p:nvSpPr>
          <p:cNvPr id="107523" name="Rectangle 3"/>
          <p:cNvSpPr>
            <a:spLocks noGrp="1" noChangeArrowheads="1"/>
          </p:cNvSpPr>
          <p:nvPr>
            <p:ph type="body" idx="1"/>
          </p:nvPr>
        </p:nvSpPr>
        <p:spPr>
          <a:xfrm>
            <a:off x="906463" y="4689475"/>
            <a:ext cx="4983162" cy="4441825"/>
          </a:xfrm>
          <a:prstGeom prst="rect">
            <a:avLst/>
          </a:prstGeom>
        </p:spPr>
        <p:txBody>
          <a:bodyPr/>
          <a:lstStyle/>
          <a:p>
            <a:r>
              <a:rPr lang="fr-FR" altLang="fr-FR"/>
              <a:t>A process such as UP would prescribe the order in which you should use the elements of the language and how you should manage its use.</a:t>
            </a:r>
          </a:p>
          <a:p>
            <a:endParaRPr lang="fr-FR" altLang="fr-FR"/>
          </a:p>
        </p:txBody>
      </p:sp>
    </p:spTree>
    <p:extLst>
      <p:ext uri="{BB962C8B-B14F-4D97-AF65-F5344CB8AC3E}">
        <p14:creationId xmlns:p14="http://schemas.microsoft.com/office/powerpoint/2010/main" val="1257520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3CB8CB73-CAB3-497D-95E6-0D0B1B4A9461}" type="slidenum">
              <a:rPr lang="fr-FR" altLang="fr-FR"/>
              <a:pPr/>
              <a:t>22</a:t>
            </a:fld>
            <a:endParaRPr lang="fr-FR" altLang="fr-FR"/>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a:xfrm>
            <a:off x="906463" y="4689475"/>
            <a:ext cx="4983162" cy="4441825"/>
          </a:xfrm>
          <a:prstGeom prst="rect">
            <a:avLst/>
          </a:prstGeom>
        </p:spPr>
        <p:txBody>
          <a:bodyPr/>
          <a:lstStyle/>
          <a:p>
            <a:endParaRPr lang="fr-FR" altLang="fr-FR"/>
          </a:p>
        </p:txBody>
      </p:sp>
    </p:spTree>
    <p:extLst>
      <p:ext uri="{BB962C8B-B14F-4D97-AF65-F5344CB8AC3E}">
        <p14:creationId xmlns:p14="http://schemas.microsoft.com/office/powerpoint/2010/main" val="3503468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8E7F222D-5CCA-4CCE-997C-893ECC10B144}" type="slidenum">
              <a:rPr lang="fr-FR" altLang="fr-FR"/>
              <a:pPr/>
              <a:t>23</a:t>
            </a:fld>
            <a:endParaRPr lang="fr-FR" altLang="fr-FR"/>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xfrm>
            <a:off x="906463" y="4689475"/>
            <a:ext cx="4983162" cy="4441825"/>
          </a:xfrm>
          <a:prstGeom prst="rect">
            <a:avLst/>
          </a:prstGeom>
        </p:spPr>
        <p:txBody>
          <a:bodyPr/>
          <a:lstStyle/>
          <a:p>
            <a:endParaRPr lang="fr-FR" altLang="fr-FR"/>
          </a:p>
        </p:txBody>
      </p:sp>
    </p:spTree>
    <p:extLst>
      <p:ext uri="{BB962C8B-B14F-4D97-AF65-F5344CB8AC3E}">
        <p14:creationId xmlns:p14="http://schemas.microsoft.com/office/powerpoint/2010/main" val="265313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D74A1996-3EC9-47A8-B810-676CBAB2B366}" type="slidenum">
              <a:rPr lang="fr-FR" altLang="fr-FR"/>
              <a:pPr/>
              <a:t>24</a:t>
            </a:fld>
            <a:endParaRPr lang="fr-FR" altLang="fr-FR"/>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xfrm>
            <a:off x="906463" y="4689475"/>
            <a:ext cx="4983162" cy="4441825"/>
          </a:xfrm>
          <a:prstGeom prst="rect">
            <a:avLst/>
          </a:prstGeom>
        </p:spPr>
        <p:txBody>
          <a:bodyPr/>
          <a:lstStyle/>
          <a:p>
            <a:endParaRPr lang="fr-FR" altLang="fr-FR"/>
          </a:p>
        </p:txBody>
      </p:sp>
    </p:spTree>
    <p:extLst>
      <p:ext uri="{BB962C8B-B14F-4D97-AF65-F5344CB8AC3E}">
        <p14:creationId xmlns:p14="http://schemas.microsoft.com/office/powerpoint/2010/main" val="1884360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A9289FD9-F239-4540-A5A6-23747A1758CD}" type="slidenum">
              <a:rPr lang="fr-FR" altLang="fr-FR"/>
              <a:pPr/>
              <a:t>25</a:t>
            </a:fld>
            <a:endParaRPr lang="fr-FR" altLang="fr-FR"/>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xfrm>
            <a:off x="906463" y="4689475"/>
            <a:ext cx="4983162" cy="4441825"/>
          </a:xfrm>
          <a:prstGeom prst="rect">
            <a:avLst/>
          </a:prstGeom>
        </p:spPr>
        <p:txBody>
          <a:bodyPr/>
          <a:lstStyle/>
          <a:p>
            <a:r>
              <a:rPr lang="fr-FR" altLang="fr-FR"/>
              <a:t>UML is the standard diagram notation for communication in OO magazines.</a:t>
            </a:r>
          </a:p>
          <a:p>
            <a:endParaRPr lang="fr-FR" altLang="fr-FR"/>
          </a:p>
        </p:txBody>
      </p:sp>
    </p:spTree>
    <p:extLst>
      <p:ext uri="{BB962C8B-B14F-4D97-AF65-F5344CB8AC3E}">
        <p14:creationId xmlns:p14="http://schemas.microsoft.com/office/powerpoint/2010/main" val="1815209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4906CA89-7726-4E5E-AA9D-75F442097AEF}" type="slidenum">
              <a:rPr lang="fr-FR" altLang="fr-FR"/>
              <a:pPr/>
              <a:t>26</a:t>
            </a:fld>
            <a:endParaRPr lang="fr-FR" altLang="fr-FR"/>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a:xfrm>
            <a:off x="906463" y="4689475"/>
            <a:ext cx="4983162" cy="4441825"/>
          </a:xfrm>
          <a:prstGeom prst="rect">
            <a:avLst/>
          </a:prstGeom>
        </p:spPr>
        <p:txBody>
          <a:bodyPr/>
          <a:lstStyle/>
          <a:p>
            <a:endParaRPr lang="fr-FR" altLang="fr-FR"/>
          </a:p>
        </p:txBody>
      </p:sp>
    </p:spTree>
    <p:extLst>
      <p:ext uri="{BB962C8B-B14F-4D97-AF65-F5344CB8AC3E}">
        <p14:creationId xmlns:p14="http://schemas.microsoft.com/office/powerpoint/2010/main" val="1425614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1275" y="9377363"/>
            <a:ext cx="2944813" cy="493712"/>
          </a:xfrm>
          <a:prstGeom prst="rect">
            <a:avLst/>
          </a:prstGeom>
          <a:ln/>
        </p:spPr>
        <p:txBody>
          <a:bodyPr/>
          <a:lstStyle/>
          <a:p>
            <a:fld id="{36DAAF69-5F5F-4477-9F01-5E4063237C6A}" type="slidenum">
              <a:rPr lang="fr-FR" altLang="fr-FR"/>
              <a:pPr/>
              <a:t>27</a:t>
            </a:fld>
            <a:endParaRPr lang="fr-FR" altLang="fr-FR"/>
          </a:p>
        </p:txBody>
      </p:sp>
      <p:sp>
        <p:nvSpPr>
          <p:cNvPr id="122882" name="Rectangle 2"/>
          <p:cNvSpPr>
            <a:spLocks noGrp="1" noRot="1" noChangeAspect="1" noChangeArrowheads="1" noTextEdit="1"/>
          </p:cNvSpPr>
          <p:nvPr>
            <p:ph type="sldImg"/>
          </p:nvPr>
        </p:nvSpPr>
        <p:spPr>
          <a:xfrm>
            <a:off x="877888" y="733425"/>
            <a:ext cx="4892675" cy="3670300"/>
          </a:xfrm>
          <a:ln/>
        </p:spPr>
      </p:sp>
      <p:sp>
        <p:nvSpPr>
          <p:cNvPr id="122883" name="Rectangle 3"/>
          <p:cNvSpPr>
            <a:spLocks noGrp="1" noChangeArrowheads="1"/>
          </p:cNvSpPr>
          <p:nvPr>
            <p:ph type="body" idx="1"/>
          </p:nvPr>
        </p:nvSpPr>
        <p:spPr>
          <a:xfrm>
            <a:off x="906463" y="4689475"/>
            <a:ext cx="4983162" cy="4441825"/>
          </a:xfrm>
          <a:prstGeom prst="rect">
            <a:avLst/>
          </a:prstGeom>
        </p:spPr>
        <p:txBody>
          <a:bodyPr/>
          <a:lstStyle/>
          <a:p>
            <a:r>
              <a:rPr lang="fr-FR" altLang="fr-FR"/>
              <a:t>If you can name all nine diagrams at this point without taking a breath it can impress the attendees.</a:t>
            </a:r>
          </a:p>
          <a:p>
            <a:r>
              <a:rPr lang="fr-FR" altLang="fr-FR"/>
              <a:t> </a:t>
            </a:r>
          </a:p>
          <a:p>
            <a:r>
              <a:rPr lang="fr-FR" altLang="fr-FR"/>
              <a:t>Explain that the majority of the diagrams are drawn using Together, which gives the most faithful representation of UML 1.3 of the three tools we have. I believe that what the tool supports is more relevant to most people than what the standard says. By all means point out discrepancies where you see them, but as points of interest rather than deficiencies in either the tool or the standard.</a:t>
            </a:r>
          </a:p>
          <a:p>
            <a:endParaRPr lang="fr-FR" altLang="fr-FR"/>
          </a:p>
        </p:txBody>
      </p:sp>
    </p:spTree>
    <p:extLst>
      <p:ext uri="{BB962C8B-B14F-4D97-AF65-F5344CB8AC3E}">
        <p14:creationId xmlns:p14="http://schemas.microsoft.com/office/powerpoint/2010/main" val="476993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B20BFD64-DB62-45AC-AF16-EFC8A6882F48}" type="slidenum">
              <a:rPr lang="fr-FR" altLang="fr-FR"/>
              <a:pPr/>
              <a:t>28</a:t>
            </a:fld>
            <a:endParaRPr lang="fr-FR" altLang="fr-FR"/>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18890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60B7BF8C-6895-4AB3-BF48-AE8A89AAC4D8}" type="slidenum">
              <a:rPr lang="fr-FR" altLang="fr-FR"/>
              <a:pPr/>
              <a:t>29</a:t>
            </a:fld>
            <a:endParaRPr lang="fr-FR" altLang="fr-FR"/>
          </a:p>
        </p:txBody>
      </p:sp>
      <p:sp>
        <p:nvSpPr>
          <p:cNvPr id="100354" name="Rectangle 2"/>
          <p:cNvSpPr>
            <a:spLocks noGrp="1" noRot="1" noChangeAspect="1" noChangeArrowheads="1" noTextEdit="1"/>
          </p:cNvSpPr>
          <p:nvPr>
            <p:ph type="sldImg"/>
          </p:nvPr>
        </p:nvSpPr>
        <p:spPr>
          <a:xfrm>
            <a:off x="592138" y="606425"/>
            <a:ext cx="5619750" cy="4214813"/>
          </a:xfrm>
          <a:ln/>
        </p:spPr>
      </p:sp>
      <p:sp>
        <p:nvSpPr>
          <p:cNvPr id="1003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73507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AFF69195-EC55-4EEF-A8E6-A579DCC58E3A}" type="slidenum">
              <a:rPr lang="fr-FR" altLang="fr-FR"/>
              <a:pPr/>
              <a:t>30</a:t>
            </a:fld>
            <a:endParaRPr lang="fr-FR" altLang="fr-FR"/>
          </a:p>
        </p:txBody>
      </p:sp>
      <p:sp>
        <p:nvSpPr>
          <p:cNvPr id="104450" name="Rectangle 2"/>
          <p:cNvSpPr>
            <a:spLocks noGrp="1" noRot="1" noChangeAspect="1" noChangeArrowheads="1" noTextEdit="1"/>
          </p:cNvSpPr>
          <p:nvPr>
            <p:ph type="sldImg"/>
          </p:nvPr>
        </p:nvSpPr>
        <p:spPr>
          <a:xfrm>
            <a:off x="592138" y="606425"/>
            <a:ext cx="5619750" cy="4214813"/>
          </a:xfrm>
          <a:ln/>
        </p:spPr>
      </p:sp>
      <p:sp>
        <p:nvSpPr>
          <p:cNvPr id="10445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44451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6264C3F1-A022-4A1F-BD2C-E466553D60C5}" type="slidenum">
              <a:rPr lang="fr-FR" altLang="fr-FR"/>
              <a:pPr/>
              <a:t>31</a:t>
            </a:fld>
            <a:endParaRPr lang="fr-FR" altLang="fr-FR"/>
          </a:p>
        </p:txBody>
      </p:sp>
      <p:sp>
        <p:nvSpPr>
          <p:cNvPr id="105474" name="Rectangle 2"/>
          <p:cNvSpPr>
            <a:spLocks noGrp="1" noRot="1" noChangeAspect="1" noChangeArrowheads="1" noTextEdit="1"/>
          </p:cNvSpPr>
          <p:nvPr>
            <p:ph type="sldImg"/>
          </p:nvPr>
        </p:nvSpPr>
        <p:spPr>
          <a:xfrm>
            <a:off x="592138" y="606425"/>
            <a:ext cx="5619750" cy="4214813"/>
          </a:xfrm>
          <a:ln/>
        </p:spPr>
      </p:sp>
      <p:sp>
        <p:nvSpPr>
          <p:cNvPr id="105475" name="Rectangle 3"/>
          <p:cNvSpPr>
            <a:spLocks noGrp="1" noChangeArrowheads="1"/>
          </p:cNvSpPr>
          <p:nvPr>
            <p:ph type="body" idx="1"/>
          </p:nvPr>
        </p:nvSpPr>
        <p:spPr>
          <a:xfrm>
            <a:off x="914400" y="4343400"/>
            <a:ext cx="5029200" cy="4114800"/>
          </a:xfrm>
          <a:prstGeom prst="rect">
            <a:avLst/>
          </a:prstGeom>
        </p:spPr>
        <p:txBody>
          <a:bodyPr/>
          <a:lstStyle/>
          <a:p>
            <a:r>
              <a:rPr lang="fr-FR" altLang="fr-FR"/>
              <a:t>Actors are not described like classes by listing their attributes and operations but by a paragraph of text.</a:t>
            </a:r>
          </a:p>
          <a:p>
            <a:endParaRPr lang="fr-FR" altLang="fr-FR"/>
          </a:p>
        </p:txBody>
      </p:sp>
    </p:spTree>
    <p:extLst>
      <p:ext uri="{BB962C8B-B14F-4D97-AF65-F5344CB8AC3E}">
        <p14:creationId xmlns:p14="http://schemas.microsoft.com/office/powerpoint/2010/main" val="1989846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07ED47B3-2753-4CA9-B846-8D4C6565B990}" type="slidenum">
              <a:rPr lang="fr-FR" altLang="fr-FR"/>
              <a:pPr/>
              <a:t>32</a:t>
            </a:fld>
            <a:endParaRPr lang="fr-FR" altLang="fr-FR"/>
          </a:p>
        </p:txBody>
      </p:sp>
      <p:sp>
        <p:nvSpPr>
          <p:cNvPr id="106498" name="Rectangle 2"/>
          <p:cNvSpPr>
            <a:spLocks noGrp="1" noRot="1" noChangeAspect="1" noChangeArrowheads="1" noTextEdit="1"/>
          </p:cNvSpPr>
          <p:nvPr>
            <p:ph type="sldImg"/>
          </p:nvPr>
        </p:nvSpPr>
        <p:spPr>
          <a:xfrm>
            <a:off x="592138" y="606425"/>
            <a:ext cx="5619750" cy="4214813"/>
          </a:xfrm>
          <a:ln/>
        </p:spPr>
      </p:sp>
      <p:sp>
        <p:nvSpPr>
          <p:cNvPr id="106499" name="Rectangle 3"/>
          <p:cNvSpPr>
            <a:spLocks noGrp="1" noChangeArrowheads="1"/>
          </p:cNvSpPr>
          <p:nvPr>
            <p:ph type="body" idx="1"/>
          </p:nvPr>
        </p:nvSpPr>
        <p:spPr>
          <a:xfrm>
            <a:off x="914400" y="4343400"/>
            <a:ext cx="5029200" cy="4114800"/>
          </a:xfrm>
          <a:prstGeom prst="rect">
            <a:avLst/>
          </a:prstGeom>
        </p:spPr>
        <p:txBody>
          <a:bodyPr/>
          <a:lstStyle/>
          <a:p>
            <a:r>
              <a:rPr lang="fr-FR" altLang="fr-FR"/>
              <a:t>Use cases can also be used to help specify the test cases.</a:t>
            </a:r>
          </a:p>
          <a:p>
            <a:endParaRPr lang="fr-FR" altLang="fr-FR"/>
          </a:p>
        </p:txBody>
      </p:sp>
    </p:spTree>
    <p:extLst>
      <p:ext uri="{BB962C8B-B14F-4D97-AF65-F5344CB8AC3E}">
        <p14:creationId xmlns:p14="http://schemas.microsoft.com/office/powerpoint/2010/main" val="1130274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DF81E267-DA78-4F7A-9D0A-F2AD52767CD5}" type="slidenum">
              <a:rPr lang="fr-FR" altLang="fr-FR"/>
              <a:pPr/>
              <a:t>33</a:t>
            </a:fld>
            <a:endParaRPr lang="fr-FR" altLang="fr-FR"/>
          </a:p>
        </p:txBody>
      </p:sp>
      <p:sp>
        <p:nvSpPr>
          <p:cNvPr id="107522" name="Rectangle 2"/>
          <p:cNvSpPr>
            <a:spLocks noGrp="1" noRot="1" noChangeAspect="1" noChangeArrowheads="1" noTextEdit="1"/>
          </p:cNvSpPr>
          <p:nvPr>
            <p:ph type="sldImg"/>
          </p:nvPr>
        </p:nvSpPr>
        <p:spPr>
          <a:xfrm>
            <a:off x="592138" y="606425"/>
            <a:ext cx="5619750" cy="4214813"/>
          </a:xfrm>
          <a:ln/>
        </p:spPr>
      </p:sp>
      <p:sp>
        <p:nvSpPr>
          <p:cNvPr id="10752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4071065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7466B29F-019C-4D15-87C0-1C3D1CA3312B}" type="slidenum">
              <a:rPr lang="fr-FR" altLang="fr-FR"/>
              <a:pPr/>
              <a:t>34</a:t>
            </a:fld>
            <a:endParaRPr lang="fr-FR" altLang="fr-FR"/>
          </a:p>
        </p:txBody>
      </p:sp>
      <p:sp>
        <p:nvSpPr>
          <p:cNvPr id="108546" name="Rectangle 2"/>
          <p:cNvSpPr>
            <a:spLocks noGrp="1" noRot="1" noChangeAspect="1" noChangeArrowheads="1" noTextEdit="1"/>
          </p:cNvSpPr>
          <p:nvPr>
            <p:ph type="sldImg"/>
          </p:nvPr>
        </p:nvSpPr>
        <p:spPr>
          <a:xfrm>
            <a:off x="592138" y="606425"/>
            <a:ext cx="5619750" cy="4214813"/>
          </a:xfrm>
          <a:ln/>
        </p:spPr>
      </p:sp>
      <p:sp>
        <p:nvSpPr>
          <p:cNvPr id="108547" name="Rectangle 3"/>
          <p:cNvSpPr>
            <a:spLocks noGrp="1" noChangeArrowheads="1"/>
          </p:cNvSpPr>
          <p:nvPr>
            <p:ph type="body" idx="1"/>
          </p:nvPr>
        </p:nvSpPr>
        <p:spPr>
          <a:xfrm>
            <a:off x="914400" y="4343400"/>
            <a:ext cx="5029200" cy="4114800"/>
          </a:xfrm>
          <a:prstGeom prst="rect">
            <a:avLst/>
          </a:prstGeom>
        </p:spPr>
        <p:txBody>
          <a:bodyPr/>
          <a:lstStyle/>
          <a:p>
            <a:r>
              <a:rPr lang="fr-FR" altLang="fr-FR"/>
              <a:t>You must have the text/documentation to go with any UML diagram because there are people who will study your models who are strongly visual oriented and others who are strongly verbal. The visual people will study the diagram and are less likely to read the text. The verbal people will read the text but are less likely to study the diagram. There are also the more desirable customers/users who will study the diagram and read the text and point out all the ambiguities between them. </a:t>
            </a:r>
          </a:p>
          <a:p>
            <a:endParaRPr lang="fr-FR" altLang="fr-FR"/>
          </a:p>
        </p:txBody>
      </p:sp>
    </p:spTree>
    <p:extLst>
      <p:ext uri="{BB962C8B-B14F-4D97-AF65-F5344CB8AC3E}">
        <p14:creationId xmlns:p14="http://schemas.microsoft.com/office/powerpoint/2010/main" val="3761618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B779B5C6-F8D3-49AA-8AC6-354988C64744}" type="slidenum">
              <a:rPr lang="fr-FR" altLang="fr-FR"/>
              <a:pPr/>
              <a:t>35</a:t>
            </a:fld>
            <a:endParaRPr lang="fr-FR" altLang="fr-FR"/>
          </a:p>
        </p:txBody>
      </p:sp>
      <p:sp>
        <p:nvSpPr>
          <p:cNvPr id="109570" name="Rectangle 2"/>
          <p:cNvSpPr>
            <a:spLocks noGrp="1" noRot="1" noChangeAspect="1" noChangeArrowheads="1" noTextEdit="1"/>
          </p:cNvSpPr>
          <p:nvPr>
            <p:ph type="sldImg"/>
          </p:nvPr>
        </p:nvSpPr>
        <p:spPr>
          <a:xfrm>
            <a:off x="592138" y="606425"/>
            <a:ext cx="5619750" cy="4214813"/>
          </a:xfrm>
          <a:ln/>
        </p:spPr>
      </p:sp>
      <p:sp>
        <p:nvSpPr>
          <p:cNvPr id="10957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985878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xfrm>
            <a:off x="3886200" y="8686800"/>
            <a:ext cx="2971800" cy="457200"/>
          </a:xfrm>
          <a:prstGeom prst="rect">
            <a:avLst/>
          </a:prstGeom>
          <a:ln/>
        </p:spPr>
        <p:txBody>
          <a:bodyPr/>
          <a:lstStyle/>
          <a:p>
            <a:fld id="{2992F3A1-C23F-484D-A8BB-21DE5A8F2292}" type="slidenum">
              <a:rPr lang="fr-FR" altLang="fr-FR"/>
              <a:pPr/>
              <a:t>36</a:t>
            </a:fld>
            <a:endParaRPr lang="fr-FR" altLang="fr-FR"/>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98187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93559BB6-3F1B-42E7-A296-2C8C274AEE81}" type="slidenum">
              <a:rPr lang="fr-FR" altLang="fr-FR"/>
              <a:pPr/>
              <a:t>38</a:t>
            </a:fld>
            <a:endParaRPr lang="fr-FR" altLang="fr-FR"/>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73023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CA144CD8-D6EF-40C6-AA2F-C6E9D73A8EDC}" type="slidenum">
              <a:rPr lang="fr-FR" altLang="fr-FR"/>
              <a:pPr/>
              <a:t>39</a:t>
            </a:fld>
            <a:endParaRPr lang="fr-FR" altLang="fr-FR"/>
          </a:p>
        </p:txBody>
      </p:sp>
      <p:sp>
        <p:nvSpPr>
          <p:cNvPr id="152578" name="Rectangle 2"/>
          <p:cNvSpPr>
            <a:spLocks noGrp="1" noRot="1" noChangeAspect="1" noChangeArrowheads="1" noTextEdit="1"/>
          </p:cNvSpPr>
          <p:nvPr>
            <p:ph type="sldImg"/>
          </p:nvPr>
        </p:nvSpPr>
        <p:spPr>
          <a:xfrm>
            <a:off x="592138" y="606425"/>
            <a:ext cx="5619750" cy="4214813"/>
          </a:xfrm>
          <a:ln/>
        </p:spPr>
      </p:sp>
      <p:sp>
        <p:nvSpPr>
          <p:cNvPr id="15257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297488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859748B5-A6AC-4687-BFB4-268202B6EFBF}" type="slidenum">
              <a:rPr lang="fr-FR" altLang="fr-FR"/>
              <a:pPr/>
              <a:t>40</a:t>
            </a:fld>
            <a:endParaRPr lang="fr-FR" altLang="fr-FR"/>
          </a:p>
        </p:txBody>
      </p:sp>
      <p:sp>
        <p:nvSpPr>
          <p:cNvPr id="153602" name="Rectangle 2"/>
          <p:cNvSpPr>
            <a:spLocks noGrp="1" noRot="1" noChangeAspect="1" noChangeArrowheads="1" noTextEdit="1"/>
          </p:cNvSpPr>
          <p:nvPr>
            <p:ph type="sldImg"/>
          </p:nvPr>
        </p:nvSpPr>
        <p:spPr>
          <a:xfrm>
            <a:off x="592138" y="606425"/>
            <a:ext cx="5619750" cy="4214813"/>
          </a:xfrm>
          <a:ln/>
        </p:spPr>
      </p:sp>
      <p:sp>
        <p:nvSpPr>
          <p:cNvPr id="15360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312559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B01FE677-90D5-40C3-94A4-184394107E8C}" type="slidenum">
              <a:rPr lang="fr-FR" altLang="fr-FR"/>
              <a:pPr/>
              <a:t>41</a:t>
            </a:fld>
            <a:endParaRPr lang="fr-FR" altLang="fr-FR"/>
          </a:p>
        </p:txBody>
      </p:sp>
      <p:sp>
        <p:nvSpPr>
          <p:cNvPr id="154626" name="Rectangle 2"/>
          <p:cNvSpPr>
            <a:spLocks noGrp="1" noRot="1" noChangeAspect="1" noChangeArrowheads="1" noTextEdit="1"/>
          </p:cNvSpPr>
          <p:nvPr>
            <p:ph type="sldImg"/>
          </p:nvPr>
        </p:nvSpPr>
        <p:spPr>
          <a:xfrm>
            <a:off x="592138" y="606425"/>
            <a:ext cx="5619750" cy="4214813"/>
          </a:xfrm>
          <a:ln/>
        </p:spPr>
      </p:sp>
      <p:sp>
        <p:nvSpPr>
          <p:cNvPr id="154627" name="Rectangle 3"/>
          <p:cNvSpPr>
            <a:spLocks noGrp="1" noChangeArrowheads="1"/>
          </p:cNvSpPr>
          <p:nvPr>
            <p:ph type="body" idx="1"/>
          </p:nvPr>
        </p:nvSpPr>
        <p:spPr>
          <a:xfrm>
            <a:off x="914400" y="4343400"/>
            <a:ext cx="5029200" cy="4114800"/>
          </a:xfrm>
          <a:prstGeom prst="rect">
            <a:avLst/>
          </a:prstGeom>
        </p:spPr>
        <p:txBody>
          <a:bodyPr/>
          <a:lstStyle/>
          <a:p>
            <a:r>
              <a:rPr lang="fr-FR" altLang="fr-FR"/>
              <a:t>Three standard compartments for the three standard properties on 2-24 plus extra compartments if necessary. A negative salary would throw the InvalidUpdate exception. Exceptions is an example of the more detail that may be added to design level diagrams.</a:t>
            </a:r>
          </a:p>
        </p:txBody>
      </p:sp>
    </p:spTree>
    <p:extLst>
      <p:ext uri="{BB962C8B-B14F-4D97-AF65-F5344CB8AC3E}">
        <p14:creationId xmlns:p14="http://schemas.microsoft.com/office/powerpoint/2010/main" val="1666643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ACDFEF99-8340-4B73-ACBB-3391A15C133C}" type="slidenum">
              <a:rPr lang="fr-FR" altLang="fr-FR"/>
              <a:pPr/>
              <a:t>42</a:t>
            </a:fld>
            <a:endParaRPr lang="fr-FR" altLang="fr-FR"/>
          </a:p>
        </p:txBody>
      </p:sp>
      <p:sp>
        <p:nvSpPr>
          <p:cNvPr id="161794" name="Rectangle 2"/>
          <p:cNvSpPr>
            <a:spLocks noGrp="1" noRot="1" noChangeAspect="1" noChangeArrowheads="1" noTextEdit="1"/>
          </p:cNvSpPr>
          <p:nvPr>
            <p:ph type="sldImg"/>
          </p:nvPr>
        </p:nvSpPr>
        <p:spPr>
          <a:xfrm>
            <a:off x="877888" y="733425"/>
            <a:ext cx="4892675" cy="3670300"/>
          </a:xfrm>
          <a:ln/>
        </p:spPr>
      </p:sp>
      <p:sp>
        <p:nvSpPr>
          <p:cNvPr id="161795" name="Rectangle 3"/>
          <p:cNvSpPr>
            <a:spLocks noGrp="1" noChangeArrowheads="1"/>
          </p:cNvSpPr>
          <p:nvPr>
            <p:ph type="body" idx="1"/>
          </p:nvPr>
        </p:nvSpPr>
        <p:spPr>
          <a:xfrm>
            <a:off x="914400" y="4343400"/>
            <a:ext cx="5029200" cy="4114800"/>
          </a:xfrm>
          <a:prstGeom prst="rect">
            <a:avLst/>
          </a:prstGeom>
        </p:spPr>
        <p:txBody>
          <a:bodyPr/>
          <a:lstStyle/>
          <a:p>
            <a:r>
              <a:rPr lang="fr-FR" altLang="fr-FR"/>
              <a:t>Classes and a class diagrams are the one pretty-much mandatory UML diagram for developing software. </a:t>
            </a:r>
          </a:p>
          <a:p>
            <a:endParaRPr lang="fr-FR" altLang="fr-FR"/>
          </a:p>
        </p:txBody>
      </p:sp>
    </p:spTree>
    <p:extLst>
      <p:ext uri="{BB962C8B-B14F-4D97-AF65-F5344CB8AC3E}">
        <p14:creationId xmlns:p14="http://schemas.microsoft.com/office/powerpoint/2010/main" val="1472247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0AFBA07E-E856-436E-96A5-D3B4985C8440}" type="slidenum">
              <a:rPr lang="fr-FR" altLang="fr-FR"/>
              <a:pPr/>
              <a:t>43</a:t>
            </a:fld>
            <a:endParaRPr lang="fr-FR" altLang="fr-FR"/>
          </a:p>
        </p:txBody>
      </p:sp>
      <p:sp>
        <p:nvSpPr>
          <p:cNvPr id="164866" name="Rectangle 2"/>
          <p:cNvSpPr>
            <a:spLocks noGrp="1" noRot="1" noChangeAspect="1" noChangeArrowheads="1" noTextEdit="1"/>
          </p:cNvSpPr>
          <p:nvPr>
            <p:ph type="sldImg"/>
          </p:nvPr>
        </p:nvSpPr>
        <p:spPr>
          <a:xfrm>
            <a:off x="592138" y="606425"/>
            <a:ext cx="5619750" cy="4214813"/>
          </a:xfrm>
          <a:ln/>
        </p:spPr>
      </p:sp>
      <p:sp>
        <p:nvSpPr>
          <p:cNvPr id="16486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855729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B12651EA-86BB-432F-A75D-962E5D9A69BD}" type="slidenum">
              <a:rPr lang="fr-FR" altLang="fr-FR"/>
              <a:pPr/>
              <a:t>44</a:t>
            </a:fld>
            <a:endParaRPr lang="fr-FR" altLang="fr-FR"/>
          </a:p>
        </p:txBody>
      </p:sp>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a:xfrm>
            <a:off x="914400" y="4343400"/>
            <a:ext cx="5029200" cy="4114800"/>
          </a:xfrm>
          <a:prstGeom prst="rect">
            <a:avLst/>
          </a:prstGeom>
        </p:spPr>
        <p:txBody>
          <a:bodyPr/>
          <a:lstStyle/>
          <a:p>
            <a:r>
              <a:rPr lang="fr-FR" altLang="fr-FR"/>
              <a:t>Ask attendees how the multiplicity would change if A SectionHead must have 3 or more Employees.</a:t>
            </a:r>
          </a:p>
        </p:txBody>
      </p:sp>
    </p:spTree>
    <p:extLst>
      <p:ext uri="{BB962C8B-B14F-4D97-AF65-F5344CB8AC3E}">
        <p14:creationId xmlns:p14="http://schemas.microsoft.com/office/powerpoint/2010/main" val="3840419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5"/>
          <p:cNvSpPr>
            <a:spLocks noGrp="1" noChangeArrowheads="1"/>
          </p:cNvSpPr>
          <p:nvPr>
            <p:ph type="sldNum" sz="quarter" idx="5"/>
          </p:nvPr>
        </p:nvSpPr>
        <p:spPr>
          <a:xfrm>
            <a:off x="3886200" y="8686800"/>
            <a:ext cx="2971800" cy="457200"/>
          </a:xfrm>
          <a:prstGeom prst="rect">
            <a:avLst/>
          </a:prstGeom>
          <a:ln/>
        </p:spPr>
        <p:txBody>
          <a:bodyPr/>
          <a:lstStyle/>
          <a:p>
            <a:fld id="{B199DAF4-5600-4F08-9A7D-E36C3804ACB1}" type="slidenum">
              <a:rPr lang="fr-FR" altLang="fr-FR"/>
              <a:pPr/>
              <a:t>45</a:t>
            </a:fld>
            <a:endParaRPr lang="fr-FR" altLang="fr-FR"/>
          </a:p>
        </p:txBody>
      </p:sp>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2561742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E273309-8D6D-4DEB-927D-FD1AC2A2720F}" type="slidenum">
              <a:rPr lang="fr-FR" altLang="fr-FR"/>
              <a:pPr/>
              <a:t>47</a:t>
            </a:fld>
            <a:endParaRPr lang="fr-FR" altLang="fr-FR"/>
          </a:p>
        </p:txBody>
      </p:sp>
      <p:sp>
        <p:nvSpPr>
          <p:cNvPr id="142338" name="Rectangle 2"/>
          <p:cNvSpPr>
            <a:spLocks noGrp="1" noRot="1" noChangeAspect="1" noChangeArrowheads="1" noTextEdit="1"/>
          </p:cNvSpPr>
          <p:nvPr>
            <p:ph type="sldImg"/>
          </p:nvPr>
        </p:nvSpPr>
        <p:spPr>
          <a:xfrm>
            <a:off x="592138" y="606425"/>
            <a:ext cx="5619750" cy="4214813"/>
          </a:xfrm>
          <a:ln/>
        </p:spPr>
      </p:sp>
      <p:sp>
        <p:nvSpPr>
          <p:cNvPr id="14233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3490792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02150196-F658-4044-B465-2936C55C2D20}" type="slidenum">
              <a:rPr lang="fr-FR" altLang="fr-FR"/>
              <a:pPr/>
              <a:t>48</a:t>
            </a:fld>
            <a:endParaRPr lang="fr-FR" altLang="fr-FR"/>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a:xfrm>
            <a:off x="914400" y="4343400"/>
            <a:ext cx="5029200" cy="4114800"/>
          </a:xfrm>
          <a:prstGeom prst="rect">
            <a:avLst/>
          </a:prstGeom>
        </p:spPr>
        <p:txBody>
          <a:bodyPr/>
          <a:lstStyle/>
          <a:p>
            <a:r>
              <a:rPr lang="fr-FR" altLang="fr-FR"/>
              <a:t>The focus has now changed from the customer to the process of dining. </a:t>
            </a:r>
          </a:p>
        </p:txBody>
      </p:sp>
    </p:spTree>
    <p:extLst>
      <p:ext uri="{BB962C8B-B14F-4D97-AF65-F5344CB8AC3E}">
        <p14:creationId xmlns:p14="http://schemas.microsoft.com/office/powerpoint/2010/main" val="2185601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780A4547-29C1-4322-80D5-1AA61CB9CAF4}" type="slidenum">
              <a:rPr lang="fr-FR" altLang="fr-FR"/>
              <a:pPr/>
              <a:t>49</a:t>
            </a:fld>
            <a:endParaRPr lang="fr-FR" altLang="fr-F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556288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9342C51-AAF8-4BD5-856C-251D290A23B0}" type="slidenum">
              <a:rPr lang="fr-FR" altLang="fr-FR"/>
              <a:pPr/>
              <a:t>50</a:t>
            </a:fld>
            <a:endParaRPr lang="fr-FR" altLang="fr-FR"/>
          </a:p>
        </p:txBody>
      </p:sp>
      <p:sp>
        <p:nvSpPr>
          <p:cNvPr id="146434" name="Rectangle 2"/>
          <p:cNvSpPr>
            <a:spLocks noGrp="1" noRot="1" noChangeAspect="1" noChangeArrowheads="1" noTextEdit="1"/>
          </p:cNvSpPr>
          <p:nvPr>
            <p:ph type="sldImg"/>
          </p:nvPr>
        </p:nvSpPr>
        <p:spPr>
          <a:xfrm>
            <a:off x="592138" y="606425"/>
            <a:ext cx="5619750" cy="4214813"/>
          </a:xfrm>
          <a:ln/>
        </p:spPr>
      </p:sp>
      <p:sp>
        <p:nvSpPr>
          <p:cNvPr id="14643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1551978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202CB7C-DF68-4626-A7CA-76E77DB1AE67}" type="slidenum">
              <a:rPr lang="fr-FR" altLang="fr-FR"/>
              <a:pPr/>
              <a:t>51</a:t>
            </a:fld>
            <a:endParaRPr lang="fr-FR" altLang="fr-FR"/>
          </a:p>
        </p:txBody>
      </p:sp>
      <p:sp>
        <p:nvSpPr>
          <p:cNvPr id="147458" name="Rectangle 2"/>
          <p:cNvSpPr>
            <a:spLocks noGrp="1" noRot="1" noChangeAspect="1" noChangeArrowheads="1" noTextEdit="1"/>
          </p:cNvSpPr>
          <p:nvPr>
            <p:ph type="sldImg"/>
          </p:nvPr>
        </p:nvSpPr>
        <p:spPr>
          <a:xfrm>
            <a:off x="877888" y="733425"/>
            <a:ext cx="4892675" cy="3670300"/>
          </a:xfrm>
          <a:ln/>
        </p:spPr>
      </p:sp>
      <p:sp>
        <p:nvSpPr>
          <p:cNvPr id="147459"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68419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8996CB25-2CE8-4C8F-9391-D886477FF2CB}" type="slidenum">
              <a:rPr lang="fr-FR" altLang="fr-FR"/>
              <a:pPr/>
              <a:t>52</a:t>
            </a:fld>
            <a:endParaRPr lang="fr-FR" altLang="fr-FR"/>
          </a:p>
        </p:txBody>
      </p:sp>
      <p:sp>
        <p:nvSpPr>
          <p:cNvPr id="148482" name="Rectangle 2"/>
          <p:cNvSpPr>
            <a:spLocks noGrp="1" noRot="1" noChangeAspect="1" noChangeArrowheads="1" noTextEdit="1"/>
          </p:cNvSpPr>
          <p:nvPr>
            <p:ph type="sldImg"/>
          </p:nvPr>
        </p:nvSpPr>
        <p:spPr>
          <a:xfrm>
            <a:off x="592138" y="606425"/>
            <a:ext cx="5619750" cy="4214813"/>
          </a:xfrm>
          <a:ln/>
        </p:spPr>
      </p:sp>
      <p:sp>
        <p:nvSpPr>
          <p:cNvPr id="148483"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15235351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149A93A7-862B-4058-AE6D-162D367CC4C3}" type="slidenum">
              <a:rPr lang="fr-FR" altLang="fr-FR"/>
              <a:pPr/>
              <a:t>53</a:t>
            </a:fld>
            <a:endParaRPr lang="fr-FR" altLang="fr-FR"/>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25201154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B0F2725A-DA20-44FC-A9B1-0582645C2FC9}" type="slidenum">
              <a:rPr lang="fr-FR" altLang="fr-FR"/>
              <a:pPr/>
              <a:t>54</a:t>
            </a:fld>
            <a:endParaRPr lang="fr-FR" altLang="fr-FR"/>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3607686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67B1D452-7476-4407-B1BB-BEFC81277577}" type="slidenum">
              <a:rPr lang="fr-FR" altLang="fr-FR"/>
              <a:pPr/>
              <a:t>55</a:t>
            </a:fld>
            <a:endParaRPr lang="fr-FR" altLang="fr-FR"/>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a:xfrm>
            <a:off x="914400" y="4343400"/>
            <a:ext cx="5029200" cy="4114800"/>
          </a:xfrm>
          <a:prstGeom prst="rect">
            <a:avLst/>
          </a:prstGeom>
        </p:spPr>
        <p:txBody>
          <a:bodyPr/>
          <a:lstStyle/>
          <a:p>
            <a:endParaRPr lang="fr-FR" altLang="fr-FR"/>
          </a:p>
        </p:txBody>
      </p:sp>
    </p:spTree>
    <p:extLst>
      <p:ext uri="{BB962C8B-B14F-4D97-AF65-F5344CB8AC3E}">
        <p14:creationId xmlns:p14="http://schemas.microsoft.com/office/powerpoint/2010/main" val="30555551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C4CFD940-16DA-4915-A754-11347F99AF34}" type="slidenum">
              <a:rPr lang="fr-FR" altLang="fr-FR"/>
              <a:pPr/>
              <a:t>56</a:t>
            </a:fld>
            <a:endParaRPr lang="fr-FR" altLang="fr-FR"/>
          </a:p>
        </p:txBody>
      </p:sp>
      <p:sp>
        <p:nvSpPr>
          <p:cNvPr id="152578" name="Rectangle 2"/>
          <p:cNvSpPr>
            <a:spLocks noGrp="1" noRot="1" noChangeAspect="1" noChangeArrowheads="1" noTextEdit="1"/>
          </p:cNvSpPr>
          <p:nvPr>
            <p:ph type="sldImg"/>
          </p:nvPr>
        </p:nvSpPr>
        <p:spPr>
          <a:xfrm>
            <a:off x="877888" y="733425"/>
            <a:ext cx="4892675" cy="3670300"/>
          </a:xfrm>
          <a:ln/>
        </p:spPr>
      </p:sp>
      <p:sp>
        <p:nvSpPr>
          <p:cNvPr id="152579" name="Rectangle 3"/>
          <p:cNvSpPr>
            <a:spLocks noGrp="1" noChangeArrowheads="1"/>
          </p:cNvSpPr>
          <p:nvPr>
            <p:ph type="body" idx="1"/>
          </p:nvPr>
        </p:nvSpPr>
        <p:spPr>
          <a:xfrm>
            <a:off x="914400" y="4343400"/>
            <a:ext cx="5029200" cy="4114800"/>
          </a:xfrm>
          <a:prstGeom prst="rect">
            <a:avLst/>
          </a:prstGeom>
        </p:spPr>
        <p:txBody>
          <a:bodyPr/>
          <a:lstStyle/>
          <a:p>
            <a:r>
              <a:rPr lang="fr-FR" altLang="fr-FR"/>
              <a:t>Swimlanes are often used when doing Business Process Re-engineering to show the flow of work between the people involved. Traditional diagrams such as Line of Visibility Models are basically flowcharts with swimlanes on them. </a:t>
            </a:r>
          </a:p>
        </p:txBody>
      </p:sp>
    </p:spTree>
    <p:extLst>
      <p:ext uri="{BB962C8B-B14F-4D97-AF65-F5344CB8AC3E}">
        <p14:creationId xmlns:p14="http://schemas.microsoft.com/office/powerpoint/2010/main" val="4165632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E43DA57B-F7FD-4209-BA68-A254582FACDC}" type="slidenum">
              <a:rPr lang="fr-FR" altLang="fr-FR"/>
              <a:pPr/>
              <a:t>57</a:t>
            </a:fld>
            <a:endParaRPr lang="fr-FR" altLang="fr-FR"/>
          </a:p>
        </p:txBody>
      </p:sp>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a:xfrm>
            <a:off x="914400" y="4343400"/>
            <a:ext cx="5029200" cy="4114800"/>
          </a:xfrm>
          <a:prstGeom prst="rect">
            <a:avLst/>
          </a:prstGeom>
        </p:spPr>
        <p:txBody>
          <a:bodyPr/>
          <a:lstStyle/>
          <a:p>
            <a:r>
              <a:rPr lang="fr-FR" altLang="fr-FR"/>
              <a:t>Swimlanes can be horizontal or vertical and don’t need to be perfectly rectangular. </a:t>
            </a:r>
          </a:p>
        </p:txBody>
      </p:sp>
    </p:spTree>
    <p:extLst>
      <p:ext uri="{BB962C8B-B14F-4D97-AF65-F5344CB8AC3E}">
        <p14:creationId xmlns:p14="http://schemas.microsoft.com/office/powerpoint/2010/main" val="1901147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5</a:t>
            </a:r>
          </a:p>
          <a:p>
            <a:pPr eaLnBrk="1" hangingPunct="1"/>
            <a:r>
              <a:rPr lang="fr-FR" altLang="fr-FR" dirty="0"/>
              <a:t>Modélisation &amp; Conception</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4DCAE-EC72-A49D-35B0-16F1DEF03794}"/>
              </a:ext>
            </a:extLst>
          </p:cNvPr>
          <p:cNvSpPr>
            <a:spLocks noGrp="1"/>
          </p:cNvSpPr>
          <p:nvPr>
            <p:ph type="title"/>
          </p:nvPr>
        </p:nvSpPr>
        <p:spPr/>
        <p:txBody>
          <a:bodyPr/>
          <a:lstStyle/>
          <a:p>
            <a:r>
              <a:rPr lang="fr-FR" dirty="0"/>
              <a:t>Data Modeling &amp; Design</a:t>
            </a:r>
          </a:p>
        </p:txBody>
      </p:sp>
      <p:sp>
        <p:nvSpPr>
          <p:cNvPr id="3" name="Espace réservé du contenu 2">
            <a:extLst>
              <a:ext uri="{FF2B5EF4-FFF2-40B4-BE49-F238E27FC236}">
                <a16:creationId xmlns:a16="http://schemas.microsoft.com/office/drawing/2014/main" id="{204B59C8-C22F-7217-9A8F-4C26E7EA3158}"/>
              </a:ext>
            </a:extLst>
          </p:cNvPr>
          <p:cNvSpPr>
            <a:spLocks noGrp="1"/>
          </p:cNvSpPr>
          <p:nvPr>
            <p:ph idx="1"/>
          </p:nvPr>
        </p:nvSpPr>
        <p:spPr/>
        <p:txBody>
          <a:bodyPr/>
          <a:lstStyle/>
          <a:p>
            <a:endParaRPr lang="fr-FR"/>
          </a:p>
        </p:txBody>
      </p:sp>
      <p:pic>
        <p:nvPicPr>
          <p:cNvPr id="6" name="Image 5" descr="Une image contenant texte, cercle, Appareil de stockage de données, disque compact&#10;&#10;Le contenu généré par l’IA peut être incorrect.">
            <a:extLst>
              <a:ext uri="{FF2B5EF4-FFF2-40B4-BE49-F238E27FC236}">
                <a16:creationId xmlns:a16="http://schemas.microsoft.com/office/drawing/2014/main" id="{7A724D2D-136D-2CA3-AED9-F19C6742D981}"/>
              </a:ext>
            </a:extLst>
          </p:cNvPr>
          <p:cNvPicPr>
            <a:picLocks noChangeAspect="1"/>
          </p:cNvPicPr>
          <p:nvPr/>
        </p:nvPicPr>
        <p:blipFill>
          <a:blip r:embed="rId2"/>
          <a:stretch>
            <a:fillRect/>
          </a:stretch>
        </p:blipFill>
        <p:spPr>
          <a:xfrm>
            <a:off x="2195736" y="1434547"/>
            <a:ext cx="5048955" cy="4839375"/>
          </a:xfrm>
          <a:prstGeom prst="rect">
            <a:avLst/>
          </a:prstGeom>
        </p:spPr>
      </p:pic>
    </p:spTree>
    <p:extLst>
      <p:ext uri="{BB962C8B-B14F-4D97-AF65-F5344CB8AC3E}">
        <p14:creationId xmlns:p14="http://schemas.microsoft.com/office/powerpoint/2010/main" val="174683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B7445-89C2-7A61-67A6-37BFA1414E12}"/>
              </a:ext>
            </a:extLst>
          </p:cNvPr>
          <p:cNvSpPr>
            <a:spLocks noGrp="1"/>
          </p:cNvSpPr>
          <p:nvPr>
            <p:ph type="title"/>
          </p:nvPr>
        </p:nvSpPr>
        <p:spPr/>
        <p:txBody>
          <a:bodyPr/>
          <a:lstStyle/>
          <a:p>
            <a:r>
              <a:rPr lang="fr-FR" dirty="0"/>
              <a:t>Définition</a:t>
            </a:r>
          </a:p>
        </p:txBody>
      </p:sp>
      <p:sp>
        <p:nvSpPr>
          <p:cNvPr id="3" name="Espace réservé du contenu 2">
            <a:extLst>
              <a:ext uri="{FF2B5EF4-FFF2-40B4-BE49-F238E27FC236}">
                <a16:creationId xmlns:a16="http://schemas.microsoft.com/office/drawing/2014/main" id="{A8F50F5F-52DA-EA9B-481B-B61F1A9EC1A6}"/>
              </a:ext>
            </a:extLst>
          </p:cNvPr>
          <p:cNvSpPr>
            <a:spLocks noGrp="1"/>
          </p:cNvSpPr>
          <p:nvPr>
            <p:ph idx="1"/>
          </p:nvPr>
        </p:nvSpPr>
        <p:spPr/>
        <p:txBody>
          <a:bodyPr/>
          <a:lstStyle/>
          <a:p>
            <a:r>
              <a:rPr lang="fr-FR" dirty="0"/>
              <a:t>La modélisation des données est le processus qui consiste à découvrir, analyser et définir les besoins en données, puis à représenter et communiquer ces besoins sous une forme précise appelée modèle de données</a:t>
            </a:r>
          </a:p>
          <a:p>
            <a:r>
              <a:rPr lang="fr-FR" dirty="0"/>
              <a:t>Ce processus est itératif et peut inclure un modèle conceptuel, logique et physique.</a:t>
            </a:r>
          </a:p>
        </p:txBody>
      </p:sp>
    </p:spTree>
    <p:extLst>
      <p:ext uri="{BB962C8B-B14F-4D97-AF65-F5344CB8AC3E}">
        <p14:creationId xmlns:p14="http://schemas.microsoft.com/office/powerpoint/2010/main" val="206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635DD-F7BE-F10B-30FB-2CA6A55181DD}"/>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9568B6-73A1-39D5-AC35-E70C31ED9947}"/>
              </a:ext>
            </a:extLst>
          </p:cNvPr>
          <p:cNvSpPr>
            <a:spLocks noGrp="1"/>
          </p:cNvSpPr>
          <p:nvPr>
            <p:ph idx="1"/>
          </p:nvPr>
        </p:nvSpPr>
        <p:spPr/>
        <p:txBody>
          <a:bodyPr/>
          <a:lstStyle/>
          <a:p>
            <a:r>
              <a:rPr lang="fr-FR" dirty="0"/>
              <a:t>Afin de confirmer et de documenter la compréhension des différentes perspectives, ce qui conduit à des applications qui correspondent davantage aux exigences commerciales actuelles et futures, et crée une base pour mener à bien des initiatives de grande envergure telles que les programmes de gestion des données de référence et de gouvernance des données</a:t>
            </a:r>
          </a:p>
        </p:txBody>
      </p:sp>
    </p:spTree>
    <p:extLst>
      <p:ext uri="{BB962C8B-B14F-4D97-AF65-F5344CB8AC3E}">
        <p14:creationId xmlns:p14="http://schemas.microsoft.com/office/powerpoint/2010/main" val="32459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EBFF27-D818-19A3-9D28-E00FC84CB9C1}"/>
              </a:ext>
            </a:extLst>
          </p:cNvPr>
          <p:cNvSpPr>
            <a:spLocks noGrp="1"/>
          </p:cNvSpPr>
          <p:nvPr>
            <p:ph type="title"/>
          </p:nvPr>
        </p:nvSpPr>
        <p:spPr/>
        <p:txBody>
          <a:bodyPr/>
          <a:lstStyle/>
          <a:p>
            <a:r>
              <a:rPr lang="fr-FR" dirty="0"/>
              <a:t>Architecture générale</a:t>
            </a:r>
          </a:p>
        </p:txBody>
      </p:sp>
      <p:sp>
        <p:nvSpPr>
          <p:cNvPr id="3" name="Espace réservé du contenu 2">
            <a:extLst>
              <a:ext uri="{FF2B5EF4-FFF2-40B4-BE49-F238E27FC236}">
                <a16:creationId xmlns:a16="http://schemas.microsoft.com/office/drawing/2014/main" id="{75A4AAFF-5674-E456-A5D9-2EC1439921B8}"/>
              </a:ext>
            </a:extLst>
          </p:cNvPr>
          <p:cNvSpPr>
            <a:spLocks noGrp="1"/>
          </p:cNvSpPr>
          <p:nvPr>
            <p:ph idx="1"/>
          </p:nvPr>
        </p:nvSpPr>
        <p:spPr/>
        <p:txBody>
          <a:bodyPr/>
          <a:lstStyle/>
          <a:p>
            <a:endParaRPr lang="fr-FR"/>
          </a:p>
        </p:txBody>
      </p:sp>
      <p:pic>
        <p:nvPicPr>
          <p:cNvPr id="5" name="Image 4" descr="Une image contenant texte, capture d’écran, Police, conception&#10;&#10;Le contenu généré par l’IA peut être incorrect.">
            <a:extLst>
              <a:ext uri="{FF2B5EF4-FFF2-40B4-BE49-F238E27FC236}">
                <a16:creationId xmlns:a16="http://schemas.microsoft.com/office/drawing/2014/main" id="{8EB68DEA-849A-971E-FC9B-725729D67264}"/>
              </a:ext>
            </a:extLst>
          </p:cNvPr>
          <p:cNvPicPr>
            <a:picLocks noChangeAspect="1"/>
          </p:cNvPicPr>
          <p:nvPr/>
        </p:nvPicPr>
        <p:blipFill>
          <a:blip r:embed="rId2"/>
          <a:stretch>
            <a:fillRect/>
          </a:stretch>
        </p:blipFill>
        <p:spPr>
          <a:xfrm>
            <a:off x="1187624" y="1143515"/>
            <a:ext cx="7272808" cy="5947133"/>
          </a:xfrm>
          <a:prstGeom prst="rect">
            <a:avLst/>
          </a:prstGeom>
        </p:spPr>
      </p:pic>
    </p:spTree>
    <p:extLst>
      <p:ext uri="{BB962C8B-B14F-4D97-AF65-F5344CB8AC3E}">
        <p14:creationId xmlns:p14="http://schemas.microsoft.com/office/powerpoint/2010/main" val="320073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CE486B-A242-14C2-2D44-72353001BA8E}"/>
              </a:ext>
            </a:extLst>
          </p:cNvPr>
          <p:cNvSpPr>
            <a:spLocks noGrp="1"/>
          </p:cNvSpPr>
          <p:nvPr>
            <p:ph type="title"/>
          </p:nvPr>
        </p:nvSpPr>
        <p:spPr/>
        <p:txBody>
          <a:bodyPr/>
          <a:lstStyle/>
          <a:p>
            <a:r>
              <a:rPr lang="fr-FR" dirty="0"/>
              <a:t>Méthode Merise</a:t>
            </a:r>
          </a:p>
        </p:txBody>
      </p:sp>
      <p:sp>
        <p:nvSpPr>
          <p:cNvPr id="3" name="Espace réservé du contenu 2">
            <a:extLst>
              <a:ext uri="{FF2B5EF4-FFF2-40B4-BE49-F238E27FC236}">
                <a16:creationId xmlns:a16="http://schemas.microsoft.com/office/drawing/2014/main" id="{E62EF00E-A42A-1A6B-9D96-ACEF2ABB4409}"/>
              </a:ext>
            </a:extLst>
          </p:cNvPr>
          <p:cNvSpPr>
            <a:spLocks noGrp="1"/>
          </p:cNvSpPr>
          <p:nvPr>
            <p:ph idx="1"/>
          </p:nvPr>
        </p:nvSpPr>
        <p:spPr/>
        <p:txBody>
          <a:bodyPr/>
          <a:lstStyle/>
          <a:p>
            <a:r>
              <a:rPr lang="fr-FR" dirty="0"/>
              <a:t>Merise est une méthodologie pour </a:t>
            </a:r>
            <a:r>
              <a:rPr lang="fr-FR" dirty="0" err="1"/>
              <a:t>concenvoir</a:t>
            </a:r>
            <a:r>
              <a:rPr lang="fr-FR" dirty="0"/>
              <a:t> des projets informatiques</a:t>
            </a:r>
          </a:p>
          <a:p>
            <a:r>
              <a:rPr lang="fr-FR" dirty="0"/>
              <a:t>Concernant le management des données 3 modèles sont à notre dispositions</a:t>
            </a:r>
          </a:p>
          <a:p>
            <a:pPr lvl="1"/>
            <a:r>
              <a:rPr lang="fr-FR" dirty="0"/>
              <a:t>MCD</a:t>
            </a:r>
          </a:p>
          <a:p>
            <a:pPr lvl="1"/>
            <a:r>
              <a:rPr lang="fr-FR" dirty="0"/>
              <a:t>MLD</a:t>
            </a:r>
          </a:p>
          <a:p>
            <a:pPr lvl="1"/>
            <a:r>
              <a:rPr lang="fr-FR" dirty="0"/>
              <a:t>MCD</a:t>
            </a:r>
          </a:p>
          <a:p>
            <a:pPr lvl="1"/>
            <a:endParaRPr lang="fr-FR" dirty="0"/>
          </a:p>
        </p:txBody>
      </p:sp>
    </p:spTree>
    <p:extLst>
      <p:ext uri="{BB962C8B-B14F-4D97-AF65-F5344CB8AC3E}">
        <p14:creationId xmlns:p14="http://schemas.microsoft.com/office/powerpoint/2010/main" val="2863740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CBB4BD-535B-B471-4E8A-3D65ED266D4F}"/>
              </a:ext>
            </a:extLst>
          </p:cNvPr>
          <p:cNvSpPr>
            <a:spLocks noGrp="1"/>
          </p:cNvSpPr>
          <p:nvPr>
            <p:ph type="title"/>
          </p:nvPr>
        </p:nvSpPr>
        <p:spPr/>
        <p:txBody>
          <a:bodyPr/>
          <a:lstStyle/>
          <a:p>
            <a:r>
              <a:rPr lang="fr-FR" dirty="0"/>
              <a:t>Le modèle conceptuel des données</a:t>
            </a:r>
          </a:p>
        </p:txBody>
      </p:sp>
      <p:sp>
        <p:nvSpPr>
          <p:cNvPr id="3" name="Espace réservé du contenu 2">
            <a:extLst>
              <a:ext uri="{FF2B5EF4-FFF2-40B4-BE49-F238E27FC236}">
                <a16:creationId xmlns:a16="http://schemas.microsoft.com/office/drawing/2014/main" id="{9495C1DC-2D79-54A6-BCB9-91EA3B61DDA2}"/>
              </a:ext>
            </a:extLst>
          </p:cNvPr>
          <p:cNvSpPr>
            <a:spLocks noGrp="1"/>
          </p:cNvSpPr>
          <p:nvPr>
            <p:ph idx="1"/>
          </p:nvPr>
        </p:nvSpPr>
        <p:spPr/>
        <p:txBody>
          <a:bodyPr/>
          <a:lstStyle/>
          <a:p>
            <a:r>
              <a:rPr lang="fr-FR" dirty="0"/>
              <a:t>Objectif du MCD </a:t>
            </a:r>
          </a:p>
          <a:p>
            <a:r>
              <a:rPr lang="fr-FR" dirty="0"/>
              <a:t>Décrire les données du SI, indépendamment de tout choix d'implantation physique</a:t>
            </a:r>
          </a:p>
        </p:txBody>
      </p:sp>
    </p:spTree>
    <p:extLst>
      <p:ext uri="{BB962C8B-B14F-4D97-AF65-F5344CB8AC3E}">
        <p14:creationId xmlns:p14="http://schemas.microsoft.com/office/powerpoint/2010/main" val="1880470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4EA5F8DC-AC5B-EEF0-C118-D145F6D6F57A}"/>
              </a:ext>
            </a:extLst>
          </p:cNvPr>
          <p:cNvSpPr>
            <a:spLocks noGrp="1" noChangeArrowheads="1"/>
          </p:cNvSpPr>
          <p:nvPr>
            <p:ph type="body" idx="1"/>
          </p:nvPr>
        </p:nvSpPr>
        <p:spPr>
          <a:xfrm>
            <a:off x="685800" y="457200"/>
            <a:ext cx="7772400" cy="5888038"/>
          </a:xfrm>
        </p:spPr>
        <p:txBody>
          <a:bodyPr/>
          <a:lstStyle/>
          <a:p>
            <a:pPr algn="just">
              <a:buFontTx/>
              <a:buNone/>
            </a:pPr>
            <a:r>
              <a:rPr lang="fr-FR" altLang="fr-FR" sz="2800">
                <a:latin typeface="Arial" panose="020B0604020202020204" pitchFamily="34" charset="0"/>
                <a:cs typeface="Times New Roman" panose="02020603050405020304" pitchFamily="18" charset="0"/>
              </a:rPr>
              <a:t>Les données sont décrites par :</a:t>
            </a:r>
          </a:p>
          <a:p>
            <a:pPr algn="just"/>
            <a:r>
              <a:rPr lang="fr-FR" altLang="fr-FR" sz="2400">
                <a:latin typeface="Arial" panose="020B0604020202020204" pitchFamily="34" charset="0"/>
                <a:cs typeface="Times New Roman" panose="02020603050405020304" pitchFamily="18" charset="0"/>
              </a:rPr>
              <a:t>un identificateur mnémonique unique,</a:t>
            </a:r>
          </a:p>
          <a:p>
            <a:pPr algn="just"/>
            <a:r>
              <a:rPr lang="fr-FR" altLang="fr-FR" sz="2400">
                <a:latin typeface="Arial" panose="020B0604020202020204" pitchFamily="34" charset="0"/>
                <a:cs typeface="Times New Roman" panose="02020603050405020304" pitchFamily="18" charset="0"/>
              </a:rPr>
              <a:t>un type (numérique, alphanumérique, ...) et une taille,</a:t>
            </a:r>
          </a:p>
          <a:p>
            <a:pPr algn="just"/>
            <a:r>
              <a:rPr lang="fr-FR" altLang="fr-FR" sz="2400">
                <a:latin typeface="Arial" panose="020B0604020202020204" pitchFamily="34" charset="0"/>
                <a:cs typeface="Times New Roman" panose="02020603050405020304" pitchFamily="18" charset="0"/>
              </a:rPr>
              <a:t>un mode d'obtention :</a:t>
            </a:r>
          </a:p>
          <a:p>
            <a:pPr lvl="1" algn="just"/>
            <a:r>
              <a:rPr lang="fr-FR" altLang="fr-FR" sz="2400">
                <a:latin typeface="Arial" panose="020B0604020202020204" pitchFamily="34" charset="0"/>
                <a:cs typeface="Times New Roman" panose="02020603050405020304" pitchFamily="18" charset="0"/>
              </a:rPr>
              <a:t>donnée mémorisée,</a:t>
            </a:r>
          </a:p>
          <a:p>
            <a:pPr lvl="1" algn="just"/>
            <a:r>
              <a:rPr lang="fr-FR" altLang="fr-FR" sz="2400">
                <a:latin typeface="Arial" panose="020B0604020202020204" pitchFamily="34" charset="0"/>
                <a:cs typeface="Times New Roman" panose="02020603050405020304" pitchFamily="18" charset="0"/>
              </a:rPr>
              <a:t>donnée calculée,</a:t>
            </a:r>
          </a:p>
          <a:p>
            <a:pPr lvl="1" algn="just"/>
            <a:r>
              <a:rPr lang="fr-FR" altLang="fr-FR" sz="2400">
                <a:latin typeface="Arial" panose="020B0604020202020204" pitchFamily="34" charset="0"/>
                <a:cs typeface="Times New Roman" panose="02020603050405020304" pitchFamily="18" charset="0"/>
              </a:rPr>
              <a:t>donnée "paramètre" : donnée utile à un traitement et non mémorisée (ex: date d'édition d'un document),</a:t>
            </a:r>
          </a:p>
          <a:p>
            <a:pPr algn="just"/>
            <a:r>
              <a:rPr lang="fr-FR" altLang="fr-FR" sz="2400">
                <a:latin typeface="Arial" panose="020B0604020202020204" pitchFamily="34" charset="0"/>
                <a:cs typeface="Times New Roman" panose="02020603050405020304" pitchFamily="18" charset="0"/>
              </a:rPr>
              <a:t>une règle de calcul (pour les données calculées),</a:t>
            </a:r>
          </a:p>
          <a:p>
            <a:pPr algn="just"/>
            <a:r>
              <a:rPr lang="fr-FR" altLang="fr-FR" sz="2400">
                <a:latin typeface="Arial" panose="020B0604020202020204" pitchFamily="34" charset="0"/>
                <a:cs typeface="Times New Roman" panose="02020603050405020304" pitchFamily="18" charset="0"/>
              </a:rPr>
              <a:t>des contraintes d'intégrité: intervalle de valeurs, liste de valeurs, ...</a:t>
            </a:r>
            <a:endParaRPr lang="fr-FR" altLang="fr-FR" sz="240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945ACD17-21FD-1658-662F-8D551232B549}"/>
              </a:ext>
            </a:extLst>
          </p:cNvPr>
          <p:cNvSpPr>
            <a:spLocks noGrp="1" noChangeArrowheads="1"/>
          </p:cNvSpPr>
          <p:nvPr>
            <p:ph type="body" idx="1"/>
          </p:nvPr>
        </p:nvSpPr>
        <p:spPr>
          <a:xfrm>
            <a:off x="544513" y="457200"/>
            <a:ext cx="8394700" cy="5638800"/>
          </a:xfrm>
        </p:spPr>
        <p:txBody>
          <a:bodyPr/>
          <a:lstStyle/>
          <a:p>
            <a:pPr>
              <a:lnSpc>
                <a:spcPct val="90000"/>
              </a:lnSpc>
              <a:buFontTx/>
              <a:buNone/>
            </a:pPr>
            <a:r>
              <a:rPr lang="fr-FR" altLang="fr-FR" b="1" dirty="0">
                <a:solidFill>
                  <a:schemeClr val="accent2"/>
                </a:solidFill>
                <a:latin typeface="Arial" panose="020B0604020202020204" pitchFamily="34" charset="0"/>
              </a:rPr>
              <a:t>Les concepts de base</a:t>
            </a:r>
          </a:p>
          <a:p>
            <a:pPr algn="just">
              <a:lnSpc>
                <a:spcPct val="90000"/>
              </a:lnSpc>
              <a:buFontTx/>
              <a:buNone/>
            </a:pPr>
            <a:r>
              <a:rPr lang="fr-FR" altLang="fr-FR" sz="2800" b="1" dirty="0">
                <a:latin typeface="Arial" panose="020B0604020202020204" pitchFamily="34" charset="0"/>
              </a:rPr>
              <a:t>Entité </a:t>
            </a:r>
            <a:r>
              <a:rPr lang="fr-FR" altLang="fr-FR" sz="2800" dirty="0">
                <a:latin typeface="Arial" panose="020B0604020202020204" pitchFamily="34" charset="0"/>
              </a:rPr>
              <a:t>:  tout objet concret ou abstrait ayant une existence propre et conforme aux besoins de gestion de l’organisation. </a:t>
            </a:r>
          </a:p>
          <a:p>
            <a:pPr algn="just">
              <a:lnSpc>
                <a:spcPct val="90000"/>
              </a:lnSpc>
              <a:buFontTx/>
              <a:buNone/>
            </a:pPr>
            <a:r>
              <a:rPr lang="fr-FR" altLang="fr-FR" sz="2400" dirty="0">
                <a:latin typeface="Arial" panose="020B0604020202020204" pitchFamily="34" charset="0"/>
              </a:rPr>
              <a:t>    Ex: le client «Dupond», le produit de référence «a456», …</a:t>
            </a:r>
          </a:p>
          <a:p>
            <a:pPr algn="just">
              <a:lnSpc>
                <a:spcPct val="90000"/>
              </a:lnSpc>
              <a:buFontTx/>
              <a:buNone/>
            </a:pPr>
            <a:r>
              <a:rPr lang="fr-FR" altLang="fr-FR" sz="2800" b="1" u="sng" dirty="0">
                <a:latin typeface="Arial" panose="020B0604020202020204" pitchFamily="34" charset="0"/>
              </a:rPr>
              <a:t>Classe d’entités</a:t>
            </a:r>
            <a:r>
              <a:rPr lang="fr-FR" altLang="fr-FR" sz="2800" b="1" dirty="0">
                <a:latin typeface="Arial" panose="020B0604020202020204" pitchFamily="34" charset="0"/>
              </a:rPr>
              <a:t> (ou entité-type) : </a:t>
            </a:r>
            <a:r>
              <a:rPr lang="fr-FR" altLang="fr-FR" sz="2800" dirty="0">
                <a:latin typeface="Arial" panose="020B0604020202020204" pitchFamily="34" charset="0"/>
              </a:rPr>
              <a:t>ensemble des entités décrites par les mêmes caractéristiques. </a:t>
            </a:r>
          </a:p>
          <a:p>
            <a:pPr algn="just">
              <a:lnSpc>
                <a:spcPct val="90000"/>
              </a:lnSpc>
              <a:buFontTx/>
              <a:buNone/>
            </a:pPr>
            <a:r>
              <a:rPr lang="fr-FR" altLang="fr-FR" sz="2800" dirty="0">
                <a:latin typeface="Arial" panose="020B0604020202020204" pitchFamily="34" charset="0"/>
              </a:rPr>
              <a:t>   </a:t>
            </a:r>
            <a:r>
              <a:rPr lang="fr-FR" altLang="fr-FR" sz="2400" dirty="0">
                <a:latin typeface="Arial" panose="020B0604020202020204" pitchFamily="34" charset="0"/>
              </a:rPr>
              <a:t>Ex: la classe CLIENT dont «Dupond» est une occurrence (ou instance).</a:t>
            </a:r>
          </a:p>
          <a:p>
            <a:pPr algn="just">
              <a:lnSpc>
                <a:spcPct val="90000"/>
              </a:lnSpc>
              <a:buFontTx/>
              <a:buNone/>
            </a:pPr>
            <a:r>
              <a:rPr lang="fr-FR" altLang="fr-FR" sz="2800" b="1" dirty="0">
                <a:latin typeface="Arial" panose="020B0604020202020204" pitchFamily="34" charset="0"/>
              </a:rPr>
              <a:t>Association : </a:t>
            </a:r>
            <a:r>
              <a:rPr lang="fr-FR" altLang="fr-FR" sz="2800" dirty="0">
                <a:latin typeface="Arial" panose="020B0604020202020204" pitchFamily="34" charset="0"/>
              </a:rPr>
              <a:t>n-uplet d’entités « sémantiquement liées ».</a:t>
            </a:r>
          </a:p>
          <a:p>
            <a:pPr algn="just">
              <a:lnSpc>
                <a:spcPct val="90000"/>
              </a:lnSpc>
              <a:buFontTx/>
              <a:buNone/>
            </a:pPr>
            <a:r>
              <a:rPr lang="fr-FR" altLang="fr-FR" sz="2800" dirty="0">
                <a:latin typeface="Arial" panose="020B0604020202020204" pitchFamily="34" charset="0"/>
              </a:rPr>
              <a:t>   </a:t>
            </a:r>
            <a:r>
              <a:rPr lang="fr-FR" altLang="fr-FR" sz="2400" dirty="0">
                <a:latin typeface="Arial" panose="020B0604020202020204" pitchFamily="34" charset="0"/>
              </a:rPr>
              <a:t>Ex: («Dupond»,  «1367 VS 54») indiquant que la personne Dupond est propriétaire de la voiture immatriculée 1367 VS 54.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9CF9F9A9-3823-0720-9C0A-C7289027039B}"/>
              </a:ext>
            </a:extLst>
          </p:cNvPr>
          <p:cNvSpPr>
            <a:spLocks noGrp="1" noChangeArrowheads="1"/>
          </p:cNvSpPr>
          <p:nvPr>
            <p:ph type="body" idx="1"/>
          </p:nvPr>
        </p:nvSpPr>
        <p:spPr>
          <a:xfrm>
            <a:off x="403225" y="390525"/>
            <a:ext cx="8402638" cy="5638800"/>
          </a:xfrm>
        </p:spPr>
        <p:txBody>
          <a:bodyPr/>
          <a:lstStyle/>
          <a:p>
            <a:pPr algn="just">
              <a:buFontTx/>
              <a:buNone/>
            </a:pPr>
            <a:r>
              <a:rPr lang="fr-FR" altLang="fr-FR" sz="2800" b="1" u="sng" dirty="0">
                <a:latin typeface="Arial" panose="020B0604020202020204" pitchFamily="34" charset="0"/>
              </a:rPr>
              <a:t>Exemple</a:t>
            </a:r>
            <a:endParaRPr lang="fr-FR" altLang="fr-FR" sz="2400" dirty="0">
              <a:latin typeface="Arial" panose="020B0604020202020204" pitchFamily="34" charset="0"/>
            </a:endParaRPr>
          </a:p>
          <a:p>
            <a:pPr algn="just">
              <a:buFontTx/>
              <a:buNone/>
            </a:pPr>
            <a:endParaRPr lang="fr-FR" altLang="fr-FR" sz="2400" b="1" dirty="0">
              <a:latin typeface="Arial" panose="020B0604020202020204" pitchFamily="34" charset="0"/>
            </a:endParaRPr>
          </a:p>
        </p:txBody>
      </p:sp>
      <p:grpSp>
        <p:nvGrpSpPr>
          <p:cNvPr id="7209" name="Group 41">
            <a:extLst>
              <a:ext uri="{FF2B5EF4-FFF2-40B4-BE49-F238E27FC236}">
                <a16:creationId xmlns:a16="http://schemas.microsoft.com/office/drawing/2014/main" id="{C4828298-9BA8-AFB5-B856-DBC500D8118C}"/>
              </a:ext>
            </a:extLst>
          </p:cNvPr>
          <p:cNvGrpSpPr>
            <a:grpSpLocks/>
          </p:cNvGrpSpPr>
          <p:nvPr/>
        </p:nvGrpSpPr>
        <p:grpSpPr bwMode="auto">
          <a:xfrm>
            <a:off x="1177925" y="2348880"/>
            <a:ext cx="6788150" cy="1465263"/>
            <a:chOff x="667" y="2767"/>
            <a:chExt cx="4276" cy="923"/>
          </a:xfrm>
        </p:grpSpPr>
        <p:sp>
          <p:nvSpPr>
            <p:cNvPr id="7197" name="Rectangle 29">
              <a:extLst>
                <a:ext uri="{FF2B5EF4-FFF2-40B4-BE49-F238E27FC236}">
                  <a16:creationId xmlns:a16="http://schemas.microsoft.com/office/drawing/2014/main" id="{FBAC6E21-D277-5D4E-3FA4-5C43FA837A4F}"/>
                </a:ext>
              </a:extLst>
            </p:cNvPr>
            <p:cNvSpPr>
              <a:spLocks noChangeArrowheads="1"/>
            </p:cNvSpPr>
            <p:nvPr/>
          </p:nvSpPr>
          <p:spPr bwMode="auto">
            <a:xfrm>
              <a:off x="684" y="2767"/>
              <a:ext cx="1081" cy="923"/>
            </a:xfrm>
            <a:prstGeom prst="rect">
              <a:avLst/>
            </a:prstGeom>
            <a:solidFill>
              <a:srgbClr val="FFFFFF"/>
            </a:solidFill>
            <a:ln w="9525">
              <a:solidFill>
                <a:srgbClr val="000000"/>
              </a:solidFill>
              <a:miter lim="800000"/>
              <a:headEnd/>
              <a:tailEnd/>
            </a:ln>
          </p:spPr>
          <p:txBody>
            <a:bodyPr/>
            <a:lstStyle/>
            <a:p>
              <a:endParaRPr lang="fr-FR"/>
            </a:p>
          </p:txBody>
        </p:sp>
        <p:sp>
          <p:nvSpPr>
            <p:cNvPr id="7198" name="Rectangle 30">
              <a:extLst>
                <a:ext uri="{FF2B5EF4-FFF2-40B4-BE49-F238E27FC236}">
                  <a16:creationId xmlns:a16="http://schemas.microsoft.com/office/drawing/2014/main" id="{4C626791-5EFB-3234-80D1-B8659D55C109}"/>
                </a:ext>
              </a:extLst>
            </p:cNvPr>
            <p:cNvSpPr>
              <a:spLocks noChangeArrowheads="1"/>
            </p:cNvSpPr>
            <p:nvPr/>
          </p:nvSpPr>
          <p:spPr bwMode="auto">
            <a:xfrm>
              <a:off x="3804" y="2767"/>
              <a:ext cx="1139" cy="920"/>
            </a:xfrm>
            <a:prstGeom prst="rect">
              <a:avLst/>
            </a:prstGeom>
            <a:solidFill>
              <a:srgbClr val="FFFFFF"/>
            </a:solidFill>
            <a:ln w="9525">
              <a:solidFill>
                <a:srgbClr val="000000"/>
              </a:solidFill>
              <a:miter lim="800000"/>
              <a:headEnd/>
              <a:tailEnd/>
            </a:ln>
          </p:spPr>
          <p:txBody>
            <a:bodyPr/>
            <a:lstStyle/>
            <a:p>
              <a:endParaRPr lang="fr-FR"/>
            </a:p>
          </p:txBody>
        </p:sp>
        <p:sp>
          <p:nvSpPr>
            <p:cNvPr id="7199" name="Line 31">
              <a:extLst>
                <a:ext uri="{FF2B5EF4-FFF2-40B4-BE49-F238E27FC236}">
                  <a16:creationId xmlns:a16="http://schemas.microsoft.com/office/drawing/2014/main" id="{09D58B15-547C-5438-A016-BDE1D02BE8D1}"/>
                </a:ext>
              </a:extLst>
            </p:cNvPr>
            <p:cNvSpPr>
              <a:spLocks noChangeShapeType="1"/>
            </p:cNvSpPr>
            <p:nvPr/>
          </p:nvSpPr>
          <p:spPr bwMode="auto">
            <a:xfrm>
              <a:off x="684" y="3103"/>
              <a:ext cx="10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200" name="Line 32">
              <a:extLst>
                <a:ext uri="{FF2B5EF4-FFF2-40B4-BE49-F238E27FC236}">
                  <a16:creationId xmlns:a16="http://schemas.microsoft.com/office/drawing/2014/main" id="{17D38558-52FE-B0A4-ACDC-A1AA28B75D46}"/>
                </a:ext>
              </a:extLst>
            </p:cNvPr>
            <p:cNvSpPr>
              <a:spLocks noChangeShapeType="1"/>
            </p:cNvSpPr>
            <p:nvPr/>
          </p:nvSpPr>
          <p:spPr bwMode="auto">
            <a:xfrm>
              <a:off x="3804" y="3103"/>
              <a:ext cx="113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201" name="Line 33">
              <a:extLst>
                <a:ext uri="{FF2B5EF4-FFF2-40B4-BE49-F238E27FC236}">
                  <a16:creationId xmlns:a16="http://schemas.microsoft.com/office/drawing/2014/main" id="{D1D82CC7-2E60-99C9-716B-603CA5BC9F9F}"/>
                </a:ext>
              </a:extLst>
            </p:cNvPr>
            <p:cNvSpPr>
              <a:spLocks noChangeShapeType="1"/>
            </p:cNvSpPr>
            <p:nvPr/>
          </p:nvSpPr>
          <p:spPr bwMode="auto">
            <a:xfrm flipV="1">
              <a:off x="1788" y="3295"/>
              <a:ext cx="201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202" name="Oval 34">
              <a:extLst>
                <a:ext uri="{FF2B5EF4-FFF2-40B4-BE49-F238E27FC236}">
                  <a16:creationId xmlns:a16="http://schemas.microsoft.com/office/drawing/2014/main" id="{C7EF149C-50E0-B99F-3C34-F1691103F872}"/>
                </a:ext>
              </a:extLst>
            </p:cNvPr>
            <p:cNvSpPr>
              <a:spLocks noChangeArrowheads="1"/>
            </p:cNvSpPr>
            <p:nvPr/>
          </p:nvSpPr>
          <p:spPr bwMode="auto">
            <a:xfrm>
              <a:off x="2076" y="3055"/>
              <a:ext cx="1440" cy="480"/>
            </a:xfrm>
            <a:prstGeom prst="ellipse">
              <a:avLst/>
            </a:prstGeom>
            <a:solidFill>
              <a:srgbClr val="FFFFFF"/>
            </a:solidFill>
            <a:ln w="9525">
              <a:solidFill>
                <a:srgbClr val="000000"/>
              </a:solidFill>
              <a:round/>
              <a:headEnd/>
              <a:tailEnd/>
            </a:ln>
          </p:spPr>
          <p:txBody>
            <a:bodyPr/>
            <a:lstStyle/>
            <a:p>
              <a:endParaRPr lang="fr-FR"/>
            </a:p>
          </p:txBody>
        </p:sp>
        <p:sp>
          <p:nvSpPr>
            <p:cNvPr id="7203" name="Text Box 35">
              <a:extLst>
                <a:ext uri="{FF2B5EF4-FFF2-40B4-BE49-F238E27FC236}">
                  <a16:creationId xmlns:a16="http://schemas.microsoft.com/office/drawing/2014/main" id="{9D0D3C96-B140-A7D7-8808-81B61B64A8EA}"/>
                </a:ext>
              </a:extLst>
            </p:cNvPr>
            <p:cNvSpPr txBox="1">
              <a:spLocks noChangeArrowheads="1"/>
            </p:cNvSpPr>
            <p:nvPr/>
          </p:nvSpPr>
          <p:spPr bwMode="auto">
            <a:xfrm>
              <a:off x="667" y="2822"/>
              <a:ext cx="10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dirty="0">
                  <a:latin typeface="Arial" panose="020B0604020202020204" pitchFamily="34" charset="0"/>
                </a:rPr>
                <a:t>PERSONNE</a:t>
              </a:r>
            </a:p>
          </p:txBody>
        </p:sp>
        <p:sp>
          <p:nvSpPr>
            <p:cNvPr id="7204" name="Text Box 36">
              <a:extLst>
                <a:ext uri="{FF2B5EF4-FFF2-40B4-BE49-F238E27FC236}">
                  <a16:creationId xmlns:a16="http://schemas.microsoft.com/office/drawing/2014/main" id="{0BDA32C6-5C53-3279-FB81-EA103ACA0B18}"/>
                </a:ext>
              </a:extLst>
            </p:cNvPr>
            <p:cNvSpPr txBox="1">
              <a:spLocks noChangeArrowheads="1"/>
            </p:cNvSpPr>
            <p:nvPr/>
          </p:nvSpPr>
          <p:spPr bwMode="auto">
            <a:xfrm>
              <a:off x="3842" y="2774"/>
              <a:ext cx="8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VOITURE</a:t>
              </a:r>
            </a:p>
          </p:txBody>
        </p:sp>
        <p:sp>
          <p:nvSpPr>
            <p:cNvPr id="7205" name="Text Box 37">
              <a:extLst>
                <a:ext uri="{FF2B5EF4-FFF2-40B4-BE49-F238E27FC236}">
                  <a16:creationId xmlns:a16="http://schemas.microsoft.com/office/drawing/2014/main" id="{23CE1D62-B20C-84A9-B2A9-B382A349ED77}"/>
                </a:ext>
              </a:extLst>
            </p:cNvPr>
            <p:cNvSpPr txBox="1">
              <a:spLocks noChangeArrowheads="1"/>
            </p:cNvSpPr>
            <p:nvPr/>
          </p:nvSpPr>
          <p:spPr bwMode="auto">
            <a:xfrm>
              <a:off x="2172" y="3156"/>
              <a:ext cx="13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PROPRIETAIRE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C0D2167F-8BD0-B064-E8E0-2B75B4D9AA05}"/>
              </a:ext>
            </a:extLst>
          </p:cNvPr>
          <p:cNvSpPr>
            <a:spLocks noGrp="1" noChangeArrowheads="1"/>
          </p:cNvSpPr>
          <p:nvPr>
            <p:ph type="body" idx="1"/>
          </p:nvPr>
        </p:nvSpPr>
        <p:spPr>
          <a:xfrm>
            <a:off x="433388" y="373063"/>
            <a:ext cx="8024812" cy="5722937"/>
          </a:xfrm>
        </p:spPr>
        <p:txBody>
          <a:bodyPr/>
          <a:lstStyle/>
          <a:p>
            <a:pPr algn="just">
              <a:buFontTx/>
              <a:buNone/>
            </a:pPr>
            <a:r>
              <a:rPr lang="fr-FR" altLang="fr-FR" sz="2800" b="1">
                <a:latin typeface="Arial" panose="020B0604020202020204" pitchFamily="34" charset="0"/>
              </a:rPr>
              <a:t>   </a:t>
            </a:r>
            <a:r>
              <a:rPr lang="fr-FR" altLang="fr-FR" sz="2800" b="1" u="sng">
                <a:latin typeface="Arial" panose="020B0604020202020204" pitchFamily="34" charset="0"/>
              </a:rPr>
              <a:t>Propriété</a:t>
            </a:r>
            <a:r>
              <a:rPr lang="fr-FR" altLang="fr-FR" sz="2800" b="1">
                <a:latin typeface="Arial" panose="020B0604020202020204" pitchFamily="34" charset="0"/>
              </a:rPr>
              <a:t> </a:t>
            </a:r>
            <a:r>
              <a:rPr lang="fr-FR" altLang="fr-FR" sz="2800">
                <a:latin typeface="Arial" panose="020B0604020202020204" pitchFamily="34" charset="0"/>
              </a:rPr>
              <a:t>: donnée élémentaire permettant de caractériser les entités et associations</a:t>
            </a:r>
          </a:p>
          <a:p>
            <a:pPr algn="just">
              <a:buFontTx/>
              <a:buNone/>
            </a:pPr>
            <a:r>
              <a:rPr lang="fr-FR" altLang="fr-FR" sz="2800">
                <a:latin typeface="Arial" panose="020B0604020202020204" pitchFamily="34" charset="0"/>
              </a:rPr>
              <a:t>   	Ex : nom, prénom, adresse propriétés de PERSONNES</a:t>
            </a:r>
          </a:p>
          <a:p>
            <a:pPr algn="just">
              <a:buFontTx/>
              <a:buNone/>
            </a:pPr>
            <a:r>
              <a:rPr lang="fr-FR" altLang="fr-FR" sz="2800"/>
              <a:t>     </a:t>
            </a:r>
          </a:p>
        </p:txBody>
      </p:sp>
      <p:grpSp>
        <p:nvGrpSpPr>
          <p:cNvPr id="9240" name="Group 24">
            <a:extLst>
              <a:ext uri="{FF2B5EF4-FFF2-40B4-BE49-F238E27FC236}">
                <a16:creationId xmlns:a16="http://schemas.microsoft.com/office/drawing/2014/main" id="{47963CA8-5A61-5F09-DBA2-8A054B40EAFA}"/>
              </a:ext>
            </a:extLst>
          </p:cNvPr>
          <p:cNvGrpSpPr>
            <a:grpSpLocks/>
          </p:cNvGrpSpPr>
          <p:nvPr/>
        </p:nvGrpSpPr>
        <p:grpSpPr bwMode="auto">
          <a:xfrm>
            <a:off x="1042988" y="2667000"/>
            <a:ext cx="7110412" cy="3810000"/>
            <a:chOff x="657" y="1680"/>
            <a:chExt cx="4479" cy="2400"/>
          </a:xfrm>
        </p:grpSpPr>
        <p:sp>
          <p:nvSpPr>
            <p:cNvPr id="9220" name="Rectangle 4">
              <a:extLst>
                <a:ext uri="{FF2B5EF4-FFF2-40B4-BE49-F238E27FC236}">
                  <a16:creationId xmlns:a16="http://schemas.microsoft.com/office/drawing/2014/main" id="{62068319-5922-4D0D-679B-EECB6CC8E360}"/>
                </a:ext>
              </a:extLst>
            </p:cNvPr>
            <p:cNvSpPr>
              <a:spLocks noChangeArrowheads="1"/>
            </p:cNvSpPr>
            <p:nvPr/>
          </p:nvSpPr>
          <p:spPr bwMode="auto">
            <a:xfrm>
              <a:off x="672" y="1680"/>
              <a:ext cx="1392" cy="134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9221" name="Line 5">
              <a:extLst>
                <a:ext uri="{FF2B5EF4-FFF2-40B4-BE49-F238E27FC236}">
                  <a16:creationId xmlns:a16="http://schemas.microsoft.com/office/drawing/2014/main" id="{FF90E917-2341-F744-812E-D7185AC260F4}"/>
                </a:ext>
              </a:extLst>
            </p:cNvPr>
            <p:cNvSpPr>
              <a:spLocks noChangeShapeType="1"/>
            </p:cNvSpPr>
            <p:nvPr/>
          </p:nvSpPr>
          <p:spPr bwMode="auto">
            <a:xfrm>
              <a:off x="672" y="2016"/>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22" name="Text Box 6">
              <a:extLst>
                <a:ext uri="{FF2B5EF4-FFF2-40B4-BE49-F238E27FC236}">
                  <a16:creationId xmlns:a16="http://schemas.microsoft.com/office/drawing/2014/main" id="{CE0B421D-E70F-25A0-017C-6487379F1CF7}"/>
                </a:ext>
              </a:extLst>
            </p:cNvPr>
            <p:cNvSpPr txBox="1">
              <a:spLocks noChangeArrowheads="1"/>
            </p:cNvSpPr>
            <p:nvPr/>
          </p:nvSpPr>
          <p:spPr bwMode="auto">
            <a:xfrm>
              <a:off x="657" y="1687"/>
              <a:ext cx="12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PROFESSEUR</a:t>
              </a:r>
            </a:p>
          </p:txBody>
        </p:sp>
        <p:sp>
          <p:nvSpPr>
            <p:cNvPr id="9223" name="Text Box 7">
              <a:extLst>
                <a:ext uri="{FF2B5EF4-FFF2-40B4-BE49-F238E27FC236}">
                  <a16:creationId xmlns:a16="http://schemas.microsoft.com/office/drawing/2014/main" id="{56CEDF6C-EF11-2223-677D-13C32325F947}"/>
                </a:ext>
              </a:extLst>
            </p:cNvPr>
            <p:cNvSpPr txBox="1">
              <a:spLocks noChangeArrowheads="1"/>
            </p:cNvSpPr>
            <p:nvPr/>
          </p:nvSpPr>
          <p:spPr bwMode="auto">
            <a:xfrm>
              <a:off x="710" y="2071"/>
              <a:ext cx="791"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Nom,</a:t>
              </a:r>
            </a:p>
            <a:p>
              <a:r>
                <a:rPr lang="fr-FR" altLang="fr-FR" sz="2000">
                  <a:latin typeface="Arial" panose="020B0604020202020204" pitchFamily="34" charset="0"/>
                </a:rPr>
                <a:t>Prénom,</a:t>
              </a:r>
            </a:p>
            <a:p>
              <a:r>
                <a:rPr lang="fr-FR" altLang="fr-FR" sz="2000">
                  <a:latin typeface="Arial" panose="020B0604020202020204" pitchFamily="34" charset="0"/>
                </a:rPr>
                <a:t>Adresse, </a:t>
              </a:r>
            </a:p>
            <a:p>
              <a:r>
                <a:rPr lang="fr-FR" altLang="fr-FR" sz="2000">
                  <a:latin typeface="Arial" panose="020B0604020202020204" pitchFamily="34" charset="0"/>
                </a:rPr>
                <a:t>Age</a:t>
              </a:r>
            </a:p>
          </p:txBody>
        </p:sp>
        <p:sp>
          <p:nvSpPr>
            <p:cNvPr id="9224" name="Oval 8">
              <a:extLst>
                <a:ext uri="{FF2B5EF4-FFF2-40B4-BE49-F238E27FC236}">
                  <a16:creationId xmlns:a16="http://schemas.microsoft.com/office/drawing/2014/main" id="{96C9905D-6466-1960-57E8-23DF769F9C30}"/>
                </a:ext>
              </a:extLst>
            </p:cNvPr>
            <p:cNvSpPr>
              <a:spLocks noChangeArrowheads="1"/>
            </p:cNvSpPr>
            <p:nvPr/>
          </p:nvSpPr>
          <p:spPr bwMode="auto">
            <a:xfrm>
              <a:off x="2433" y="1728"/>
              <a:ext cx="1214" cy="12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9225" name="Line 9">
              <a:extLst>
                <a:ext uri="{FF2B5EF4-FFF2-40B4-BE49-F238E27FC236}">
                  <a16:creationId xmlns:a16="http://schemas.microsoft.com/office/drawing/2014/main" id="{091B1725-4386-19EF-ECD6-8F08CE447362}"/>
                </a:ext>
              </a:extLst>
            </p:cNvPr>
            <p:cNvSpPr>
              <a:spLocks noChangeShapeType="1"/>
            </p:cNvSpPr>
            <p:nvPr/>
          </p:nvSpPr>
          <p:spPr bwMode="auto">
            <a:xfrm>
              <a:off x="2064" y="2400"/>
              <a:ext cx="39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26" name="Line 10">
              <a:extLst>
                <a:ext uri="{FF2B5EF4-FFF2-40B4-BE49-F238E27FC236}">
                  <a16:creationId xmlns:a16="http://schemas.microsoft.com/office/drawing/2014/main" id="{8EF56772-DE8A-7876-7D61-9A2256A966B3}"/>
                </a:ext>
              </a:extLst>
            </p:cNvPr>
            <p:cNvSpPr>
              <a:spLocks noChangeShapeType="1"/>
            </p:cNvSpPr>
            <p:nvPr/>
          </p:nvSpPr>
          <p:spPr bwMode="auto">
            <a:xfrm>
              <a:off x="2482" y="2064"/>
              <a:ext cx="10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27" name="Text Box 11">
              <a:extLst>
                <a:ext uri="{FF2B5EF4-FFF2-40B4-BE49-F238E27FC236}">
                  <a16:creationId xmlns:a16="http://schemas.microsoft.com/office/drawing/2014/main" id="{9ACF13EA-6E1A-DE2E-2E4C-1B53EFBF3BF0}"/>
                </a:ext>
              </a:extLst>
            </p:cNvPr>
            <p:cNvSpPr txBox="1">
              <a:spLocks noChangeArrowheads="1"/>
            </p:cNvSpPr>
            <p:nvPr/>
          </p:nvSpPr>
          <p:spPr bwMode="auto">
            <a:xfrm>
              <a:off x="2640" y="1816"/>
              <a:ext cx="69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COURS</a:t>
              </a:r>
            </a:p>
          </p:txBody>
        </p:sp>
        <p:sp>
          <p:nvSpPr>
            <p:cNvPr id="9228" name="Text Box 12">
              <a:extLst>
                <a:ext uri="{FF2B5EF4-FFF2-40B4-BE49-F238E27FC236}">
                  <a16:creationId xmlns:a16="http://schemas.microsoft.com/office/drawing/2014/main" id="{D467A630-C8FB-691E-BA01-479040283BDC}"/>
                </a:ext>
              </a:extLst>
            </p:cNvPr>
            <p:cNvSpPr txBox="1">
              <a:spLocks noChangeArrowheads="1"/>
            </p:cNvSpPr>
            <p:nvPr/>
          </p:nvSpPr>
          <p:spPr bwMode="auto">
            <a:xfrm>
              <a:off x="2592" y="2052"/>
              <a:ext cx="1067"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FR" altLang="fr-FR" sz="2000">
                  <a:latin typeface="Arial" panose="020B0604020202020204" pitchFamily="34" charset="0"/>
                </a:rPr>
                <a:t>Jour,</a:t>
              </a:r>
            </a:p>
            <a:p>
              <a:r>
                <a:rPr lang="fr-FR" altLang="fr-FR" sz="2000">
                  <a:latin typeface="Arial" panose="020B0604020202020204" pitchFamily="34" charset="0"/>
                </a:rPr>
                <a:t>Heuredeb,</a:t>
              </a:r>
            </a:p>
            <a:p>
              <a:r>
                <a:rPr lang="fr-FR" altLang="fr-FR" sz="2000">
                  <a:latin typeface="Arial" panose="020B0604020202020204" pitchFamily="34" charset="0"/>
                </a:rPr>
                <a:t>Heurefin</a:t>
              </a:r>
            </a:p>
          </p:txBody>
        </p:sp>
        <p:sp>
          <p:nvSpPr>
            <p:cNvPr id="9229" name="Rectangle 13">
              <a:extLst>
                <a:ext uri="{FF2B5EF4-FFF2-40B4-BE49-F238E27FC236}">
                  <a16:creationId xmlns:a16="http://schemas.microsoft.com/office/drawing/2014/main" id="{7E7D6F1B-E41D-2EAB-3350-B4BDCBC9298A}"/>
                </a:ext>
              </a:extLst>
            </p:cNvPr>
            <p:cNvSpPr>
              <a:spLocks noChangeArrowheads="1"/>
            </p:cNvSpPr>
            <p:nvPr/>
          </p:nvSpPr>
          <p:spPr bwMode="auto">
            <a:xfrm>
              <a:off x="3888" y="1680"/>
              <a:ext cx="1248" cy="105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9230" name="Line 14">
              <a:extLst>
                <a:ext uri="{FF2B5EF4-FFF2-40B4-BE49-F238E27FC236}">
                  <a16:creationId xmlns:a16="http://schemas.microsoft.com/office/drawing/2014/main" id="{A296BB81-6FE6-A531-A34D-3C718BF5E3D5}"/>
                </a:ext>
              </a:extLst>
            </p:cNvPr>
            <p:cNvSpPr>
              <a:spLocks noChangeShapeType="1"/>
            </p:cNvSpPr>
            <p:nvPr/>
          </p:nvSpPr>
          <p:spPr bwMode="auto">
            <a:xfrm>
              <a:off x="3888" y="1968"/>
              <a:ext cx="12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31" name="Text Box 15">
              <a:extLst>
                <a:ext uri="{FF2B5EF4-FFF2-40B4-BE49-F238E27FC236}">
                  <a16:creationId xmlns:a16="http://schemas.microsoft.com/office/drawing/2014/main" id="{743248BB-4531-2E83-4DAE-7EA6CB522BC3}"/>
                </a:ext>
              </a:extLst>
            </p:cNvPr>
            <p:cNvSpPr txBox="1">
              <a:spLocks noChangeArrowheads="1"/>
            </p:cNvSpPr>
            <p:nvPr/>
          </p:nvSpPr>
          <p:spPr bwMode="auto">
            <a:xfrm>
              <a:off x="3926" y="1688"/>
              <a:ext cx="8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MATIERE</a:t>
              </a:r>
            </a:p>
          </p:txBody>
        </p:sp>
        <p:sp>
          <p:nvSpPr>
            <p:cNvPr id="9232" name="Text Box 16">
              <a:extLst>
                <a:ext uri="{FF2B5EF4-FFF2-40B4-BE49-F238E27FC236}">
                  <a16:creationId xmlns:a16="http://schemas.microsoft.com/office/drawing/2014/main" id="{89278E86-80F2-079B-9E02-6DD0F65F6FFF}"/>
                </a:ext>
              </a:extLst>
            </p:cNvPr>
            <p:cNvSpPr txBox="1">
              <a:spLocks noChangeArrowheads="1"/>
            </p:cNvSpPr>
            <p:nvPr/>
          </p:nvSpPr>
          <p:spPr bwMode="auto">
            <a:xfrm>
              <a:off x="3974" y="2023"/>
              <a:ext cx="6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Refmat,</a:t>
              </a:r>
            </a:p>
            <a:p>
              <a:r>
                <a:rPr lang="fr-FR" altLang="fr-FR" sz="2000">
                  <a:latin typeface="Arial" panose="020B0604020202020204" pitchFamily="34" charset="0"/>
                </a:rPr>
                <a:t>Intitulé</a:t>
              </a:r>
            </a:p>
          </p:txBody>
        </p:sp>
        <p:sp>
          <p:nvSpPr>
            <p:cNvPr id="9233" name="Line 17">
              <a:extLst>
                <a:ext uri="{FF2B5EF4-FFF2-40B4-BE49-F238E27FC236}">
                  <a16:creationId xmlns:a16="http://schemas.microsoft.com/office/drawing/2014/main" id="{CF414E4F-355C-D41B-7CCD-A142CB6FF157}"/>
                </a:ext>
              </a:extLst>
            </p:cNvPr>
            <p:cNvSpPr>
              <a:spLocks noChangeShapeType="1"/>
            </p:cNvSpPr>
            <p:nvPr/>
          </p:nvSpPr>
          <p:spPr bwMode="auto">
            <a:xfrm>
              <a:off x="3657" y="2400"/>
              <a:ext cx="23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34" name="Rectangle 18">
              <a:extLst>
                <a:ext uri="{FF2B5EF4-FFF2-40B4-BE49-F238E27FC236}">
                  <a16:creationId xmlns:a16="http://schemas.microsoft.com/office/drawing/2014/main" id="{87B5C658-F319-90D7-1A0B-E49BFC380148}"/>
                </a:ext>
              </a:extLst>
            </p:cNvPr>
            <p:cNvSpPr>
              <a:spLocks noChangeArrowheads="1"/>
            </p:cNvSpPr>
            <p:nvPr/>
          </p:nvSpPr>
          <p:spPr bwMode="auto">
            <a:xfrm>
              <a:off x="2352" y="3216"/>
              <a:ext cx="1488" cy="86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9235" name="Line 19">
              <a:extLst>
                <a:ext uri="{FF2B5EF4-FFF2-40B4-BE49-F238E27FC236}">
                  <a16:creationId xmlns:a16="http://schemas.microsoft.com/office/drawing/2014/main" id="{F7F16075-2378-6A9E-CEBA-816C59134155}"/>
                </a:ext>
              </a:extLst>
            </p:cNvPr>
            <p:cNvSpPr>
              <a:spLocks noChangeShapeType="1"/>
            </p:cNvSpPr>
            <p:nvPr/>
          </p:nvSpPr>
          <p:spPr bwMode="auto">
            <a:xfrm>
              <a:off x="2352" y="3504"/>
              <a:ext cx="14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36" name="Line 20">
              <a:extLst>
                <a:ext uri="{FF2B5EF4-FFF2-40B4-BE49-F238E27FC236}">
                  <a16:creationId xmlns:a16="http://schemas.microsoft.com/office/drawing/2014/main" id="{B7974E4C-BE81-B886-48A6-4C0B91E307A5}"/>
                </a:ext>
              </a:extLst>
            </p:cNvPr>
            <p:cNvSpPr>
              <a:spLocks noChangeShapeType="1"/>
            </p:cNvSpPr>
            <p:nvPr/>
          </p:nvSpPr>
          <p:spPr bwMode="auto">
            <a:xfrm>
              <a:off x="3024" y="292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237" name="Text Box 21">
              <a:extLst>
                <a:ext uri="{FF2B5EF4-FFF2-40B4-BE49-F238E27FC236}">
                  <a16:creationId xmlns:a16="http://schemas.microsoft.com/office/drawing/2014/main" id="{EEBCFA64-6103-72AC-EDD7-A10D788E8430}"/>
                </a:ext>
              </a:extLst>
            </p:cNvPr>
            <p:cNvSpPr txBox="1">
              <a:spLocks noChangeArrowheads="1"/>
            </p:cNvSpPr>
            <p:nvPr/>
          </p:nvSpPr>
          <p:spPr bwMode="auto">
            <a:xfrm>
              <a:off x="2544" y="3245"/>
              <a:ext cx="7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CLASSE</a:t>
              </a:r>
            </a:p>
          </p:txBody>
        </p:sp>
        <p:sp>
          <p:nvSpPr>
            <p:cNvPr id="9238" name="Text Box 22">
              <a:extLst>
                <a:ext uri="{FF2B5EF4-FFF2-40B4-BE49-F238E27FC236}">
                  <a16:creationId xmlns:a16="http://schemas.microsoft.com/office/drawing/2014/main" id="{F0C0365A-26BE-8455-1272-D4CAD588EA64}"/>
                </a:ext>
              </a:extLst>
            </p:cNvPr>
            <p:cNvSpPr txBox="1">
              <a:spLocks noChangeArrowheads="1"/>
            </p:cNvSpPr>
            <p:nvPr/>
          </p:nvSpPr>
          <p:spPr bwMode="auto">
            <a:xfrm>
              <a:off x="2390" y="3511"/>
              <a:ext cx="86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Refclasse,</a:t>
              </a:r>
            </a:p>
            <a:p>
              <a:r>
                <a:rPr lang="fr-FR" altLang="fr-FR" sz="2000">
                  <a:latin typeface="Arial" panose="020B0604020202020204" pitchFamily="34" charset="0"/>
                </a:rPr>
                <a:t>Numsalle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8C924372-B847-0C75-F7CA-53EC111DC5B2}"/>
              </a:ext>
            </a:extLst>
          </p:cNvPr>
          <p:cNvSpPr>
            <a:spLocks noGrp="1" noChangeArrowheads="1"/>
          </p:cNvSpPr>
          <p:nvPr>
            <p:ph type="body" idx="1"/>
          </p:nvPr>
        </p:nvSpPr>
        <p:spPr>
          <a:xfrm>
            <a:off x="449263" y="442913"/>
            <a:ext cx="8166100" cy="5957887"/>
          </a:xfrm>
        </p:spPr>
        <p:txBody>
          <a:bodyPr/>
          <a:lstStyle/>
          <a:p>
            <a:pPr algn="just">
              <a:buFontTx/>
              <a:buNone/>
            </a:pPr>
            <a:r>
              <a:rPr lang="fr-FR" altLang="fr-FR" sz="2800" b="1" u="sng">
                <a:latin typeface="Arial" panose="020B0604020202020204" pitchFamily="34" charset="0"/>
              </a:rPr>
              <a:t>Identifiant </a:t>
            </a:r>
            <a:r>
              <a:rPr lang="fr-FR" altLang="fr-FR" sz="2800" b="1">
                <a:latin typeface="Arial" panose="020B0604020202020204" pitchFamily="34" charset="0"/>
              </a:rPr>
              <a:t>: </a:t>
            </a:r>
            <a:r>
              <a:rPr lang="fr-FR" altLang="fr-FR" sz="2800">
                <a:latin typeface="Arial" panose="020B0604020202020204" pitchFamily="34" charset="0"/>
              </a:rPr>
              <a:t>propriété ou groupe de propriétés permettant d’identifier de manière unique chaque occurrence de la classe d’entités.</a:t>
            </a:r>
          </a:p>
          <a:p>
            <a:pPr algn="just">
              <a:buFontTx/>
              <a:buNone/>
            </a:pPr>
            <a:r>
              <a:rPr lang="fr-FR" altLang="fr-FR" sz="2800">
                <a:latin typeface="Arial" panose="020B0604020202020204" pitchFamily="34" charset="0"/>
              </a:rPr>
              <a:t>   	</a:t>
            </a:r>
            <a:r>
              <a:rPr lang="fr-FR" altLang="fr-FR" sz="2400">
                <a:latin typeface="Arial" panose="020B0604020202020204" pitchFamily="34" charset="0"/>
              </a:rPr>
              <a:t>Ex : N° immatriculation pour VOITURE. Nom ne suffit pas pour PERSONNE. N° Client pour CLIENT (propriété ajoutée)</a:t>
            </a:r>
            <a:endParaRPr lang="fr-FR" altLang="fr-FR" sz="2400" b="1">
              <a:latin typeface="Arial" panose="020B0604020202020204" pitchFamily="34" charset="0"/>
            </a:endParaRPr>
          </a:p>
          <a:p>
            <a:pPr algn="just">
              <a:buFontTx/>
              <a:buNone/>
            </a:pPr>
            <a:r>
              <a:rPr lang="fr-FR" altLang="fr-FR" sz="2800" b="1">
                <a:latin typeface="Arial" panose="020B0604020202020204" pitchFamily="34" charset="0"/>
              </a:rPr>
              <a:t>    </a:t>
            </a:r>
            <a:r>
              <a:rPr lang="fr-FR" altLang="fr-FR" sz="2400">
                <a:latin typeface="Arial" panose="020B0604020202020204" pitchFamily="34" charset="0"/>
              </a:rPr>
              <a:t>Les identifiants sont en général soulignés.</a:t>
            </a:r>
          </a:p>
          <a:p>
            <a:pPr algn="just">
              <a:buFontTx/>
              <a:buNone/>
            </a:pPr>
            <a:r>
              <a:rPr lang="fr-FR" altLang="fr-FR" sz="2800" b="1" u="sng">
                <a:latin typeface="Arial" panose="020B0604020202020204" pitchFamily="34" charset="0"/>
              </a:rPr>
              <a:t>Cardinalités</a:t>
            </a:r>
            <a:r>
              <a:rPr lang="fr-FR" altLang="fr-FR" sz="2800">
                <a:latin typeface="Arial" panose="020B0604020202020204" pitchFamily="34" charset="0"/>
              </a:rPr>
              <a:t> : indiquent pour chaque classe d’entités de la classe d’association, les nombres mini et maxi d’occurrences de l’association pouvant exister pour une occurrence de l’entité.</a:t>
            </a:r>
          </a:p>
          <a:p>
            <a:pPr algn="just">
              <a:buFontTx/>
              <a:buNone/>
            </a:pPr>
            <a:r>
              <a:rPr lang="fr-FR" altLang="fr-FR" sz="2800">
                <a:latin typeface="Arial" panose="020B0604020202020204" pitchFamily="34" charset="0"/>
              </a:rPr>
              <a:t>   La cardinalité minimum est 0 ou 1.</a:t>
            </a:r>
          </a:p>
          <a:p>
            <a:pPr algn="just">
              <a:buFontTx/>
              <a:buNone/>
            </a:pPr>
            <a:r>
              <a:rPr lang="fr-FR" altLang="fr-FR" sz="2400">
                <a:latin typeface="Arial" panose="020B0604020202020204" pitchFamily="34" charset="0"/>
              </a:rPr>
              <a:t>    </a:t>
            </a:r>
            <a:r>
              <a:rPr lang="fr-FR" altLang="fr-FR" sz="2800">
                <a:latin typeface="Arial" panose="020B0604020202020204" pitchFamily="34" charset="0"/>
              </a:rPr>
              <a:t>La cardinalité maximum est 1 ou 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F4FAE38-AD8F-64EE-8EB8-4E8C9411C47E}"/>
              </a:ext>
            </a:extLst>
          </p:cNvPr>
          <p:cNvSpPr>
            <a:spLocks noChangeArrowheads="1"/>
          </p:cNvSpPr>
          <p:nvPr/>
        </p:nvSpPr>
        <p:spPr bwMode="auto">
          <a:xfrm>
            <a:off x="741363" y="511175"/>
            <a:ext cx="7788275" cy="5973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90000"/>
              </a:lnSpc>
              <a:spcBef>
                <a:spcPct val="50000"/>
              </a:spcBef>
            </a:pPr>
            <a:r>
              <a:rPr lang="fr-FR" altLang="fr-FR">
                <a:latin typeface="Arial" panose="020B0604020202020204" pitchFamily="34" charset="0"/>
              </a:rPr>
              <a:t>Une cardinalité minimum à 0 signifie qu’il est possible d’observer (un jour) une occurrence d’entité sans occurrence d’association.</a:t>
            </a:r>
          </a:p>
          <a:p>
            <a:pPr>
              <a:lnSpc>
                <a:spcPct val="90000"/>
              </a:lnSpc>
              <a:spcBef>
                <a:spcPct val="50000"/>
              </a:spcBef>
            </a:pPr>
            <a:r>
              <a:rPr lang="fr-FR" altLang="fr-FR">
                <a:latin typeface="Arial" panose="020B0604020202020204" pitchFamily="34" charset="0"/>
              </a:rPr>
              <a:t>Donc 4  combinaisons possibles : </a:t>
            </a:r>
          </a:p>
          <a:p>
            <a:pPr>
              <a:lnSpc>
                <a:spcPct val="90000"/>
              </a:lnSpc>
              <a:spcBef>
                <a:spcPct val="50000"/>
              </a:spcBef>
            </a:pPr>
            <a:r>
              <a:rPr lang="fr-FR" altLang="fr-FR">
                <a:latin typeface="Arial" panose="020B0604020202020204" pitchFamily="34" charset="0"/>
              </a:rPr>
              <a:t>	0,1    	au plus 1  </a:t>
            </a:r>
          </a:p>
          <a:p>
            <a:pPr>
              <a:lnSpc>
                <a:spcPct val="90000"/>
              </a:lnSpc>
              <a:spcBef>
                <a:spcPct val="50000"/>
              </a:spcBef>
            </a:pPr>
            <a:r>
              <a:rPr lang="fr-FR" altLang="fr-FR">
                <a:latin typeface="Arial" panose="020B0604020202020204" pitchFamily="34" charset="0"/>
              </a:rPr>
              <a:t>	1,1    	1 et 1 seul</a:t>
            </a:r>
          </a:p>
          <a:p>
            <a:pPr>
              <a:lnSpc>
                <a:spcPct val="90000"/>
              </a:lnSpc>
              <a:spcBef>
                <a:spcPct val="50000"/>
              </a:spcBef>
            </a:pPr>
            <a:r>
              <a:rPr lang="fr-FR" altLang="fr-FR">
                <a:latin typeface="Arial" panose="020B0604020202020204" pitchFamily="34" charset="0"/>
              </a:rPr>
              <a:t>	1,n    	au moins 1</a:t>
            </a:r>
          </a:p>
          <a:p>
            <a:pPr>
              <a:lnSpc>
                <a:spcPct val="90000"/>
              </a:lnSpc>
              <a:spcBef>
                <a:spcPct val="50000"/>
              </a:spcBef>
            </a:pPr>
            <a:r>
              <a:rPr lang="fr-FR" altLang="fr-FR">
                <a:latin typeface="Arial" panose="020B0604020202020204" pitchFamily="34" charset="0"/>
              </a:rPr>
              <a:t>	0,n    	un nombre quelconque</a:t>
            </a:r>
          </a:p>
          <a:p>
            <a:pPr>
              <a:lnSpc>
                <a:spcPct val="90000"/>
              </a:lnSpc>
              <a:spcBef>
                <a:spcPct val="50000"/>
              </a:spcBef>
            </a:pPr>
            <a:endParaRPr lang="fr-FR" altLang="fr-FR">
              <a:latin typeface="Arial" panose="020B0604020202020204" pitchFamily="34" charset="0"/>
            </a:endParaRPr>
          </a:p>
          <a:p>
            <a:pPr>
              <a:spcBef>
                <a:spcPct val="20000"/>
              </a:spcBef>
            </a:pPr>
            <a:r>
              <a:rPr lang="fr-FR" altLang="fr-FR" sz="2800">
                <a:latin typeface="Arial" panose="020B0604020202020204" pitchFamily="34" charset="0"/>
              </a:rPr>
              <a:t>Ex: PROPRIETAIRE(PERSONNE [0,n], </a:t>
            </a:r>
          </a:p>
          <a:p>
            <a:pPr>
              <a:spcBef>
                <a:spcPct val="20000"/>
              </a:spcBef>
            </a:pPr>
            <a:r>
              <a:rPr lang="fr-FR" altLang="fr-FR" sz="2800">
                <a:latin typeface="Arial" panose="020B0604020202020204" pitchFamily="34" charset="0"/>
              </a:rPr>
              <a:t>          VOITURE [1,1])</a:t>
            </a:r>
          </a:p>
          <a:p>
            <a:pPr algn="just">
              <a:spcBef>
                <a:spcPct val="20000"/>
              </a:spcBef>
            </a:pPr>
            <a:r>
              <a:rPr lang="fr-FR" altLang="fr-FR">
                <a:latin typeface="Arial" panose="020B0604020202020204" pitchFamily="34" charset="0"/>
              </a:rPr>
              <a:t>Une personne a 0 à n voitures; une voiture a 1 et 1   seul propriétaire.</a:t>
            </a:r>
          </a:p>
        </p:txBody>
      </p:sp>
      <p:sp>
        <p:nvSpPr>
          <p:cNvPr id="33795" name="AutoShape 3">
            <a:extLst>
              <a:ext uri="{FF2B5EF4-FFF2-40B4-BE49-F238E27FC236}">
                <a16:creationId xmlns:a16="http://schemas.microsoft.com/office/drawing/2014/main" id="{4353AFFB-6F3C-7C8B-2F26-6D146AD1C1DB}"/>
              </a:ext>
            </a:extLst>
          </p:cNvPr>
          <p:cNvSpPr>
            <a:spLocks/>
          </p:cNvSpPr>
          <p:nvPr/>
        </p:nvSpPr>
        <p:spPr bwMode="auto">
          <a:xfrm>
            <a:off x="1008063" y="2206625"/>
            <a:ext cx="568325" cy="1955800"/>
          </a:xfrm>
          <a:prstGeom prst="leftBrace">
            <a:avLst>
              <a:gd name="adj1" fmla="val 28678"/>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E41B041E-B4F5-D03C-0F2B-715D3B2AE629}"/>
              </a:ext>
            </a:extLst>
          </p:cNvPr>
          <p:cNvSpPr>
            <a:spLocks noGrp="1" noChangeArrowheads="1"/>
          </p:cNvSpPr>
          <p:nvPr>
            <p:ph type="body" idx="1"/>
          </p:nvPr>
        </p:nvSpPr>
        <p:spPr>
          <a:xfrm>
            <a:off x="457200" y="381000"/>
            <a:ext cx="8229600" cy="5715000"/>
          </a:xfrm>
        </p:spPr>
        <p:txBody>
          <a:bodyPr/>
          <a:lstStyle/>
          <a:p>
            <a:pPr>
              <a:buFontTx/>
              <a:buNone/>
            </a:pPr>
            <a:r>
              <a:rPr lang="fr-FR" altLang="fr-FR" sz="2800">
                <a:latin typeface="Arial" panose="020B0604020202020204" pitchFamily="34" charset="0"/>
              </a:rPr>
              <a:t>CONDUIT(PERSONNE [0,n], VOITURE [1,n])</a:t>
            </a:r>
          </a:p>
          <a:p>
            <a:pPr algn="just">
              <a:buFontTx/>
              <a:buNone/>
            </a:pPr>
            <a:r>
              <a:rPr lang="fr-FR" altLang="fr-FR" sz="2400">
                <a:latin typeface="Arial" panose="020B0604020202020204" pitchFamily="34" charset="0"/>
              </a:rPr>
              <a:t>    Une personne conduit 0 à n voitures; une voiture est conduite par 1 à n personnes.</a:t>
            </a:r>
          </a:p>
          <a:p>
            <a:pPr algn="just">
              <a:buFontTx/>
              <a:buNone/>
            </a:pPr>
            <a:endParaRPr lang="fr-FR" altLang="fr-FR" sz="2400">
              <a:latin typeface="Arial" panose="020B0604020202020204" pitchFamily="34" charset="0"/>
            </a:endParaRPr>
          </a:p>
          <a:p>
            <a:pPr>
              <a:buFontTx/>
              <a:buNone/>
            </a:pPr>
            <a:r>
              <a:rPr lang="fr-FR" altLang="fr-FR">
                <a:latin typeface="Arial" panose="020B0604020202020204" pitchFamily="34" charset="0"/>
              </a:rPr>
              <a:t>Représentation graphique</a:t>
            </a:r>
            <a:r>
              <a:rPr lang="fr-FR" altLang="fr-FR"/>
              <a:t> :</a:t>
            </a:r>
          </a:p>
        </p:txBody>
      </p:sp>
      <p:sp>
        <p:nvSpPr>
          <p:cNvPr id="11283" name="Text Box 19">
            <a:extLst>
              <a:ext uri="{FF2B5EF4-FFF2-40B4-BE49-F238E27FC236}">
                <a16:creationId xmlns:a16="http://schemas.microsoft.com/office/drawing/2014/main" id="{3C3B4ECC-01E7-BD59-710C-1A9D7C869396}"/>
              </a:ext>
            </a:extLst>
          </p:cNvPr>
          <p:cNvSpPr txBox="1">
            <a:spLocks noChangeArrowheads="1"/>
          </p:cNvSpPr>
          <p:nvPr/>
        </p:nvSpPr>
        <p:spPr bwMode="auto">
          <a:xfrm>
            <a:off x="649288" y="5507038"/>
            <a:ext cx="79105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a:latin typeface="Arial" panose="020B0604020202020204" pitchFamily="34" charset="0"/>
              </a:rPr>
              <a:t>!! Dans les méthodes anglo-saxonnes la cardinalité est  </a:t>
            </a:r>
          </a:p>
          <a:p>
            <a:pPr algn="ctr"/>
            <a:r>
              <a:rPr lang="fr-FR" altLang="fr-FR">
                <a:latin typeface="Arial" panose="020B0604020202020204" pitchFamily="34" charset="0"/>
              </a:rPr>
              <a:t>placée du côté opposé à l’entité source !! </a:t>
            </a:r>
            <a:endParaRPr lang="en-US" altLang="fr-FR">
              <a:latin typeface="Arial" panose="020B0604020202020204" pitchFamily="34" charset="0"/>
            </a:endParaRPr>
          </a:p>
        </p:txBody>
      </p:sp>
      <p:grpSp>
        <p:nvGrpSpPr>
          <p:cNvPr id="11287" name="Group 23">
            <a:extLst>
              <a:ext uri="{FF2B5EF4-FFF2-40B4-BE49-F238E27FC236}">
                <a16:creationId xmlns:a16="http://schemas.microsoft.com/office/drawing/2014/main" id="{A6F02C85-7FF7-A75B-6E48-A14CE4F2069D}"/>
              </a:ext>
            </a:extLst>
          </p:cNvPr>
          <p:cNvGrpSpPr>
            <a:grpSpLocks/>
          </p:cNvGrpSpPr>
          <p:nvPr/>
        </p:nvGrpSpPr>
        <p:grpSpPr bwMode="auto">
          <a:xfrm>
            <a:off x="917575" y="2859088"/>
            <a:ext cx="6943725" cy="2386012"/>
            <a:chOff x="598" y="2228"/>
            <a:chExt cx="4374" cy="1503"/>
          </a:xfrm>
        </p:grpSpPr>
        <p:sp>
          <p:nvSpPr>
            <p:cNvPr id="11268" name="Rectangle 4">
              <a:extLst>
                <a:ext uri="{FF2B5EF4-FFF2-40B4-BE49-F238E27FC236}">
                  <a16:creationId xmlns:a16="http://schemas.microsoft.com/office/drawing/2014/main" id="{61CE8B9E-C5D1-BBA2-B268-C051308CB870}"/>
                </a:ext>
              </a:extLst>
            </p:cNvPr>
            <p:cNvSpPr>
              <a:spLocks noChangeArrowheads="1"/>
            </p:cNvSpPr>
            <p:nvPr/>
          </p:nvSpPr>
          <p:spPr bwMode="auto">
            <a:xfrm>
              <a:off x="622" y="2579"/>
              <a:ext cx="1101" cy="1152"/>
            </a:xfrm>
            <a:prstGeom prst="rect">
              <a:avLst/>
            </a:prstGeom>
            <a:solidFill>
              <a:srgbClr val="FFFFFF"/>
            </a:solidFill>
            <a:ln w="9525">
              <a:solidFill>
                <a:srgbClr val="000000"/>
              </a:solidFill>
              <a:miter lim="800000"/>
              <a:headEnd/>
              <a:tailEnd/>
            </a:ln>
          </p:spPr>
          <p:txBody>
            <a:bodyPr/>
            <a:lstStyle/>
            <a:p>
              <a:endParaRPr lang="fr-FR"/>
            </a:p>
          </p:txBody>
        </p:sp>
        <p:sp>
          <p:nvSpPr>
            <p:cNvPr id="11269" name="Rectangle 5">
              <a:extLst>
                <a:ext uri="{FF2B5EF4-FFF2-40B4-BE49-F238E27FC236}">
                  <a16:creationId xmlns:a16="http://schemas.microsoft.com/office/drawing/2014/main" id="{FF706738-AA37-CB26-C6FB-5CA4BFF33E8F}"/>
                </a:ext>
              </a:extLst>
            </p:cNvPr>
            <p:cNvSpPr>
              <a:spLocks noChangeArrowheads="1"/>
            </p:cNvSpPr>
            <p:nvPr/>
          </p:nvSpPr>
          <p:spPr bwMode="auto">
            <a:xfrm>
              <a:off x="3799" y="2579"/>
              <a:ext cx="1160" cy="1020"/>
            </a:xfrm>
            <a:prstGeom prst="rect">
              <a:avLst/>
            </a:prstGeom>
            <a:solidFill>
              <a:srgbClr val="FFFFFF"/>
            </a:solidFill>
            <a:ln w="9525">
              <a:solidFill>
                <a:srgbClr val="000000"/>
              </a:solidFill>
              <a:miter lim="800000"/>
              <a:headEnd/>
              <a:tailEnd/>
            </a:ln>
          </p:spPr>
          <p:txBody>
            <a:bodyPr/>
            <a:lstStyle/>
            <a:p>
              <a:endParaRPr lang="fr-FR"/>
            </a:p>
          </p:txBody>
        </p:sp>
        <p:sp>
          <p:nvSpPr>
            <p:cNvPr id="11270" name="Line 6">
              <a:extLst>
                <a:ext uri="{FF2B5EF4-FFF2-40B4-BE49-F238E27FC236}">
                  <a16:creationId xmlns:a16="http://schemas.microsoft.com/office/drawing/2014/main" id="{B51A31C8-28A9-62D9-28C1-71CD176CC1A2}"/>
                </a:ext>
              </a:extLst>
            </p:cNvPr>
            <p:cNvSpPr>
              <a:spLocks noChangeShapeType="1"/>
            </p:cNvSpPr>
            <p:nvPr/>
          </p:nvSpPr>
          <p:spPr bwMode="auto">
            <a:xfrm>
              <a:off x="622" y="2915"/>
              <a:ext cx="10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271" name="Line 7">
              <a:extLst>
                <a:ext uri="{FF2B5EF4-FFF2-40B4-BE49-F238E27FC236}">
                  <a16:creationId xmlns:a16="http://schemas.microsoft.com/office/drawing/2014/main" id="{F22B02DE-C2E4-DD0B-BAC5-BA749F734CF6}"/>
                </a:ext>
              </a:extLst>
            </p:cNvPr>
            <p:cNvSpPr>
              <a:spLocks noChangeShapeType="1"/>
            </p:cNvSpPr>
            <p:nvPr/>
          </p:nvSpPr>
          <p:spPr bwMode="auto">
            <a:xfrm>
              <a:off x="3799" y="2915"/>
              <a:ext cx="117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272" name="Line 8">
              <a:extLst>
                <a:ext uri="{FF2B5EF4-FFF2-40B4-BE49-F238E27FC236}">
                  <a16:creationId xmlns:a16="http://schemas.microsoft.com/office/drawing/2014/main" id="{CFCD5959-1454-31CD-280E-3FED80F4D36D}"/>
                </a:ext>
              </a:extLst>
            </p:cNvPr>
            <p:cNvSpPr>
              <a:spLocks noChangeShapeType="1"/>
            </p:cNvSpPr>
            <p:nvPr/>
          </p:nvSpPr>
          <p:spPr bwMode="auto">
            <a:xfrm flipV="1">
              <a:off x="1746" y="3107"/>
              <a:ext cx="205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273" name="Oval 9">
              <a:extLst>
                <a:ext uri="{FF2B5EF4-FFF2-40B4-BE49-F238E27FC236}">
                  <a16:creationId xmlns:a16="http://schemas.microsoft.com/office/drawing/2014/main" id="{833833EC-7368-79A6-EBDE-E5A28CF337C7}"/>
                </a:ext>
              </a:extLst>
            </p:cNvPr>
            <p:cNvSpPr>
              <a:spLocks noChangeArrowheads="1"/>
            </p:cNvSpPr>
            <p:nvPr/>
          </p:nvSpPr>
          <p:spPr bwMode="auto">
            <a:xfrm>
              <a:off x="2089" y="2767"/>
              <a:ext cx="1372" cy="580"/>
            </a:xfrm>
            <a:prstGeom prst="ellipse">
              <a:avLst/>
            </a:prstGeom>
            <a:solidFill>
              <a:srgbClr val="FFFFFF"/>
            </a:solidFill>
            <a:ln w="9525">
              <a:solidFill>
                <a:srgbClr val="000000"/>
              </a:solidFill>
              <a:round/>
              <a:headEnd/>
              <a:tailEnd/>
            </a:ln>
          </p:spPr>
          <p:txBody>
            <a:bodyPr/>
            <a:lstStyle/>
            <a:p>
              <a:endParaRPr lang="fr-FR"/>
            </a:p>
          </p:txBody>
        </p:sp>
        <p:sp>
          <p:nvSpPr>
            <p:cNvPr id="11274" name="Text Box 10">
              <a:extLst>
                <a:ext uri="{FF2B5EF4-FFF2-40B4-BE49-F238E27FC236}">
                  <a16:creationId xmlns:a16="http://schemas.microsoft.com/office/drawing/2014/main" id="{12B86863-98A6-711A-C6FD-43137FACE1C6}"/>
                </a:ext>
              </a:extLst>
            </p:cNvPr>
            <p:cNvSpPr txBox="1">
              <a:spLocks noChangeArrowheads="1"/>
            </p:cNvSpPr>
            <p:nvPr/>
          </p:nvSpPr>
          <p:spPr bwMode="auto">
            <a:xfrm>
              <a:off x="598" y="2634"/>
              <a:ext cx="10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PERSONNE</a:t>
              </a:r>
            </a:p>
          </p:txBody>
        </p:sp>
        <p:sp>
          <p:nvSpPr>
            <p:cNvPr id="11275" name="Text Box 11">
              <a:extLst>
                <a:ext uri="{FF2B5EF4-FFF2-40B4-BE49-F238E27FC236}">
                  <a16:creationId xmlns:a16="http://schemas.microsoft.com/office/drawing/2014/main" id="{174947B3-C857-CF8A-A1BA-55C222CE7BAB}"/>
                </a:ext>
              </a:extLst>
            </p:cNvPr>
            <p:cNvSpPr txBox="1">
              <a:spLocks noChangeArrowheads="1"/>
            </p:cNvSpPr>
            <p:nvPr/>
          </p:nvSpPr>
          <p:spPr bwMode="auto">
            <a:xfrm>
              <a:off x="3902" y="2607"/>
              <a:ext cx="8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VOITURE</a:t>
              </a:r>
            </a:p>
          </p:txBody>
        </p:sp>
        <p:sp>
          <p:nvSpPr>
            <p:cNvPr id="11276" name="Text Box 12">
              <a:extLst>
                <a:ext uri="{FF2B5EF4-FFF2-40B4-BE49-F238E27FC236}">
                  <a16:creationId xmlns:a16="http://schemas.microsoft.com/office/drawing/2014/main" id="{D4BB2C9B-E958-E5DD-44F3-12F2C5C1C087}"/>
                </a:ext>
              </a:extLst>
            </p:cNvPr>
            <p:cNvSpPr txBox="1">
              <a:spLocks noChangeArrowheads="1"/>
            </p:cNvSpPr>
            <p:nvPr/>
          </p:nvSpPr>
          <p:spPr bwMode="auto">
            <a:xfrm>
              <a:off x="2105" y="2892"/>
              <a:ext cx="130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PROPRIETAIRE</a:t>
              </a:r>
            </a:p>
          </p:txBody>
        </p:sp>
        <p:sp>
          <p:nvSpPr>
            <p:cNvPr id="11277" name="Text Box 13">
              <a:extLst>
                <a:ext uri="{FF2B5EF4-FFF2-40B4-BE49-F238E27FC236}">
                  <a16:creationId xmlns:a16="http://schemas.microsoft.com/office/drawing/2014/main" id="{91311518-23C5-FEF3-4BD4-67E9B633341D}"/>
                </a:ext>
              </a:extLst>
            </p:cNvPr>
            <p:cNvSpPr txBox="1">
              <a:spLocks noChangeArrowheads="1"/>
            </p:cNvSpPr>
            <p:nvPr/>
          </p:nvSpPr>
          <p:spPr bwMode="auto">
            <a:xfrm>
              <a:off x="1714" y="2845"/>
              <a:ext cx="3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b="1">
                  <a:solidFill>
                    <a:srgbClr val="FF0000"/>
                  </a:solidFill>
                  <a:latin typeface="Arial" panose="020B0604020202020204" pitchFamily="34" charset="0"/>
                </a:rPr>
                <a:t>0,n</a:t>
              </a:r>
            </a:p>
          </p:txBody>
        </p:sp>
        <p:sp>
          <p:nvSpPr>
            <p:cNvPr id="11278" name="Text Box 14">
              <a:extLst>
                <a:ext uri="{FF2B5EF4-FFF2-40B4-BE49-F238E27FC236}">
                  <a16:creationId xmlns:a16="http://schemas.microsoft.com/office/drawing/2014/main" id="{50A6C581-4B68-FA95-96AE-E9C907D7086A}"/>
                </a:ext>
              </a:extLst>
            </p:cNvPr>
            <p:cNvSpPr txBox="1">
              <a:spLocks noChangeArrowheads="1"/>
            </p:cNvSpPr>
            <p:nvPr/>
          </p:nvSpPr>
          <p:spPr bwMode="auto">
            <a:xfrm>
              <a:off x="3442" y="2845"/>
              <a:ext cx="3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latin typeface="Arial" panose="020B0604020202020204" pitchFamily="34" charset="0"/>
                </a:rPr>
                <a:t>1,1</a:t>
              </a:r>
            </a:p>
          </p:txBody>
        </p:sp>
        <p:sp>
          <p:nvSpPr>
            <p:cNvPr id="11279" name="Freeform 15">
              <a:extLst>
                <a:ext uri="{FF2B5EF4-FFF2-40B4-BE49-F238E27FC236}">
                  <a16:creationId xmlns:a16="http://schemas.microsoft.com/office/drawing/2014/main" id="{449B5FCE-FACD-2F65-0FDA-AB295AF026A6}"/>
                </a:ext>
              </a:extLst>
            </p:cNvPr>
            <p:cNvSpPr>
              <a:spLocks/>
            </p:cNvSpPr>
            <p:nvPr/>
          </p:nvSpPr>
          <p:spPr bwMode="auto">
            <a:xfrm>
              <a:off x="1795" y="2531"/>
              <a:ext cx="636" cy="288"/>
            </a:xfrm>
            <a:custGeom>
              <a:avLst/>
              <a:gdLst>
                <a:gd name="T0" fmla="*/ 0 w 624"/>
                <a:gd name="T1" fmla="*/ 240 h 240"/>
                <a:gd name="T2" fmla="*/ 240 w 624"/>
                <a:gd name="T3" fmla="*/ 48 h 240"/>
                <a:gd name="T4" fmla="*/ 624 w 624"/>
                <a:gd name="T5" fmla="*/ 0 h 240"/>
              </a:gdLst>
              <a:ahLst/>
              <a:cxnLst>
                <a:cxn ang="0">
                  <a:pos x="T0" y="T1"/>
                </a:cxn>
                <a:cxn ang="0">
                  <a:pos x="T2" y="T3"/>
                </a:cxn>
                <a:cxn ang="0">
                  <a:pos x="T4" y="T5"/>
                </a:cxn>
              </a:cxnLst>
              <a:rect l="0" t="0" r="r" b="b"/>
              <a:pathLst>
                <a:path w="624" h="240">
                  <a:moveTo>
                    <a:pt x="0" y="240"/>
                  </a:moveTo>
                  <a:cubicBezTo>
                    <a:pt x="68" y="164"/>
                    <a:pt x="136" y="88"/>
                    <a:pt x="240" y="48"/>
                  </a:cubicBezTo>
                  <a:cubicBezTo>
                    <a:pt x="344" y="8"/>
                    <a:pt x="560" y="8"/>
                    <a:pt x="624" y="0"/>
                  </a:cubicBezTo>
                </a:path>
              </a:pathLst>
            </a:custGeom>
            <a:noFill/>
            <a:ln w="38100" cmpd="sng">
              <a:solidFill>
                <a:srgbClr val="FF0000"/>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1282" name="Text Box 18">
              <a:extLst>
                <a:ext uri="{FF2B5EF4-FFF2-40B4-BE49-F238E27FC236}">
                  <a16:creationId xmlns:a16="http://schemas.microsoft.com/office/drawing/2014/main" id="{B9A9E7E6-1E73-F529-CF8C-13A4EE1912A5}"/>
                </a:ext>
              </a:extLst>
            </p:cNvPr>
            <p:cNvSpPr txBox="1">
              <a:spLocks noChangeArrowheads="1"/>
            </p:cNvSpPr>
            <p:nvPr/>
          </p:nvSpPr>
          <p:spPr bwMode="auto">
            <a:xfrm>
              <a:off x="2027" y="2228"/>
              <a:ext cx="1451" cy="28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rgbClr val="FF0000"/>
                  </a:solidFill>
                  <a:latin typeface="Arial" panose="020B0604020202020204" pitchFamily="34" charset="0"/>
                </a:rPr>
                <a:t>Sens de lecture</a:t>
              </a:r>
              <a:endParaRPr lang="en-US" altLang="fr-FR">
                <a:solidFill>
                  <a:srgbClr val="FF0000"/>
                </a:solidFill>
                <a:latin typeface="Arial" panose="020B0604020202020204" pitchFamily="34" charset="0"/>
              </a:endParaRPr>
            </a:p>
          </p:txBody>
        </p:sp>
        <p:sp>
          <p:nvSpPr>
            <p:cNvPr id="11285" name="Text Box 21">
              <a:extLst>
                <a:ext uri="{FF2B5EF4-FFF2-40B4-BE49-F238E27FC236}">
                  <a16:creationId xmlns:a16="http://schemas.microsoft.com/office/drawing/2014/main" id="{3050B905-1335-68DB-18C5-7BF3E3635A9E}"/>
                </a:ext>
              </a:extLst>
            </p:cNvPr>
            <p:cNvSpPr txBox="1">
              <a:spLocks noChangeArrowheads="1"/>
            </p:cNvSpPr>
            <p:nvPr/>
          </p:nvSpPr>
          <p:spPr bwMode="auto">
            <a:xfrm>
              <a:off x="667" y="2337"/>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rgbClr val="FF0000"/>
                  </a:solidFill>
                  <a:latin typeface="Arial" panose="020B0604020202020204" pitchFamily="34" charset="0"/>
                </a:rPr>
                <a:t>source</a:t>
              </a:r>
              <a:endParaRPr lang="en-US" altLang="fr-FR">
                <a:solidFill>
                  <a:srgbClr val="FF0000"/>
                </a:solidFill>
                <a:latin typeface="Arial" panose="020B0604020202020204" pitchFamily="34" charset="0"/>
              </a:endParaRPr>
            </a:p>
          </p:txBody>
        </p:sp>
        <p:sp>
          <p:nvSpPr>
            <p:cNvPr id="11286" name="Text Box 22">
              <a:extLst>
                <a:ext uri="{FF2B5EF4-FFF2-40B4-BE49-F238E27FC236}">
                  <a16:creationId xmlns:a16="http://schemas.microsoft.com/office/drawing/2014/main" id="{E099E60E-20B6-54DB-5837-6540F12B9D2D}"/>
                </a:ext>
              </a:extLst>
            </p:cNvPr>
            <p:cNvSpPr txBox="1">
              <a:spLocks noChangeArrowheads="1"/>
            </p:cNvSpPr>
            <p:nvPr/>
          </p:nvSpPr>
          <p:spPr bwMode="auto">
            <a:xfrm>
              <a:off x="3912" y="2314"/>
              <a:ext cx="10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solidFill>
                    <a:srgbClr val="FF0000"/>
                  </a:solidFill>
                  <a:latin typeface="Arial" panose="020B0604020202020204" pitchFamily="34" charset="0"/>
                </a:rPr>
                <a:t>destination</a:t>
              </a:r>
              <a:endParaRPr lang="en-US" altLang="fr-FR">
                <a:solidFill>
                  <a:srgbClr val="FF0000"/>
                </a:solidFill>
                <a:latin typeface="Arial" panose="020B0604020202020204"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B93F884E-83A8-1614-1535-F3FDEDFE7899}"/>
              </a:ext>
            </a:extLst>
          </p:cNvPr>
          <p:cNvSpPr>
            <a:spLocks noGrp="1" noChangeArrowheads="1"/>
          </p:cNvSpPr>
          <p:nvPr>
            <p:ph type="body" idx="1"/>
          </p:nvPr>
        </p:nvSpPr>
        <p:spPr>
          <a:xfrm>
            <a:off x="685800" y="269875"/>
            <a:ext cx="7772400" cy="6219825"/>
          </a:xfrm>
        </p:spPr>
        <p:txBody>
          <a:bodyPr/>
          <a:lstStyle/>
          <a:p>
            <a:pPr>
              <a:lnSpc>
                <a:spcPct val="90000"/>
              </a:lnSpc>
              <a:buFontTx/>
              <a:buNone/>
            </a:pPr>
            <a:r>
              <a:rPr lang="fr-FR" altLang="fr-FR" sz="2800" b="1">
                <a:latin typeface="Arial" panose="020B0604020202020204" pitchFamily="34" charset="0"/>
              </a:rPr>
              <a:t>Difficultés</a:t>
            </a:r>
            <a:r>
              <a:rPr lang="fr-FR" altLang="fr-FR" sz="2800" b="1">
                <a:solidFill>
                  <a:schemeClr val="accent2"/>
                </a:solidFill>
                <a:latin typeface="Arial" panose="020B0604020202020204" pitchFamily="34" charset="0"/>
              </a:rPr>
              <a:t> </a:t>
            </a:r>
            <a:r>
              <a:rPr lang="fr-FR" altLang="fr-FR" sz="2800" b="1">
                <a:latin typeface="Arial" panose="020B0604020202020204" pitchFamily="34" charset="0"/>
              </a:rPr>
              <a:t>: choix des cardinalités</a:t>
            </a:r>
          </a:p>
          <a:p>
            <a:pPr>
              <a:lnSpc>
                <a:spcPct val="90000"/>
              </a:lnSpc>
              <a:buFontTx/>
              <a:buNone/>
            </a:pPr>
            <a:endParaRPr lang="fr-FR" altLang="fr-FR" sz="2800" b="1">
              <a:latin typeface="Arial" panose="020B0604020202020204" pitchFamily="34" charset="0"/>
            </a:endParaRPr>
          </a:p>
          <a:p>
            <a:pPr>
              <a:lnSpc>
                <a:spcPct val="90000"/>
              </a:lnSpc>
              <a:buFontTx/>
              <a:buNone/>
            </a:pPr>
            <a:endParaRPr lang="fr-FR" altLang="fr-FR" sz="2400" b="1">
              <a:latin typeface="Arial" panose="020B0604020202020204" pitchFamily="34" charset="0"/>
            </a:endParaRPr>
          </a:p>
          <a:p>
            <a:pPr>
              <a:lnSpc>
                <a:spcPct val="90000"/>
              </a:lnSpc>
              <a:buFontTx/>
              <a:buNone/>
            </a:pPr>
            <a:endParaRPr lang="fr-FR" altLang="fr-FR" sz="2400" b="1">
              <a:latin typeface="Arial" panose="020B0604020202020204" pitchFamily="34" charset="0"/>
            </a:endParaRPr>
          </a:p>
          <a:p>
            <a:pPr>
              <a:lnSpc>
                <a:spcPct val="90000"/>
              </a:lnSpc>
              <a:buFontTx/>
              <a:buNone/>
            </a:pPr>
            <a:endParaRPr lang="fr-FR" altLang="fr-FR" sz="2400" b="1">
              <a:latin typeface="Arial" panose="020B0604020202020204" pitchFamily="34" charset="0"/>
            </a:endParaRPr>
          </a:p>
          <a:p>
            <a:pPr algn="just">
              <a:lnSpc>
                <a:spcPct val="90000"/>
              </a:lnSpc>
              <a:buFontTx/>
              <a:buNone/>
            </a:pPr>
            <a:r>
              <a:rPr lang="fr-FR" altLang="fr-FR" sz="2400" b="1">
                <a:latin typeface="Arial" panose="020B0604020202020204" pitchFamily="34" charset="0"/>
              </a:rPr>
              <a:t>    </a:t>
            </a:r>
            <a:r>
              <a:rPr lang="fr-FR" altLang="fr-FR" sz="2400">
                <a:latin typeface="Arial" panose="020B0604020202020204" pitchFamily="34" charset="0"/>
              </a:rPr>
              <a:t>Un client peut il avoir 0 location ? Est-ce encore un client ?</a:t>
            </a:r>
          </a:p>
          <a:p>
            <a:pPr algn="just">
              <a:lnSpc>
                <a:spcPct val="90000"/>
              </a:lnSpc>
              <a:buFontTx/>
              <a:buNone/>
            </a:pPr>
            <a:r>
              <a:rPr lang="fr-FR" altLang="fr-FR" sz="2400">
                <a:latin typeface="Arial" panose="020B0604020202020204" pitchFamily="34" charset="0"/>
              </a:rPr>
              <a:t>    Un local peut il être loué plusieurs fois ? Non si la base représente une situation instantanée et si le local n’est pas partageable. Oui si on gère un historique ou si le local est partageable.</a:t>
            </a:r>
          </a:p>
          <a:p>
            <a:pPr algn="just">
              <a:lnSpc>
                <a:spcPct val="90000"/>
              </a:lnSpc>
              <a:buFontTx/>
              <a:buNone/>
            </a:pPr>
            <a:r>
              <a:rPr lang="fr-FR" altLang="fr-FR" sz="2400">
                <a:latin typeface="Arial" panose="020B0604020202020204" pitchFamily="34" charset="0"/>
              </a:rPr>
              <a:t>    </a:t>
            </a:r>
            <a:r>
              <a:rPr lang="fr-FR" altLang="fr-FR" sz="2400" b="1">
                <a:latin typeface="Arial" panose="020B0604020202020204" pitchFamily="34" charset="0"/>
              </a:rPr>
              <a:t>Les cardinalités sont élément essentiel pour définir la sémantique des données, pas une « décoration » accessoire. Derrière cette notion on trouvera des contrôles (par le SGBD ou les programmes).</a:t>
            </a:r>
            <a:endParaRPr lang="en-US" altLang="fr-FR" sz="2400" b="1">
              <a:latin typeface="Arial" panose="020B0604020202020204" pitchFamily="34" charset="0"/>
            </a:endParaRPr>
          </a:p>
        </p:txBody>
      </p:sp>
      <p:sp>
        <p:nvSpPr>
          <p:cNvPr id="30725" name="Rectangle 5">
            <a:extLst>
              <a:ext uri="{FF2B5EF4-FFF2-40B4-BE49-F238E27FC236}">
                <a16:creationId xmlns:a16="http://schemas.microsoft.com/office/drawing/2014/main" id="{AD4B90CB-CF96-011B-279A-F260911C2A19}"/>
              </a:ext>
            </a:extLst>
          </p:cNvPr>
          <p:cNvSpPr>
            <a:spLocks noChangeArrowheads="1"/>
          </p:cNvSpPr>
          <p:nvPr/>
        </p:nvSpPr>
        <p:spPr bwMode="auto">
          <a:xfrm>
            <a:off x="1179513" y="877888"/>
            <a:ext cx="1716087" cy="1435100"/>
          </a:xfrm>
          <a:prstGeom prst="rect">
            <a:avLst/>
          </a:prstGeom>
          <a:solidFill>
            <a:srgbClr val="FFFFFF"/>
          </a:solidFill>
          <a:ln w="9525">
            <a:solidFill>
              <a:srgbClr val="000000"/>
            </a:solidFill>
            <a:miter lim="800000"/>
            <a:headEnd/>
            <a:tailEnd/>
          </a:ln>
        </p:spPr>
        <p:txBody>
          <a:bodyPr/>
          <a:lstStyle/>
          <a:p>
            <a:endParaRPr lang="fr-FR"/>
          </a:p>
        </p:txBody>
      </p:sp>
      <p:sp>
        <p:nvSpPr>
          <p:cNvPr id="30726" name="Rectangle 6">
            <a:extLst>
              <a:ext uri="{FF2B5EF4-FFF2-40B4-BE49-F238E27FC236}">
                <a16:creationId xmlns:a16="http://schemas.microsoft.com/office/drawing/2014/main" id="{8C08BD0F-743C-0D3E-8648-0DB2E9586E58}"/>
              </a:ext>
            </a:extLst>
          </p:cNvPr>
          <p:cNvSpPr>
            <a:spLocks noChangeArrowheads="1"/>
          </p:cNvSpPr>
          <p:nvPr/>
        </p:nvSpPr>
        <p:spPr bwMode="auto">
          <a:xfrm>
            <a:off x="6132513" y="877888"/>
            <a:ext cx="1808162" cy="1398587"/>
          </a:xfrm>
          <a:prstGeom prst="rect">
            <a:avLst/>
          </a:prstGeom>
          <a:solidFill>
            <a:srgbClr val="FFFFFF"/>
          </a:solidFill>
          <a:ln w="9525">
            <a:solidFill>
              <a:srgbClr val="000000"/>
            </a:solidFill>
            <a:miter lim="800000"/>
            <a:headEnd/>
            <a:tailEnd/>
          </a:ln>
        </p:spPr>
        <p:txBody>
          <a:bodyPr/>
          <a:lstStyle/>
          <a:p>
            <a:endParaRPr lang="fr-FR"/>
          </a:p>
        </p:txBody>
      </p:sp>
      <p:sp>
        <p:nvSpPr>
          <p:cNvPr id="30727" name="Line 7">
            <a:extLst>
              <a:ext uri="{FF2B5EF4-FFF2-40B4-BE49-F238E27FC236}">
                <a16:creationId xmlns:a16="http://schemas.microsoft.com/office/drawing/2014/main" id="{4E806D7A-4669-73B4-860D-0F363FD2C01B}"/>
              </a:ext>
            </a:extLst>
          </p:cNvPr>
          <p:cNvSpPr>
            <a:spLocks noChangeShapeType="1"/>
          </p:cNvSpPr>
          <p:nvPr/>
        </p:nvSpPr>
        <p:spPr bwMode="auto">
          <a:xfrm>
            <a:off x="1179513" y="1411288"/>
            <a:ext cx="17224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728" name="Line 8">
            <a:extLst>
              <a:ext uri="{FF2B5EF4-FFF2-40B4-BE49-F238E27FC236}">
                <a16:creationId xmlns:a16="http://schemas.microsoft.com/office/drawing/2014/main" id="{F8B285EA-9EA6-4824-1454-A759F4071F1A}"/>
              </a:ext>
            </a:extLst>
          </p:cNvPr>
          <p:cNvSpPr>
            <a:spLocks noChangeShapeType="1"/>
          </p:cNvSpPr>
          <p:nvPr/>
        </p:nvSpPr>
        <p:spPr bwMode="auto">
          <a:xfrm>
            <a:off x="6132513" y="1411288"/>
            <a:ext cx="18288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729" name="Line 9">
            <a:extLst>
              <a:ext uri="{FF2B5EF4-FFF2-40B4-BE49-F238E27FC236}">
                <a16:creationId xmlns:a16="http://schemas.microsoft.com/office/drawing/2014/main" id="{51F70043-6B2D-6BBA-1F08-8772DC21E537}"/>
              </a:ext>
            </a:extLst>
          </p:cNvPr>
          <p:cNvSpPr>
            <a:spLocks noChangeShapeType="1"/>
          </p:cNvSpPr>
          <p:nvPr/>
        </p:nvSpPr>
        <p:spPr bwMode="auto">
          <a:xfrm flipV="1">
            <a:off x="2916238" y="1716088"/>
            <a:ext cx="3216275" cy="15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30730" name="Oval 10">
            <a:extLst>
              <a:ext uri="{FF2B5EF4-FFF2-40B4-BE49-F238E27FC236}">
                <a16:creationId xmlns:a16="http://schemas.microsoft.com/office/drawing/2014/main" id="{2A9F9786-18C2-165A-981A-F302C9CE65D3}"/>
              </a:ext>
            </a:extLst>
          </p:cNvPr>
          <p:cNvSpPr>
            <a:spLocks noChangeArrowheads="1"/>
          </p:cNvSpPr>
          <p:nvPr/>
        </p:nvSpPr>
        <p:spPr bwMode="auto">
          <a:xfrm>
            <a:off x="3389313" y="1366838"/>
            <a:ext cx="2286000" cy="762000"/>
          </a:xfrm>
          <a:prstGeom prst="ellipse">
            <a:avLst/>
          </a:prstGeom>
          <a:solidFill>
            <a:srgbClr val="FFFFFF"/>
          </a:solidFill>
          <a:ln w="9525">
            <a:solidFill>
              <a:srgbClr val="000000"/>
            </a:solidFill>
            <a:round/>
            <a:headEnd/>
            <a:tailEnd/>
          </a:ln>
        </p:spPr>
        <p:txBody>
          <a:bodyPr/>
          <a:lstStyle/>
          <a:p>
            <a:endParaRPr lang="fr-FR"/>
          </a:p>
        </p:txBody>
      </p:sp>
      <p:sp>
        <p:nvSpPr>
          <p:cNvPr id="30731" name="Text Box 11">
            <a:extLst>
              <a:ext uri="{FF2B5EF4-FFF2-40B4-BE49-F238E27FC236}">
                <a16:creationId xmlns:a16="http://schemas.microsoft.com/office/drawing/2014/main" id="{360CD450-4E7D-9C09-017F-F0C85ED0C607}"/>
              </a:ext>
            </a:extLst>
          </p:cNvPr>
          <p:cNvSpPr txBox="1">
            <a:spLocks noChangeArrowheads="1"/>
          </p:cNvSpPr>
          <p:nvPr/>
        </p:nvSpPr>
        <p:spPr bwMode="auto">
          <a:xfrm>
            <a:off x="1152525" y="965200"/>
            <a:ext cx="1298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   CLIENT</a:t>
            </a:r>
          </a:p>
        </p:txBody>
      </p:sp>
      <p:sp>
        <p:nvSpPr>
          <p:cNvPr id="30732" name="Text Box 12">
            <a:extLst>
              <a:ext uri="{FF2B5EF4-FFF2-40B4-BE49-F238E27FC236}">
                <a16:creationId xmlns:a16="http://schemas.microsoft.com/office/drawing/2014/main" id="{9090670B-4065-055B-58CD-2CDF49FED79D}"/>
              </a:ext>
            </a:extLst>
          </p:cNvPr>
          <p:cNvSpPr txBox="1">
            <a:spLocks noChangeArrowheads="1"/>
          </p:cNvSpPr>
          <p:nvPr/>
        </p:nvSpPr>
        <p:spPr bwMode="auto">
          <a:xfrm>
            <a:off x="6192838" y="889000"/>
            <a:ext cx="12271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   LOCAL</a:t>
            </a:r>
          </a:p>
        </p:txBody>
      </p:sp>
      <p:sp>
        <p:nvSpPr>
          <p:cNvPr id="30733" name="Text Box 13">
            <a:extLst>
              <a:ext uri="{FF2B5EF4-FFF2-40B4-BE49-F238E27FC236}">
                <a16:creationId xmlns:a16="http://schemas.microsoft.com/office/drawing/2014/main" id="{4CB87C0C-887C-F004-F444-FD5080838669}"/>
              </a:ext>
            </a:extLst>
          </p:cNvPr>
          <p:cNvSpPr txBox="1">
            <a:spLocks noChangeArrowheads="1"/>
          </p:cNvSpPr>
          <p:nvPr/>
        </p:nvSpPr>
        <p:spPr bwMode="auto">
          <a:xfrm>
            <a:off x="3541713" y="1495425"/>
            <a:ext cx="1692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2000">
                <a:latin typeface="Arial" panose="020B0604020202020204" pitchFamily="34" charset="0"/>
              </a:rPr>
              <a:t>   LOCATION</a:t>
            </a:r>
          </a:p>
        </p:txBody>
      </p:sp>
      <p:sp>
        <p:nvSpPr>
          <p:cNvPr id="30734" name="Text Box 14">
            <a:extLst>
              <a:ext uri="{FF2B5EF4-FFF2-40B4-BE49-F238E27FC236}">
                <a16:creationId xmlns:a16="http://schemas.microsoft.com/office/drawing/2014/main" id="{6C14618C-4E3B-52B1-FD97-F6AEA45530F8}"/>
              </a:ext>
            </a:extLst>
          </p:cNvPr>
          <p:cNvSpPr txBox="1">
            <a:spLocks noChangeArrowheads="1"/>
          </p:cNvSpPr>
          <p:nvPr/>
        </p:nvSpPr>
        <p:spPr bwMode="auto">
          <a:xfrm>
            <a:off x="2860675" y="674688"/>
            <a:ext cx="11160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a:latin typeface="Arial" panose="020B0604020202020204" pitchFamily="34" charset="0"/>
              </a:rPr>
              <a:t>0, n ou</a:t>
            </a:r>
          </a:p>
          <a:p>
            <a:r>
              <a:rPr lang="fr-FR" altLang="fr-FR">
                <a:latin typeface="Arial" panose="020B0604020202020204" pitchFamily="34" charset="0"/>
              </a:rPr>
              <a:t>1, n ?</a:t>
            </a:r>
            <a:endParaRPr lang="en-US" altLang="fr-FR">
              <a:latin typeface="Arial" panose="020B0604020202020204" pitchFamily="34" charset="0"/>
            </a:endParaRPr>
          </a:p>
        </p:txBody>
      </p:sp>
      <p:sp>
        <p:nvSpPr>
          <p:cNvPr id="30735" name="Text Box 15">
            <a:extLst>
              <a:ext uri="{FF2B5EF4-FFF2-40B4-BE49-F238E27FC236}">
                <a16:creationId xmlns:a16="http://schemas.microsoft.com/office/drawing/2014/main" id="{2BAAD92C-5558-48AA-9348-0DE29BFC0051}"/>
              </a:ext>
            </a:extLst>
          </p:cNvPr>
          <p:cNvSpPr txBox="1">
            <a:spLocks noChangeArrowheads="1"/>
          </p:cNvSpPr>
          <p:nvPr/>
        </p:nvSpPr>
        <p:spPr bwMode="auto">
          <a:xfrm>
            <a:off x="4986338" y="681038"/>
            <a:ext cx="12001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fr-FR" altLang="fr-FR">
                <a:latin typeface="Arial" panose="020B0604020202020204" pitchFamily="34" charset="0"/>
              </a:rPr>
              <a:t>0, n ou </a:t>
            </a:r>
          </a:p>
          <a:p>
            <a:pPr algn="r"/>
            <a:r>
              <a:rPr lang="fr-FR" altLang="fr-FR">
                <a:latin typeface="Arial" panose="020B0604020202020204" pitchFamily="34" charset="0"/>
              </a:rPr>
              <a:t>0,1 ?</a:t>
            </a:r>
            <a:endParaRPr lang="en-US" altLang="fr-FR">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a:extLst>
              <a:ext uri="{FF2B5EF4-FFF2-40B4-BE49-F238E27FC236}">
                <a16:creationId xmlns:a16="http://schemas.microsoft.com/office/drawing/2014/main" id="{2343EFA4-9F1B-3A71-1174-A1B73AD069B4}"/>
              </a:ext>
            </a:extLst>
          </p:cNvPr>
          <p:cNvSpPr>
            <a:spLocks noChangeArrowheads="1"/>
          </p:cNvSpPr>
          <p:nvPr/>
        </p:nvSpPr>
        <p:spPr bwMode="auto">
          <a:xfrm>
            <a:off x="566738" y="488950"/>
            <a:ext cx="8102600" cy="5738813"/>
          </a:xfrm>
          <a:prstGeom prst="horizontalScroll">
            <a:avLst>
              <a:gd name="adj" fmla="val 12500"/>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fr-FR"/>
          </a:p>
        </p:txBody>
      </p:sp>
      <p:sp>
        <p:nvSpPr>
          <p:cNvPr id="31747" name="Text Box 3">
            <a:extLst>
              <a:ext uri="{FF2B5EF4-FFF2-40B4-BE49-F238E27FC236}">
                <a16:creationId xmlns:a16="http://schemas.microsoft.com/office/drawing/2014/main" id="{A30F9593-E297-40E9-8F34-3C18D5CC4193}"/>
              </a:ext>
            </a:extLst>
          </p:cNvPr>
          <p:cNvSpPr txBox="1">
            <a:spLocks noChangeArrowheads="1"/>
          </p:cNvSpPr>
          <p:nvPr/>
        </p:nvSpPr>
        <p:spPr bwMode="auto">
          <a:xfrm>
            <a:off x="1133475" y="1828800"/>
            <a:ext cx="7270750" cy="402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20000"/>
              </a:spcBef>
            </a:pPr>
            <a:r>
              <a:rPr lang="fr-FR" altLang="fr-FR" sz="2800">
                <a:latin typeface="Arial" panose="020B0604020202020204" pitchFamily="34" charset="0"/>
              </a:rPr>
              <a:t>Pour une situation donnée,</a:t>
            </a:r>
            <a:r>
              <a:rPr lang="fr-FR" altLang="fr-FR" sz="2800" b="1">
                <a:latin typeface="Arial" panose="020B0604020202020204" pitchFamily="34" charset="0"/>
              </a:rPr>
              <a:t> il n’existe pas une «solution» unique. </a:t>
            </a:r>
          </a:p>
          <a:p>
            <a:pPr algn="ctr">
              <a:lnSpc>
                <a:spcPct val="90000"/>
              </a:lnSpc>
              <a:spcBef>
                <a:spcPct val="20000"/>
              </a:spcBef>
            </a:pPr>
            <a:r>
              <a:rPr lang="fr-FR" altLang="fr-FR" sz="2800" b="1">
                <a:latin typeface="Arial" panose="020B0604020202020204" pitchFamily="34" charset="0"/>
              </a:rPr>
              <a:t>    </a:t>
            </a:r>
            <a:r>
              <a:rPr lang="fr-FR" altLang="fr-FR" sz="2800">
                <a:latin typeface="Arial" panose="020B0604020202020204" pitchFamily="34" charset="0"/>
              </a:rPr>
              <a:t>Un modèle</a:t>
            </a:r>
            <a:r>
              <a:rPr lang="fr-FR" altLang="fr-FR" sz="2800" b="1">
                <a:latin typeface="Arial" panose="020B0604020202020204" pitchFamily="34" charset="0"/>
              </a:rPr>
              <a:t> exprime un point de vue </a:t>
            </a:r>
            <a:r>
              <a:rPr lang="fr-FR" altLang="fr-FR" sz="2800">
                <a:latin typeface="Arial" panose="020B0604020202020204" pitchFamily="34" charset="0"/>
              </a:rPr>
              <a:t>et reflète</a:t>
            </a:r>
            <a:r>
              <a:rPr lang="fr-FR" altLang="fr-FR" sz="2800" b="1">
                <a:latin typeface="Arial" panose="020B0604020202020204" pitchFamily="34" charset="0"/>
              </a:rPr>
              <a:t> des besoins en information. </a:t>
            </a:r>
          </a:p>
          <a:p>
            <a:pPr algn="ctr">
              <a:lnSpc>
                <a:spcPct val="90000"/>
              </a:lnSpc>
              <a:spcBef>
                <a:spcPct val="20000"/>
              </a:spcBef>
            </a:pPr>
            <a:r>
              <a:rPr lang="fr-FR" altLang="fr-FR" sz="2800" b="1">
                <a:latin typeface="Arial" panose="020B0604020202020204" pitchFamily="34" charset="0"/>
              </a:rPr>
              <a:t>    Le bon modèle est celui qui est accepté par les personnes concernées par le projet.</a:t>
            </a:r>
          </a:p>
          <a:p>
            <a:pPr algn="ctr"/>
            <a:endParaRPr lang="en-US" altLang="fr-FR" sz="2800">
              <a:latin typeface="Arial" panose="020B0604020202020204" pitchFamily="34" charset="0"/>
            </a:endParaRPr>
          </a:p>
          <a:p>
            <a:pPr>
              <a:spcBef>
                <a:spcPct val="50000"/>
              </a:spcBef>
            </a:pPr>
            <a:endParaRPr lang="en-US" altLang="fr-FR" sz="280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C19802-6824-277B-EECC-FE736849D156}"/>
              </a:ext>
            </a:extLst>
          </p:cNvPr>
          <p:cNvSpPr>
            <a:spLocks noGrp="1"/>
          </p:cNvSpPr>
          <p:nvPr>
            <p:ph type="title"/>
          </p:nvPr>
        </p:nvSpPr>
        <p:spPr/>
        <p:txBody>
          <a:bodyPr/>
          <a:lstStyle/>
          <a:p>
            <a:r>
              <a:rPr lang="fr-FR" dirty="0"/>
              <a:t>MLP</a:t>
            </a:r>
          </a:p>
        </p:txBody>
      </p:sp>
      <p:sp>
        <p:nvSpPr>
          <p:cNvPr id="3" name="Espace réservé du contenu 2">
            <a:extLst>
              <a:ext uri="{FF2B5EF4-FFF2-40B4-BE49-F238E27FC236}">
                <a16:creationId xmlns:a16="http://schemas.microsoft.com/office/drawing/2014/main" id="{63B4E6ED-24F6-26B9-A799-278EABBC9D39}"/>
              </a:ext>
            </a:extLst>
          </p:cNvPr>
          <p:cNvSpPr>
            <a:spLocks noGrp="1"/>
          </p:cNvSpPr>
          <p:nvPr>
            <p:ph idx="1"/>
          </p:nvPr>
        </p:nvSpPr>
        <p:spPr/>
        <p:txBody>
          <a:bodyPr/>
          <a:lstStyle/>
          <a:p>
            <a:r>
              <a:rPr lang="fr-FR" dirty="0"/>
              <a:t>Le modèle logique des données permet d'ajouter des contraintes logiques et aux SGBDR</a:t>
            </a:r>
          </a:p>
          <a:p>
            <a:pPr lvl="1"/>
            <a:r>
              <a:rPr lang="fr-FR" dirty="0"/>
              <a:t>Des types</a:t>
            </a:r>
          </a:p>
          <a:p>
            <a:pPr lvl="1"/>
            <a:r>
              <a:rPr lang="fr-FR" dirty="0"/>
              <a:t>Des contraintes</a:t>
            </a:r>
          </a:p>
          <a:p>
            <a:pPr lvl="1"/>
            <a:r>
              <a:rPr lang="fr-FR" dirty="0"/>
              <a:t>Il est lié aux SGBDR</a:t>
            </a:r>
          </a:p>
          <a:p>
            <a:pPr lvl="1"/>
            <a:r>
              <a:rPr lang="fr-FR" dirty="0"/>
              <a:t>Il n'est pas lié à une marque de SGBDR</a:t>
            </a:r>
          </a:p>
        </p:txBody>
      </p:sp>
    </p:spTree>
    <p:extLst>
      <p:ext uri="{BB962C8B-B14F-4D97-AF65-F5344CB8AC3E}">
        <p14:creationId xmlns:p14="http://schemas.microsoft.com/office/powerpoint/2010/main" val="3745361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CB21CC-333B-F896-B2E7-3C1A1EA5A64B}"/>
              </a:ext>
            </a:extLst>
          </p:cNvPr>
          <p:cNvSpPr>
            <a:spLocks noGrp="1"/>
          </p:cNvSpPr>
          <p:nvPr>
            <p:ph type="title"/>
          </p:nvPr>
        </p:nvSpPr>
        <p:spPr/>
        <p:txBody>
          <a:bodyPr/>
          <a:lstStyle/>
          <a:p>
            <a:r>
              <a:rPr lang="fr-FR" dirty="0"/>
              <a:t>MLP</a:t>
            </a:r>
          </a:p>
        </p:txBody>
      </p:sp>
      <p:sp>
        <p:nvSpPr>
          <p:cNvPr id="3" name="Espace réservé du contenu 2">
            <a:extLst>
              <a:ext uri="{FF2B5EF4-FFF2-40B4-BE49-F238E27FC236}">
                <a16:creationId xmlns:a16="http://schemas.microsoft.com/office/drawing/2014/main" id="{8112FA94-E528-B85E-D5E6-CB92E3FB6B35}"/>
              </a:ext>
            </a:extLst>
          </p:cNvPr>
          <p:cNvSpPr>
            <a:spLocks noGrp="1"/>
          </p:cNvSpPr>
          <p:nvPr>
            <p:ph idx="1"/>
          </p:nvPr>
        </p:nvSpPr>
        <p:spPr/>
        <p:txBody>
          <a:bodyPr/>
          <a:lstStyle/>
          <a:p>
            <a:endParaRPr lang="fr-FR"/>
          </a:p>
        </p:txBody>
      </p:sp>
      <p:pic>
        <p:nvPicPr>
          <p:cNvPr id="5" name="Image 4" descr="Une image contenant texte, capture d’écran, diagramme, Parallèle&#10;&#10;Le contenu généré par l’IA peut être incorrect.">
            <a:extLst>
              <a:ext uri="{FF2B5EF4-FFF2-40B4-BE49-F238E27FC236}">
                <a16:creationId xmlns:a16="http://schemas.microsoft.com/office/drawing/2014/main" id="{3C6608C8-66FF-6A71-EADC-4B64E9DF3185}"/>
              </a:ext>
            </a:extLst>
          </p:cNvPr>
          <p:cNvPicPr>
            <a:picLocks noChangeAspect="1"/>
          </p:cNvPicPr>
          <p:nvPr/>
        </p:nvPicPr>
        <p:blipFill>
          <a:blip r:embed="rId2"/>
          <a:stretch>
            <a:fillRect/>
          </a:stretch>
        </p:blipFill>
        <p:spPr>
          <a:xfrm>
            <a:off x="1187624" y="1052736"/>
            <a:ext cx="7704567" cy="5555442"/>
          </a:xfrm>
          <a:prstGeom prst="rect">
            <a:avLst/>
          </a:prstGeom>
        </p:spPr>
      </p:pic>
    </p:spTree>
    <p:extLst>
      <p:ext uri="{BB962C8B-B14F-4D97-AF65-F5344CB8AC3E}">
        <p14:creationId xmlns:p14="http://schemas.microsoft.com/office/powerpoint/2010/main" val="2417773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46CD-3203-4C62-57A9-170A4017FA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DDF55D-D0E5-6A1A-0A2C-6A994824BBE3}"/>
              </a:ext>
            </a:extLst>
          </p:cNvPr>
          <p:cNvSpPr>
            <a:spLocks noGrp="1"/>
          </p:cNvSpPr>
          <p:nvPr>
            <p:ph type="title"/>
          </p:nvPr>
        </p:nvSpPr>
        <p:spPr/>
        <p:txBody>
          <a:bodyPr/>
          <a:lstStyle/>
          <a:p>
            <a:r>
              <a:rPr lang="fr-FR" dirty="0"/>
              <a:t>MPD</a:t>
            </a:r>
          </a:p>
        </p:txBody>
      </p:sp>
      <p:sp>
        <p:nvSpPr>
          <p:cNvPr id="3" name="Espace réservé du contenu 2">
            <a:extLst>
              <a:ext uri="{FF2B5EF4-FFF2-40B4-BE49-F238E27FC236}">
                <a16:creationId xmlns:a16="http://schemas.microsoft.com/office/drawing/2014/main" id="{AA930340-1B69-9A7A-9F6E-098624E300E1}"/>
              </a:ext>
            </a:extLst>
          </p:cNvPr>
          <p:cNvSpPr>
            <a:spLocks noGrp="1"/>
          </p:cNvSpPr>
          <p:nvPr>
            <p:ph idx="1"/>
          </p:nvPr>
        </p:nvSpPr>
        <p:spPr/>
        <p:txBody>
          <a:bodyPr/>
          <a:lstStyle/>
          <a:p>
            <a:r>
              <a:rPr lang="fr-FR" dirty="0"/>
              <a:t>Le modèle physique des données est complètement dépendant de la marque de la base de données</a:t>
            </a:r>
          </a:p>
          <a:p>
            <a:pPr lvl="1"/>
            <a:r>
              <a:rPr lang="fr-FR" dirty="0"/>
              <a:t>Par exemple </a:t>
            </a:r>
            <a:r>
              <a:rPr lang="fr-FR" dirty="0" err="1"/>
              <a:t>Dbeaver</a:t>
            </a:r>
            <a:r>
              <a:rPr lang="fr-FR" dirty="0"/>
              <a:t> ou </a:t>
            </a:r>
            <a:r>
              <a:rPr lang="fr-FR" dirty="0" err="1"/>
              <a:t>pgAdmin</a:t>
            </a:r>
            <a:endParaRPr lang="fr-FR" dirty="0"/>
          </a:p>
        </p:txBody>
      </p:sp>
    </p:spTree>
    <p:extLst>
      <p:ext uri="{BB962C8B-B14F-4D97-AF65-F5344CB8AC3E}">
        <p14:creationId xmlns:p14="http://schemas.microsoft.com/office/powerpoint/2010/main" val="4271619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1F539-EE6D-CC70-F35F-F2A1E2BEE451}"/>
              </a:ext>
            </a:extLst>
          </p:cNvPr>
          <p:cNvSpPr>
            <a:spLocks noGrp="1"/>
          </p:cNvSpPr>
          <p:nvPr>
            <p:ph type="title"/>
          </p:nvPr>
        </p:nvSpPr>
        <p:spPr/>
        <p:txBody>
          <a:bodyPr/>
          <a:lstStyle/>
          <a:p>
            <a:r>
              <a:rPr lang="fr-FR" dirty="0"/>
              <a:t>Les objets</a:t>
            </a:r>
          </a:p>
        </p:txBody>
      </p:sp>
      <p:sp>
        <p:nvSpPr>
          <p:cNvPr id="3" name="Espace réservé du contenu 2">
            <a:extLst>
              <a:ext uri="{FF2B5EF4-FFF2-40B4-BE49-F238E27FC236}">
                <a16:creationId xmlns:a16="http://schemas.microsoft.com/office/drawing/2014/main" id="{3463DFF7-1C4E-A2C0-35F1-D343CA724DC7}"/>
              </a:ext>
            </a:extLst>
          </p:cNvPr>
          <p:cNvSpPr>
            <a:spLocks noGrp="1"/>
          </p:cNvSpPr>
          <p:nvPr>
            <p:ph idx="1"/>
          </p:nvPr>
        </p:nvSpPr>
        <p:spPr/>
        <p:txBody>
          <a:bodyPr/>
          <a:lstStyle/>
          <a:p>
            <a:r>
              <a:rPr lang="fr-FR" dirty="0"/>
              <a:t>Merise est adaptée aux SGBDR mais n'est plus adapté aux SGBDOO</a:t>
            </a:r>
          </a:p>
          <a:p>
            <a:r>
              <a:rPr lang="fr-FR" dirty="0"/>
              <a:t>Pour l'objet nous utilisons UML</a:t>
            </a:r>
          </a:p>
        </p:txBody>
      </p:sp>
    </p:spTree>
    <p:extLst>
      <p:ext uri="{BB962C8B-B14F-4D97-AF65-F5344CB8AC3E}">
        <p14:creationId xmlns:p14="http://schemas.microsoft.com/office/powerpoint/2010/main" val="1326185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fr-FR" altLang="fr-FR"/>
              <a:t>Une définition d’UML</a:t>
            </a:r>
          </a:p>
        </p:txBody>
      </p:sp>
      <p:sp>
        <p:nvSpPr>
          <p:cNvPr id="7171" name="Rectangle 3"/>
          <p:cNvSpPr>
            <a:spLocks noGrp="1" noChangeArrowheads="1"/>
          </p:cNvSpPr>
          <p:nvPr>
            <p:ph type="body" idx="1"/>
          </p:nvPr>
        </p:nvSpPr>
        <p:spPr>
          <a:xfrm>
            <a:off x="271463" y="2438400"/>
            <a:ext cx="8599487" cy="2995613"/>
          </a:xfrm>
        </p:spPr>
        <p:txBody>
          <a:bodyPr/>
          <a:lstStyle/>
          <a:p>
            <a:r>
              <a:rPr lang="fr-FR" altLang="fr-FR" dirty="0"/>
              <a:t>UML fournit une notation pour décrire les systèmes à dominante logicielle dans une optique orientée objet</a:t>
            </a:r>
          </a:p>
          <a:p>
            <a:pPr lvl="1"/>
            <a:r>
              <a:rPr lang="fr-FR" altLang="fr-FR" dirty="0"/>
              <a:t>Utilise un mélange de textes et de graphiques</a:t>
            </a:r>
          </a:p>
          <a:p>
            <a:pPr lvl="1"/>
            <a:r>
              <a:rPr lang="fr-FR" altLang="fr-FR" dirty="0"/>
              <a:t>Aussi utilisé pour décrire les aspects non logiciels de tels systèmes</a:t>
            </a:r>
          </a:p>
          <a:p>
            <a:r>
              <a:rPr lang="fr-FR" altLang="fr-FR" dirty="0"/>
              <a:t>UML est suffisamment général pour décrire tous les types de systèmes</a:t>
            </a:r>
          </a:p>
          <a:p>
            <a:pPr lvl="1"/>
            <a:r>
              <a:rPr lang="fr-FR" altLang="fr-FR" dirty="0"/>
              <a:t>Par exemple, les processus de travail et de document (</a:t>
            </a:r>
            <a:r>
              <a:rPr lang="fr-FR" altLang="fr-FR" dirty="0">
                <a:latin typeface="Times New Roman" panose="02020603050405020304" pitchFamily="18" charset="0"/>
              </a:rPr>
              <a:t>workflows</a:t>
            </a:r>
            <a:r>
              <a:rPr lang="fr-FR" altLang="fr-FR" dirty="0"/>
              <a:t>) et les processus métier</a:t>
            </a:r>
          </a:p>
          <a:p>
            <a:r>
              <a:rPr lang="fr-FR" altLang="fr-FR" dirty="0"/>
              <a:t>UML ne donne ni l’ordre d’utilisation des éléments du langage ni comment gérer leur utilisation</a:t>
            </a:r>
          </a:p>
        </p:txBody>
      </p:sp>
      <p:sp>
        <p:nvSpPr>
          <p:cNvPr id="7172" name="Text Box 4"/>
          <p:cNvSpPr txBox="1">
            <a:spLocks noChangeArrowheads="1"/>
          </p:cNvSpPr>
          <p:nvPr/>
        </p:nvSpPr>
        <p:spPr bwMode="blackWhite">
          <a:xfrm>
            <a:off x="852488" y="1447800"/>
            <a:ext cx="7437437" cy="685800"/>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bg1"/>
                </a:solidFill>
                <a:highlight>
                  <a:srgbClr val="000000"/>
                </a:highlight>
                <a:latin typeface="Century Schoolbook" pitchFamily="18" charset="0"/>
              </a:rPr>
              <a:t>“L’objectif d’UML est spécifiquement de visualiser, spécifier, construire et documenter les systèmes orientés objet.”</a:t>
            </a:r>
            <a:r>
              <a:rPr lang="fr-FR" altLang="fr-FR" sz="1800" b="1" i="1" baseline="30000" dirty="0">
                <a:solidFill>
                  <a:schemeClr val="bg1"/>
                </a:solidFill>
                <a:highlight>
                  <a:srgbClr val="000000"/>
                </a:highlight>
                <a:latin typeface="Century Schoolbook" pitchFamily="18" charset="0"/>
              </a:rPr>
              <a:t>*</a:t>
            </a:r>
          </a:p>
        </p:txBody>
      </p:sp>
    </p:spTree>
    <p:extLst>
      <p:ext uri="{BB962C8B-B14F-4D97-AF65-F5344CB8AC3E}">
        <p14:creationId xmlns:p14="http://schemas.microsoft.com/office/powerpoint/2010/main" val="3915842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79388" y="160338"/>
            <a:ext cx="8707437" cy="725487"/>
          </a:xfrm>
        </p:spPr>
        <p:txBody>
          <a:bodyPr/>
          <a:lstStyle/>
          <a:p>
            <a:r>
              <a:rPr lang="fr-FR" altLang="fr-FR"/>
              <a:t>Système d’affectation des ambulances : Diagramme de cas d’utilisation</a:t>
            </a:r>
          </a:p>
        </p:txBody>
      </p:sp>
      <p:pic>
        <p:nvPicPr>
          <p:cNvPr id="16389" name="Picture 5" descr="Use Cases (sans extensions)_UseCase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57200" y="1905000"/>
            <a:ext cx="8012113"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505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79388" y="160338"/>
            <a:ext cx="8750300" cy="725487"/>
          </a:xfrm>
        </p:spPr>
        <p:txBody>
          <a:bodyPr/>
          <a:lstStyle/>
          <a:p>
            <a:r>
              <a:rPr lang="fr-FR" altLang="fr-FR"/>
              <a:t>Système d’affectation des ambulances : Diagramme de classes</a:t>
            </a:r>
          </a:p>
        </p:txBody>
      </p:sp>
      <p:pic>
        <p:nvPicPr>
          <p:cNvPr id="17412" name="Picture 4" descr="Classes_Class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914400" y="1524000"/>
            <a:ext cx="7391400" cy="431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031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7150" y="160338"/>
            <a:ext cx="8958263" cy="725487"/>
          </a:xfrm>
        </p:spPr>
        <p:txBody>
          <a:bodyPr/>
          <a:lstStyle/>
          <a:p>
            <a:r>
              <a:rPr lang="fr-FR" altLang="fr-FR"/>
              <a:t>Système d’affectation des ambulances : Diagramme d’états</a:t>
            </a:r>
          </a:p>
        </p:txBody>
      </p:sp>
      <p:pic>
        <p:nvPicPr>
          <p:cNvPr id="18438" name="Picture 6" descr="1-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458913" y="1371600"/>
            <a:ext cx="6224587" cy="450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844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fr-FR" altLang="fr-FR"/>
              <a:t>Un langage visuel</a:t>
            </a:r>
          </a:p>
        </p:txBody>
      </p:sp>
      <p:sp>
        <p:nvSpPr>
          <p:cNvPr id="24579" name="Rectangle 3"/>
          <p:cNvSpPr>
            <a:spLocks noGrp="1" noChangeArrowheads="1"/>
          </p:cNvSpPr>
          <p:nvPr>
            <p:ph type="body" idx="1"/>
          </p:nvPr>
        </p:nvSpPr>
        <p:spPr>
          <a:xfrm>
            <a:off x="279400" y="1312863"/>
            <a:ext cx="8599488" cy="3346450"/>
          </a:xfrm>
        </p:spPr>
        <p:txBody>
          <a:bodyPr/>
          <a:lstStyle/>
          <a:p>
            <a:r>
              <a:rPr lang="fr-FR" altLang="fr-FR"/>
              <a:t>UML offre une notation graphique pour représenter de nombreux aspects du système</a:t>
            </a:r>
          </a:p>
          <a:p>
            <a:pPr lvl="1"/>
            <a:r>
              <a:rPr lang="fr-FR" altLang="fr-FR"/>
              <a:t>Besoins</a:t>
            </a:r>
          </a:p>
          <a:p>
            <a:pPr lvl="1"/>
            <a:r>
              <a:rPr lang="fr-FR" altLang="fr-FR"/>
              <a:t>Structure du logiciel</a:t>
            </a:r>
          </a:p>
          <a:p>
            <a:pPr lvl="1"/>
            <a:r>
              <a:rPr lang="fr-FR" altLang="fr-FR"/>
              <a:t>Interactions dynamiques</a:t>
            </a:r>
          </a:p>
          <a:p>
            <a:r>
              <a:rPr lang="fr-FR" altLang="fr-FR"/>
              <a:t>Sa nature graphique le rend compréhensible par la plupart des gens</a:t>
            </a:r>
          </a:p>
          <a:p>
            <a:r>
              <a:rPr lang="fr-FR" altLang="fr-FR"/>
              <a:t>La standardisation favorise la communication</a:t>
            </a:r>
          </a:p>
          <a:p>
            <a:pPr lvl="1"/>
            <a:r>
              <a:rPr lang="fr-FR" altLang="fr-FR"/>
              <a:t>Entre les utilisateurs et les développeurs</a:t>
            </a:r>
          </a:p>
          <a:p>
            <a:pPr lvl="1"/>
            <a:r>
              <a:rPr lang="fr-FR" altLang="fr-FR"/>
              <a:t>Au sein de l’équipe de développement</a:t>
            </a:r>
          </a:p>
          <a:p>
            <a:pPr lvl="1"/>
            <a:r>
              <a:rPr lang="fr-FR" altLang="fr-FR"/>
              <a:t>Entre entreprises</a:t>
            </a:r>
          </a:p>
        </p:txBody>
      </p:sp>
    </p:spTree>
    <p:extLst>
      <p:ext uri="{BB962C8B-B14F-4D97-AF65-F5344CB8AC3E}">
        <p14:creationId xmlns:p14="http://schemas.microsoft.com/office/powerpoint/2010/main" val="695938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fr-FR" altLang="fr-FR"/>
              <a:t>Entités, relations et diagrammes</a:t>
            </a:r>
          </a:p>
        </p:txBody>
      </p:sp>
      <p:sp>
        <p:nvSpPr>
          <p:cNvPr id="39939" name="Rectangle 3"/>
          <p:cNvSpPr>
            <a:spLocks noGrp="1" noChangeArrowheads="1"/>
          </p:cNvSpPr>
          <p:nvPr>
            <p:ph type="body" idx="1"/>
          </p:nvPr>
        </p:nvSpPr>
        <p:spPr>
          <a:xfrm>
            <a:off x="279400" y="1312863"/>
            <a:ext cx="8599488" cy="3194050"/>
          </a:xfrm>
        </p:spPr>
        <p:txBody>
          <a:bodyPr/>
          <a:lstStyle/>
          <a:p>
            <a:r>
              <a:rPr lang="fr-FR" altLang="fr-FR"/>
              <a:t>Les entités, les relations et les diagrammes sont les blocs de construction d’UML</a:t>
            </a:r>
          </a:p>
          <a:p>
            <a:r>
              <a:rPr lang="fr-FR" altLang="fr-FR"/>
              <a:t>Les </a:t>
            </a:r>
            <a:r>
              <a:rPr lang="fr-FR" altLang="fr-FR" i="1">
                <a:latin typeface="Century Schoolbook" pitchFamily="18" charset="0"/>
              </a:rPr>
              <a:t>entités</a:t>
            </a:r>
            <a:r>
              <a:rPr lang="fr-FR" altLang="fr-FR"/>
              <a:t> sont les “VIP” d’UML</a:t>
            </a:r>
          </a:p>
          <a:p>
            <a:pPr lvl="1"/>
            <a:r>
              <a:rPr lang="fr-FR" altLang="fr-FR"/>
              <a:t>Représentent les abstractions primaires modélisées</a:t>
            </a:r>
          </a:p>
          <a:p>
            <a:pPr lvl="1"/>
            <a:r>
              <a:rPr lang="fr-FR" altLang="fr-FR"/>
              <a:t>Il en existe de nombreuses variétés, comme les</a:t>
            </a:r>
          </a:p>
          <a:p>
            <a:pPr lvl="2"/>
            <a:r>
              <a:rPr lang="fr-FR" altLang="fr-FR"/>
              <a:t>Classes</a:t>
            </a:r>
          </a:p>
          <a:p>
            <a:pPr lvl="2"/>
            <a:r>
              <a:rPr lang="fr-FR" altLang="fr-FR"/>
              <a:t>Objets</a:t>
            </a:r>
          </a:p>
          <a:p>
            <a:pPr lvl="2"/>
            <a:r>
              <a:rPr lang="fr-FR" altLang="fr-FR"/>
              <a:t>Cas d’utilisation</a:t>
            </a:r>
          </a:p>
          <a:p>
            <a:pPr lvl="2"/>
            <a:r>
              <a:rPr lang="fr-FR" altLang="fr-FR"/>
              <a:t>États</a:t>
            </a:r>
          </a:p>
          <a:p>
            <a:pPr lvl="1"/>
            <a:r>
              <a:rPr lang="fr-FR" altLang="fr-FR"/>
              <a:t>Apparaissent généralement comme des boîtes sur les diagrammes</a:t>
            </a:r>
          </a:p>
        </p:txBody>
      </p:sp>
    </p:spTree>
    <p:extLst>
      <p:ext uri="{BB962C8B-B14F-4D97-AF65-F5344CB8AC3E}">
        <p14:creationId xmlns:p14="http://schemas.microsoft.com/office/powerpoint/2010/main" val="4172894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FR" altLang="fr-FR"/>
              <a:t>Entités, relations et diagrammes </a:t>
            </a:r>
            <a:br>
              <a:rPr lang="fr-FR" altLang="fr-FR"/>
            </a:br>
            <a:r>
              <a:rPr lang="fr-FR" altLang="fr-FR"/>
              <a:t>(suite)</a:t>
            </a:r>
          </a:p>
        </p:txBody>
      </p:sp>
      <p:sp>
        <p:nvSpPr>
          <p:cNvPr id="41987" name="Rectangle 3"/>
          <p:cNvSpPr>
            <a:spLocks noGrp="1" noChangeArrowheads="1"/>
          </p:cNvSpPr>
          <p:nvPr>
            <p:ph type="body" idx="1"/>
          </p:nvPr>
        </p:nvSpPr>
        <p:spPr>
          <a:xfrm>
            <a:off x="279400" y="1312863"/>
            <a:ext cx="8599488" cy="3194050"/>
          </a:xfrm>
        </p:spPr>
        <p:txBody>
          <a:bodyPr/>
          <a:lstStyle/>
          <a:p>
            <a:r>
              <a:rPr lang="fr-FR" altLang="fr-FR" sz="2400" dirty="0"/>
              <a:t>Les entités sont reliées entre elles par des </a:t>
            </a:r>
            <a:r>
              <a:rPr lang="fr-FR" altLang="fr-FR" sz="2400" i="1" dirty="0">
                <a:latin typeface="Century Schoolbook" pitchFamily="18" charset="0"/>
              </a:rPr>
              <a:t>relations</a:t>
            </a:r>
            <a:endParaRPr lang="fr-FR" altLang="fr-FR" sz="2400" i="1" dirty="0"/>
          </a:p>
          <a:p>
            <a:pPr lvl="1"/>
            <a:r>
              <a:rPr lang="fr-FR" altLang="fr-FR" sz="2000" dirty="0"/>
              <a:t>Les relations se déclinent en plusieurs variétés, par exemple</a:t>
            </a:r>
            <a:r>
              <a:rPr lang="en-US" altLang="fr-FR" sz="2000" dirty="0">
                <a:cs typeface="Arial" panose="020B0604020202020204" pitchFamily="34" charset="0"/>
              </a:rPr>
              <a:t> </a:t>
            </a:r>
            <a:r>
              <a:rPr lang="fr-FR" altLang="fr-FR" sz="2000" dirty="0"/>
              <a:t>:</a:t>
            </a:r>
          </a:p>
          <a:p>
            <a:pPr lvl="2"/>
            <a:r>
              <a:rPr lang="fr-FR" altLang="fr-FR" sz="1800" dirty="0"/>
              <a:t>Les associations entre classes</a:t>
            </a:r>
          </a:p>
          <a:p>
            <a:pPr lvl="2"/>
            <a:r>
              <a:rPr lang="fr-FR" altLang="fr-FR" sz="1800" dirty="0"/>
              <a:t>Les liens entre objets</a:t>
            </a:r>
          </a:p>
          <a:p>
            <a:pPr lvl="2"/>
            <a:r>
              <a:rPr lang="fr-FR" altLang="fr-FR" sz="1800" dirty="0"/>
              <a:t>Les dépendances entre beaucoup de types d’entité</a:t>
            </a:r>
          </a:p>
          <a:p>
            <a:pPr lvl="1"/>
            <a:r>
              <a:rPr lang="fr-FR" altLang="fr-FR" sz="2000" dirty="0"/>
              <a:t>Apparaissent généralement comme des lignes sur les diagrammes</a:t>
            </a:r>
          </a:p>
          <a:p>
            <a:r>
              <a:rPr lang="fr-FR" altLang="fr-FR" sz="2400" dirty="0"/>
              <a:t>Les </a:t>
            </a:r>
            <a:r>
              <a:rPr lang="fr-FR" altLang="fr-FR" sz="2400" i="1" dirty="0">
                <a:latin typeface="Century Schoolbook" pitchFamily="18" charset="0"/>
              </a:rPr>
              <a:t>diagrammes</a:t>
            </a:r>
            <a:r>
              <a:rPr lang="fr-FR" altLang="fr-FR" sz="2400" dirty="0"/>
              <a:t> présentent des entités connectées par des relations</a:t>
            </a:r>
          </a:p>
          <a:p>
            <a:pPr lvl="1"/>
            <a:r>
              <a:rPr lang="fr-FR" altLang="fr-FR" sz="2000" dirty="0"/>
              <a:t>Pour chaque type de diagramme sont spécifiés quels types d’entité et de relation il peut contenir</a:t>
            </a:r>
          </a:p>
          <a:p>
            <a:pPr lvl="1"/>
            <a:r>
              <a:rPr lang="fr-FR" altLang="fr-FR" sz="2000" dirty="0"/>
              <a:t>UML 2.0 spécifie treize types de diagramme</a:t>
            </a:r>
          </a:p>
        </p:txBody>
      </p:sp>
    </p:spTree>
    <p:extLst>
      <p:ext uri="{BB962C8B-B14F-4D97-AF65-F5344CB8AC3E}">
        <p14:creationId xmlns:p14="http://schemas.microsoft.com/office/powerpoint/2010/main" val="1566402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fr-FR" altLang="fr-FR"/>
              <a:t>Diagramme de cas d’utilisation : Exemple simple </a:t>
            </a:r>
          </a:p>
        </p:txBody>
      </p:sp>
      <p:pic>
        <p:nvPicPr>
          <p:cNvPr id="6149" name="Picture 5" descr="Use cas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676400" y="1828800"/>
            <a:ext cx="5638800" cy="320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645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9388" y="160338"/>
            <a:ext cx="8964612" cy="725487"/>
          </a:xfrm>
        </p:spPr>
        <p:txBody>
          <a:bodyPr/>
          <a:lstStyle/>
          <a:p>
            <a:r>
              <a:rPr lang="fr-FR" altLang="fr-FR"/>
              <a:t>Formaliser les scénarios sous forme de cas d’utilisation</a:t>
            </a:r>
          </a:p>
        </p:txBody>
      </p:sp>
      <p:sp>
        <p:nvSpPr>
          <p:cNvPr id="14339" name="Rectangle 3"/>
          <p:cNvSpPr>
            <a:spLocks noGrp="1" noChangeArrowheads="1"/>
          </p:cNvSpPr>
          <p:nvPr>
            <p:ph type="body" idx="1"/>
          </p:nvPr>
        </p:nvSpPr>
        <p:spPr>
          <a:xfrm>
            <a:off x="304800" y="2971800"/>
            <a:ext cx="8599488" cy="915988"/>
          </a:xfrm>
        </p:spPr>
        <p:txBody>
          <a:bodyPr/>
          <a:lstStyle/>
          <a:p>
            <a:r>
              <a:rPr lang="fr-FR" altLang="fr-FR"/>
              <a:t>Jacobson donne de l’importance au scénario, qu’il appelle </a:t>
            </a:r>
            <a:r>
              <a:rPr lang="fr-FR" altLang="fr-FR" i="1">
                <a:latin typeface="Century Schoolbook" pitchFamily="18" charset="0"/>
              </a:rPr>
              <a:t>cas d’utilisation</a:t>
            </a:r>
            <a:r>
              <a:rPr lang="fr-FR" altLang="fr-FR"/>
              <a:t> (</a:t>
            </a:r>
            <a:r>
              <a:rPr lang="fr-FR" altLang="fr-FR" i="1">
                <a:latin typeface="Century Schoolbook" pitchFamily="18" charset="0"/>
              </a:rPr>
              <a:t>use-case</a:t>
            </a:r>
            <a:r>
              <a:rPr lang="fr-FR" altLang="fr-FR"/>
              <a:t>), et en fait un élément fondamental dans le processus de développement</a:t>
            </a:r>
          </a:p>
        </p:txBody>
      </p:sp>
      <p:sp>
        <p:nvSpPr>
          <p:cNvPr id="14340" name="Text Box 4"/>
          <p:cNvSpPr txBox="1">
            <a:spLocks noChangeArrowheads="1"/>
          </p:cNvSpPr>
          <p:nvPr/>
        </p:nvSpPr>
        <p:spPr bwMode="blackWhite">
          <a:xfrm>
            <a:off x="990600" y="1371600"/>
            <a:ext cx="7132638" cy="1311275"/>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bg1"/>
                </a:solidFill>
                <a:highlight>
                  <a:srgbClr val="000000"/>
                </a:highlight>
                <a:latin typeface="Century Schoolbook" pitchFamily="18" charset="0"/>
              </a:rPr>
              <a:t>“Un cas d’utilisation est une manière particulière d’utiliser le système en mettant en </a:t>
            </a:r>
            <a:r>
              <a:rPr lang="en-US" altLang="fr-FR" sz="1800" b="1" i="1" dirty="0">
                <a:solidFill>
                  <a:schemeClr val="bg1"/>
                </a:solidFill>
                <a:highlight>
                  <a:srgbClr val="000000"/>
                </a:highlight>
                <a:latin typeface="Century Schoolbook" pitchFamily="18" charset="0"/>
              </a:rPr>
              <a:t>œ</a:t>
            </a:r>
            <a:r>
              <a:rPr lang="fr-FR" altLang="fr-FR" sz="1800" b="1" i="1" dirty="0" err="1">
                <a:solidFill>
                  <a:schemeClr val="bg1"/>
                </a:solidFill>
                <a:highlight>
                  <a:srgbClr val="000000"/>
                </a:highlight>
                <a:latin typeface="Century Schoolbook" pitchFamily="18" charset="0"/>
              </a:rPr>
              <a:t>uvre</a:t>
            </a:r>
            <a:r>
              <a:rPr lang="fr-FR" altLang="fr-FR" sz="1800" b="1" i="1" dirty="0">
                <a:solidFill>
                  <a:schemeClr val="bg1"/>
                </a:solidFill>
                <a:highlight>
                  <a:srgbClr val="000000"/>
                </a:highlight>
                <a:latin typeface="Century Schoolbook" pitchFamily="18" charset="0"/>
              </a:rPr>
              <a:t> une partie de ses fonctionnalités … L’ensemble des cas d’utilisation spécifie toutes les manières existantes d’utiliser le système.”</a:t>
            </a:r>
            <a:r>
              <a:rPr lang="fr-FR" altLang="fr-FR" sz="1800" b="1" i="1" baseline="30000" dirty="0">
                <a:solidFill>
                  <a:schemeClr val="bg1"/>
                </a:solidFill>
                <a:highlight>
                  <a:srgbClr val="000000"/>
                </a:highlight>
                <a:latin typeface="Century Schoolbook" pitchFamily="18" charset="0"/>
              </a:rPr>
              <a:t>*</a:t>
            </a:r>
            <a:endParaRPr lang="fr-FR" altLang="fr-FR" sz="1800" b="1" i="1" dirty="0">
              <a:solidFill>
                <a:schemeClr val="bg1"/>
              </a:solidFill>
              <a:highlight>
                <a:srgbClr val="000000"/>
              </a:highlight>
              <a:latin typeface="Century Schoolbook" pitchFamily="18" charset="0"/>
            </a:endParaRPr>
          </a:p>
          <a:p>
            <a:endParaRPr lang="fr-FR" altLang="fr-FR" sz="1200" dirty="0">
              <a:solidFill>
                <a:schemeClr val="bg1"/>
              </a:solidFill>
              <a:highlight>
                <a:srgbClr val="000000"/>
              </a:highlight>
            </a:endParaRPr>
          </a:p>
        </p:txBody>
      </p:sp>
    </p:spTree>
    <p:extLst>
      <p:ext uri="{BB962C8B-B14F-4D97-AF65-F5344CB8AC3E}">
        <p14:creationId xmlns:p14="http://schemas.microsoft.com/office/powerpoint/2010/main" val="1361115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fr-FR" altLang="fr-FR"/>
              <a:t>Qu’est-ce qu’un acteur ?</a:t>
            </a:r>
          </a:p>
        </p:txBody>
      </p:sp>
      <p:sp>
        <p:nvSpPr>
          <p:cNvPr id="26627" name="Rectangle 3"/>
          <p:cNvSpPr>
            <a:spLocks noGrp="1" noChangeArrowheads="1"/>
          </p:cNvSpPr>
          <p:nvPr>
            <p:ph type="body" idx="1"/>
          </p:nvPr>
        </p:nvSpPr>
        <p:spPr>
          <a:xfrm>
            <a:off x="304800" y="2465388"/>
            <a:ext cx="8599488" cy="2868612"/>
          </a:xfrm>
        </p:spPr>
        <p:txBody>
          <a:bodyPr/>
          <a:lstStyle/>
          <a:p>
            <a:r>
              <a:rPr lang="fr-FR" altLang="fr-FR" sz="2400" dirty="0"/>
              <a:t>Un </a:t>
            </a:r>
            <a:r>
              <a:rPr lang="fr-FR" altLang="fr-FR" sz="2400" i="1" dirty="0">
                <a:latin typeface="Century Schoolbook" pitchFamily="18" charset="0"/>
              </a:rPr>
              <a:t>acteur</a:t>
            </a:r>
            <a:r>
              <a:rPr lang="fr-FR" altLang="fr-FR" sz="2400" dirty="0"/>
              <a:t> définit un rôle joué par un utilisateur du système</a:t>
            </a:r>
          </a:p>
          <a:p>
            <a:pPr lvl="1"/>
            <a:r>
              <a:rPr lang="fr-FR" altLang="fr-FR" sz="2000" dirty="0"/>
              <a:t>Peut être un être humain</a:t>
            </a:r>
          </a:p>
          <a:p>
            <a:pPr lvl="1"/>
            <a:r>
              <a:rPr lang="fr-FR" altLang="fr-FR" sz="2000" dirty="0"/>
              <a:t>Peut être un autre système</a:t>
            </a:r>
          </a:p>
          <a:p>
            <a:pPr lvl="1"/>
            <a:r>
              <a:rPr lang="fr-FR" altLang="fr-FR" sz="2000" dirty="0"/>
              <a:t>Peut être le déroulement du temps</a:t>
            </a:r>
          </a:p>
          <a:p>
            <a:pPr lvl="2"/>
            <a:r>
              <a:rPr lang="fr-FR" altLang="fr-FR" sz="1800" dirty="0"/>
              <a:t>Par exemple, dans une simulation pour laquelle le système fait les calculs lorsque le processeur est inutilisé depuis un certain temps</a:t>
            </a:r>
          </a:p>
          <a:p>
            <a:r>
              <a:rPr lang="fr-FR" altLang="fr-FR" sz="2400" dirty="0"/>
              <a:t>Les acteurs sont par définition en dehors du système à modéliser</a:t>
            </a:r>
          </a:p>
          <a:p>
            <a:pPr lvl="1"/>
            <a:r>
              <a:rPr lang="fr-FR" altLang="fr-FR" sz="2000" dirty="0"/>
              <a:t>Ils ne sont pas étudiés en détails ; seules leurs interactions avec le système ont de l’intérêt</a:t>
            </a:r>
          </a:p>
        </p:txBody>
      </p:sp>
      <p:sp>
        <p:nvSpPr>
          <p:cNvPr id="26628" name="Text Box 4"/>
          <p:cNvSpPr txBox="1">
            <a:spLocks noChangeArrowheads="1"/>
          </p:cNvSpPr>
          <p:nvPr/>
        </p:nvSpPr>
        <p:spPr bwMode="blackWhite">
          <a:xfrm>
            <a:off x="533400" y="1401763"/>
            <a:ext cx="8001000" cy="960437"/>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bg1"/>
                </a:solidFill>
                <a:highlight>
                  <a:srgbClr val="000000"/>
                </a:highlight>
                <a:latin typeface="Century Schoolbook" pitchFamily="18" charset="0"/>
              </a:rPr>
              <a:t>“Une idéalisation d’une personne extérieure, d’un processus ou de quelque chose qui interagit avec un système, un sous-système ou une classe”</a:t>
            </a:r>
            <a:r>
              <a:rPr lang="fr-FR" altLang="fr-FR" sz="1800" b="1" i="1" baseline="30000" dirty="0">
                <a:solidFill>
                  <a:schemeClr val="bg1"/>
                </a:solidFill>
                <a:highlight>
                  <a:srgbClr val="000000"/>
                </a:highlight>
                <a:latin typeface="Century Schoolbook" pitchFamily="18" charset="0"/>
              </a:rPr>
              <a:t>*</a:t>
            </a:r>
            <a:endParaRPr lang="fr-FR" altLang="fr-FR" sz="1800" b="1" i="1" dirty="0">
              <a:solidFill>
                <a:schemeClr val="bg1"/>
              </a:solidFill>
              <a:highlight>
                <a:srgbClr val="000000"/>
              </a:highlight>
              <a:latin typeface="Century Schoolbook" pitchFamily="18" charset="0"/>
            </a:endParaRPr>
          </a:p>
          <a:p>
            <a:endParaRPr lang="fr-FR" altLang="fr-FR" sz="1200" dirty="0">
              <a:solidFill>
                <a:schemeClr val="bg1"/>
              </a:solidFill>
              <a:highlight>
                <a:srgbClr val="000000"/>
              </a:highlight>
            </a:endParaRPr>
          </a:p>
        </p:txBody>
      </p:sp>
    </p:spTree>
    <p:extLst>
      <p:ext uri="{BB962C8B-B14F-4D97-AF65-F5344CB8AC3E}">
        <p14:creationId xmlns:p14="http://schemas.microsoft.com/office/powerpoint/2010/main" val="1369326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fr-FR" altLang="fr-FR"/>
              <a:t>Symbole d’acteur en UML</a:t>
            </a:r>
          </a:p>
        </p:txBody>
      </p:sp>
      <p:sp>
        <p:nvSpPr>
          <p:cNvPr id="30723" name="Rectangle 3"/>
          <p:cNvSpPr>
            <a:spLocks noGrp="1" noChangeArrowheads="1"/>
          </p:cNvSpPr>
          <p:nvPr>
            <p:ph type="body" idx="1"/>
          </p:nvPr>
        </p:nvSpPr>
        <p:spPr>
          <a:xfrm>
            <a:off x="279400" y="1312863"/>
            <a:ext cx="8599488" cy="941387"/>
          </a:xfrm>
        </p:spPr>
        <p:txBody>
          <a:bodyPr/>
          <a:lstStyle/>
          <a:p>
            <a:r>
              <a:rPr lang="fr-FR" altLang="fr-FR"/>
              <a:t>Représenté par un “Bonhomme stylisé”</a:t>
            </a:r>
          </a:p>
          <a:p>
            <a:pPr lvl="1"/>
            <a:r>
              <a:rPr lang="fr-FR" altLang="fr-FR"/>
              <a:t>Un acteur est un type de classe et peut donc être représenté </a:t>
            </a:r>
            <a:br>
              <a:rPr lang="fr-FR" altLang="fr-FR"/>
            </a:br>
            <a:r>
              <a:rPr lang="fr-FR" altLang="fr-FR"/>
              <a:t>sous la forme d’une classe avec un stéréotype</a:t>
            </a:r>
          </a:p>
        </p:txBody>
      </p:sp>
      <p:grpSp>
        <p:nvGrpSpPr>
          <p:cNvPr id="30739" name="Group 19"/>
          <p:cNvGrpSpPr>
            <a:grpSpLocks/>
          </p:cNvGrpSpPr>
          <p:nvPr/>
        </p:nvGrpSpPr>
        <p:grpSpPr bwMode="auto">
          <a:xfrm>
            <a:off x="2057400" y="3657600"/>
            <a:ext cx="493713" cy="952500"/>
            <a:chOff x="1488" y="2016"/>
            <a:chExt cx="311" cy="600"/>
          </a:xfrm>
        </p:grpSpPr>
        <p:sp>
          <p:nvSpPr>
            <p:cNvPr id="30730" name="Oval 10"/>
            <p:cNvSpPr>
              <a:spLocks noChangeArrowheads="1"/>
            </p:cNvSpPr>
            <p:nvPr/>
          </p:nvSpPr>
          <p:spPr bwMode="auto">
            <a:xfrm>
              <a:off x="1545" y="2016"/>
              <a:ext cx="191" cy="192"/>
            </a:xfrm>
            <a:prstGeom prst="ellipse">
              <a:avLst/>
            </a:prstGeom>
            <a:solidFill>
              <a:srgbClr val="FFFFFF"/>
            </a:solidFill>
            <a:ln w="9525">
              <a:solidFill>
                <a:schemeClr val="tx1"/>
              </a:solidFill>
              <a:round/>
              <a:headEnd/>
              <a:tailEnd/>
            </a:ln>
          </p:spPr>
          <p:txBody>
            <a:bodyPr/>
            <a:lstStyle/>
            <a:p>
              <a:endParaRPr lang="fr-FR">
                <a:solidFill>
                  <a:schemeClr val="tx2"/>
                </a:solidFill>
              </a:endParaRPr>
            </a:p>
          </p:txBody>
        </p:sp>
        <p:sp>
          <p:nvSpPr>
            <p:cNvPr id="30731" name="Line 11"/>
            <p:cNvSpPr>
              <a:spLocks noChangeShapeType="1"/>
            </p:cNvSpPr>
            <p:nvPr/>
          </p:nvSpPr>
          <p:spPr bwMode="auto">
            <a:xfrm>
              <a:off x="1632" y="2208"/>
              <a:ext cx="0" cy="23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2" name="Line 12"/>
            <p:cNvSpPr>
              <a:spLocks noChangeShapeType="1"/>
            </p:cNvSpPr>
            <p:nvPr/>
          </p:nvSpPr>
          <p:spPr bwMode="auto">
            <a:xfrm>
              <a:off x="1488" y="2304"/>
              <a:ext cx="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3" name="Line 13"/>
            <p:cNvSpPr>
              <a:spLocks noChangeShapeType="1"/>
            </p:cNvSpPr>
            <p:nvPr/>
          </p:nvSpPr>
          <p:spPr bwMode="auto">
            <a:xfrm flipH="1">
              <a:off x="1488" y="2448"/>
              <a:ext cx="144"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4" name="Line 14"/>
            <p:cNvSpPr>
              <a:spLocks noChangeShapeType="1"/>
            </p:cNvSpPr>
            <p:nvPr/>
          </p:nvSpPr>
          <p:spPr bwMode="auto">
            <a:xfrm>
              <a:off x="1632" y="2448"/>
              <a:ext cx="167" cy="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30735" name="Text Box 15"/>
          <p:cNvSpPr txBox="1">
            <a:spLocks noChangeArrowheads="1"/>
          </p:cNvSpPr>
          <p:nvPr/>
        </p:nvSpPr>
        <p:spPr bwMode="auto">
          <a:xfrm>
            <a:off x="1524000" y="4572000"/>
            <a:ext cx="15240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fr-FR" altLang="fr-FR" sz="1600" b="1">
                <a:solidFill>
                  <a:schemeClr val="tx2"/>
                </a:solidFill>
              </a:rPr>
              <a:t>Conducteur</a:t>
            </a:r>
          </a:p>
        </p:txBody>
      </p:sp>
      <p:sp>
        <p:nvSpPr>
          <p:cNvPr id="30736" name="Text Box 16"/>
          <p:cNvSpPr txBox="1">
            <a:spLocks noChangeArrowheads="1"/>
          </p:cNvSpPr>
          <p:nvPr/>
        </p:nvSpPr>
        <p:spPr bwMode="auto">
          <a:xfrm>
            <a:off x="5435600" y="3341688"/>
            <a:ext cx="18034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i="1">
                <a:solidFill>
                  <a:schemeClr val="tx2"/>
                </a:solidFill>
                <a:latin typeface="Lucida Sans" pitchFamily="34" charset="0"/>
              </a:rPr>
              <a:t>Symbole d’acteur</a:t>
            </a:r>
          </a:p>
          <a:p>
            <a:endParaRPr lang="fr-FR" altLang="fr-FR" i="1">
              <a:solidFill>
                <a:schemeClr val="tx2"/>
              </a:solidFill>
              <a:latin typeface="Lucida Sans" pitchFamily="34" charset="0"/>
            </a:endParaRPr>
          </a:p>
          <a:p>
            <a:endParaRPr lang="fr-FR" altLang="fr-FR" i="1">
              <a:solidFill>
                <a:schemeClr val="tx2"/>
              </a:solidFill>
              <a:latin typeface="Lucida Sans" pitchFamily="34" charset="0"/>
            </a:endParaRPr>
          </a:p>
          <a:p>
            <a:r>
              <a:rPr lang="fr-FR" altLang="fr-FR" i="1">
                <a:solidFill>
                  <a:schemeClr val="tx2"/>
                </a:solidFill>
                <a:latin typeface="Lucida Sans" pitchFamily="34" charset="0"/>
              </a:rPr>
              <a:t>Nom de l’acteur</a:t>
            </a:r>
          </a:p>
        </p:txBody>
      </p:sp>
      <p:sp>
        <p:nvSpPr>
          <p:cNvPr id="30737" name="Line 17"/>
          <p:cNvSpPr>
            <a:spLocks noChangeShapeType="1"/>
          </p:cNvSpPr>
          <p:nvPr/>
        </p:nvSpPr>
        <p:spPr bwMode="auto">
          <a:xfrm flipH="1">
            <a:off x="2743200" y="3505200"/>
            <a:ext cx="2667000" cy="4572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30738" name="Line 18"/>
          <p:cNvSpPr>
            <a:spLocks noChangeShapeType="1"/>
          </p:cNvSpPr>
          <p:nvPr/>
        </p:nvSpPr>
        <p:spPr bwMode="auto">
          <a:xfrm flipH="1">
            <a:off x="2895600" y="4114800"/>
            <a:ext cx="2514600" cy="6096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Tree>
    <p:extLst>
      <p:ext uri="{BB962C8B-B14F-4D97-AF65-F5344CB8AC3E}">
        <p14:creationId xmlns:p14="http://schemas.microsoft.com/office/powerpoint/2010/main" val="3745852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fr-FR" altLang="fr-FR"/>
              <a:t>Qu’est-ce qu’un cas d’utilisation ?</a:t>
            </a:r>
          </a:p>
        </p:txBody>
      </p:sp>
      <p:sp>
        <p:nvSpPr>
          <p:cNvPr id="33795" name="Rectangle 3"/>
          <p:cNvSpPr>
            <a:spLocks noGrp="1" noChangeArrowheads="1"/>
          </p:cNvSpPr>
          <p:nvPr>
            <p:ph type="body" idx="1"/>
          </p:nvPr>
        </p:nvSpPr>
        <p:spPr>
          <a:xfrm>
            <a:off x="304800" y="2819400"/>
            <a:ext cx="8599488" cy="1216025"/>
          </a:xfrm>
        </p:spPr>
        <p:txBody>
          <a:bodyPr/>
          <a:lstStyle/>
          <a:p>
            <a:r>
              <a:rPr lang="fr-FR" altLang="fr-FR"/>
              <a:t>Le cas d’utilisation montre une vue utilisateur du comportement du système</a:t>
            </a:r>
          </a:p>
          <a:p>
            <a:pPr lvl="1"/>
            <a:r>
              <a:rPr lang="fr-FR" altLang="fr-FR"/>
              <a:t>L’ensemble de tous les cas d’utilisation identifiés pour un système décrit tous les comportements connus, visibles depuis l’extérieur</a:t>
            </a:r>
          </a:p>
        </p:txBody>
      </p:sp>
      <p:sp>
        <p:nvSpPr>
          <p:cNvPr id="33796" name="Text Box 4"/>
          <p:cNvSpPr txBox="1">
            <a:spLocks noChangeArrowheads="1"/>
          </p:cNvSpPr>
          <p:nvPr/>
        </p:nvSpPr>
        <p:spPr bwMode="blackWhite">
          <a:xfrm>
            <a:off x="1143000" y="1447800"/>
            <a:ext cx="6858000" cy="1042988"/>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p>
            <a:pPr algn="ctr"/>
            <a:r>
              <a:rPr lang="fr-FR" altLang="fr-FR" sz="1800" b="1" i="1" dirty="0">
                <a:solidFill>
                  <a:schemeClr val="tx2"/>
                </a:solidFill>
                <a:latin typeface="Century Schoolbook" pitchFamily="18" charset="0"/>
              </a:rPr>
              <a:t>“La spécification d’une séquence d’actions … qu’un système, un sous-système, ou une classe peut effectuer en interagissant avec des acteurs externes”</a:t>
            </a:r>
            <a:r>
              <a:rPr lang="fr-FR" altLang="fr-FR" sz="1800" b="1" i="1" baseline="30000" dirty="0">
                <a:solidFill>
                  <a:schemeClr val="tx2"/>
                </a:solidFill>
                <a:latin typeface="Century Schoolbook" pitchFamily="18" charset="0"/>
              </a:rPr>
              <a:t>*</a:t>
            </a:r>
            <a:endParaRPr lang="fr-FR" altLang="fr-FR" sz="1800" b="1" i="1" dirty="0">
              <a:solidFill>
                <a:schemeClr val="tx2"/>
              </a:solidFill>
              <a:latin typeface="Century Schoolbook" pitchFamily="18" charset="0"/>
            </a:endParaRPr>
          </a:p>
          <a:p>
            <a:endParaRPr lang="fr-FR" altLang="fr-FR" sz="1200" dirty="0">
              <a:solidFill>
                <a:schemeClr val="tx2"/>
              </a:solidFill>
            </a:endParaRPr>
          </a:p>
        </p:txBody>
      </p:sp>
    </p:spTree>
    <p:extLst>
      <p:ext uri="{BB962C8B-B14F-4D97-AF65-F5344CB8AC3E}">
        <p14:creationId xmlns:p14="http://schemas.microsoft.com/office/powerpoint/2010/main" val="3250473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fr-FR" altLang="fr-FR"/>
              <a:t>Le symbole de cas d’utilisation en UML</a:t>
            </a:r>
          </a:p>
        </p:txBody>
      </p:sp>
      <p:sp>
        <p:nvSpPr>
          <p:cNvPr id="37891" name="Rectangle 3"/>
          <p:cNvSpPr>
            <a:spLocks noGrp="1" noChangeArrowheads="1"/>
          </p:cNvSpPr>
          <p:nvPr>
            <p:ph type="body" idx="1"/>
          </p:nvPr>
        </p:nvSpPr>
        <p:spPr>
          <a:xfrm>
            <a:off x="279400" y="1312863"/>
            <a:ext cx="8599488" cy="1968500"/>
          </a:xfrm>
        </p:spPr>
        <p:txBody>
          <a:bodyPr/>
          <a:lstStyle/>
          <a:p>
            <a:r>
              <a:rPr lang="fr-FR" altLang="fr-FR" sz="2400" dirty="0"/>
              <a:t>Normalement représenté par une ellipse</a:t>
            </a:r>
          </a:p>
          <a:p>
            <a:pPr lvl="1"/>
            <a:r>
              <a:rPr lang="fr-FR" altLang="fr-FR" sz="2000" dirty="0"/>
              <a:t>Un cas d’utilisation est un type de classe, il peut donc être </a:t>
            </a:r>
            <a:br>
              <a:rPr lang="fr-FR" altLang="fr-FR" sz="2000" dirty="0"/>
            </a:br>
            <a:r>
              <a:rPr lang="fr-FR" altLang="fr-FR" sz="2000" dirty="0"/>
              <a:t>représenté sous la forme d’une classe avec un stéréotype</a:t>
            </a:r>
          </a:p>
          <a:p>
            <a:r>
              <a:rPr lang="fr-FR" altLang="fr-FR" sz="2400" dirty="0"/>
              <a:t>Les acteurs communiquent avec les cas d’utilisation</a:t>
            </a:r>
          </a:p>
          <a:p>
            <a:pPr lvl="1"/>
            <a:r>
              <a:rPr lang="fr-FR" altLang="fr-FR" sz="2000" dirty="0"/>
              <a:t>Les acteurs déclenchent les cas d’utilisation, leur transmettent et/ou en reçoivent des informations</a:t>
            </a:r>
          </a:p>
        </p:txBody>
      </p:sp>
      <p:pic>
        <p:nvPicPr>
          <p:cNvPr id="37899" name="Picture 11" descr="3-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4425441"/>
            <a:ext cx="6494463"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261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fr-FR" altLang="fr-FR"/>
              <a:t>Description d’un cas d’utilisation</a:t>
            </a:r>
          </a:p>
        </p:txBody>
      </p:sp>
      <p:sp>
        <p:nvSpPr>
          <p:cNvPr id="39939" name="Rectangle 3"/>
          <p:cNvSpPr>
            <a:spLocks noGrp="1" noChangeArrowheads="1"/>
          </p:cNvSpPr>
          <p:nvPr>
            <p:ph type="body" idx="1"/>
          </p:nvPr>
        </p:nvSpPr>
        <p:spPr>
          <a:xfrm>
            <a:off x="279400" y="1312863"/>
            <a:ext cx="8599488" cy="4648200"/>
          </a:xfrm>
        </p:spPr>
        <p:txBody>
          <a:bodyPr/>
          <a:lstStyle/>
          <a:p>
            <a:r>
              <a:rPr lang="fr-FR" altLang="fr-FR" sz="2000" dirty="0"/>
              <a:t>Pour chaque cas d’utilisation, on doit décrire</a:t>
            </a:r>
          </a:p>
          <a:p>
            <a:pPr lvl="1"/>
            <a:r>
              <a:rPr lang="fr-FR" altLang="fr-FR" sz="1800" dirty="0"/>
              <a:t>Quand et comment il commence et se finit</a:t>
            </a:r>
          </a:p>
          <a:p>
            <a:pPr lvl="1"/>
            <a:r>
              <a:rPr lang="fr-FR" altLang="fr-FR" sz="1800" dirty="0"/>
              <a:t>Les informations échangées vers ou depuis l’acteur</a:t>
            </a:r>
          </a:p>
          <a:p>
            <a:pPr lvl="1"/>
            <a:r>
              <a:rPr lang="fr-FR" altLang="fr-FR" sz="1800" dirty="0"/>
              <a:t>Le comportement du système détectable depuis l'extérieur</a:t>
            </a:r>
          </a:p>
          <a:p>
            <a:r>
              <a:rPr lang="fr-FR" altLang="fr-FR" sz="2000" dirty="0"/>
              <a:t>Habituellement, un cas d’utilisation comprend une séquence principale de comportement</a:t>
            </a:r>
          </a:p>
          <a:p>
            <a:pPr lvl="1"/>
            <a:r>
              <a:rPr lang="fr-FR" altLang="fr-FR" sz="1800" dirty="0"/>
              <a:t>Parfois des séquences alternatives, d’erreur ou exceptionnelles peuvent être décrites</a:t>
            </a:r>
          </a:p>
          <a:p>
            <a:r>
              <a:rPr lang="fr-FR" altLang="fr-FR" sz="2000" dirty="0"/>
              <a:t>Peut être décrit en utilisant du texte</a:t>
            </a:r>
          </a:p>
          <a:p>
            <a:pPr lvl="1"/>
            <a:r>
              <a:rPr lang="fr-FR" altLang="fr-FR" sz="1800" dirty="0"/>
              <a:t>En dehors du diagramme ou attaché sous forme de notes</a:t>
            </a:r>
          </a:p>
          <a:p>
            <a:pPr lvl="1"/>
            <a:r>
              <a:rPr lang="fr-FR" altLang="fr-FR" sz="1800" dirty="0"/>
              <a:t>Imprécis mais souvent suffisant lorsqu’on travaille au niveau conceptuel</a:t>
            </a:r>
          </a:p>
          <a:p>
            <a:r>
              <a:rPr lang="fr-FR" altLang="fr-FR" sz="2000" dirty="0"/>
              <a:t>Peut être décrit en utilisant d’autres diagrammes UML</a:t>
            </a:r>
          </a:p>
          <a:p>
            <a:pPr lvl="1"/>
            <a:r>
              <a:rPr lang="fr-FR" altLang="fr-FR" sz="1800" dirty="0"/>
              <a:t>Diagrammes de séquence, de communication, d’états, </a:t>
            </a:r>
            <a:br>
              <a:rPr lang="fr-FR" altLang="fr-FR" sz="1800" dirty="0"/>
            </a:br>
            <a:r>
              <a:rPr lang="fr-FR" altLang="fr-FR" sz="1800" dirty="0"/>
              <a:t>ou d’activité</a:t>
            </a:r>
          </a:p>
        </p:txBody>
      </p:sp>
    </p:spTree>
    <p:extLst>
      <p:ext uri="{BB962C8B-B14F-4D97-AF65-F5344CB8AC3E}">
        <p14:creationId xmlns:p14="http://schemas.microsoft.com/office/powerpoint/2010/main" val="2553833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fr-FR" altLang="fr-FR"/>
              <a:t>Description textuelle d’un cas d’utilisation</a:t>
            </a:r>
          </a:p>
        </p:txBody>
      </p:sp>
      <p:sp>
        <p:nvSpPr>
          <p:cNvPr id="41988" name="Text Box 4"/>
          <p:cNvSpPr txBox="1">
            <a:spLocks noChangeArrowheads="1"/>
          </p:cNvSpPr>
          <p:nvPr/>
        </p:nvSpPr>
        <p:spPr bwMode="blackWhite">
          <a:xfrm>
            <a:off x="609600" y="1828800"/>
            <a:ext cx="7956550" cy="4121150"/>
          </a:xfrm>
          <a:prstGeom prst="rect">
            <a:avLst/>
          </a:prstGeom>
          <a:solidFill>
            <a:srgbClr val="FFFFCC"/>
          </a:solidFill>
          <a:ln w="12700">
            <a:solidFill>
              <a:schemeClr val="tx1"/>
            </a:solidFill>
            <a:miter lim="800000"/>
            <a:headEnd/>
            <a:tailEnd/>
          </a:ln>
          <a:effectLst>
            <a:outerShdw dist="35921" dir="2700000" algn="ctr" rotWithShape="0">
              <a:schemeClr val="tx1"/>
            </a:outerShdw>
          </a:effectLst>
        </p:spPr>
        <p:txBody>
          <a:bodyPr/>
          <a:lstStyle>
            <a:lvl1pPr marL="2236788" indent="-2236788" defTabSz="273050">
              <a:tabLst>
                <a:tab pos="1976438" algn="l"/>
              </a:tabLst>
              <a:defRPr sz="2400">
                <a:solidFill>
                  <a:schemeClr val="tx1"/>
                </a:solidFill>
                <a:latin typeface="Times New Roman" panose="02020603050405020304" pitchFamily="18" charset="0"/>
              </a:defRPr>
            </a:lvl1pPr>
            <a:lvl2pPr marL="2601913" defTabSz="273050">
              <a:tabLst>
                <a:tab pos="1976438" algn="l"/>
              </a:tabLst>
              <a:defRPr sz="2400">
                <a:solidFill>
                  <a:schemeClr val="tx1"/>
                </a:solidFill>
                <a:latin typeface="Times New Roman" panose="02020603050405020304" pitchFamily="18" charset="0"/>
              </a:defRPr>
            </a:lvl2pPr>
            <a:lvl3pPr marL="2781300" defTabSz="273050">
              <a:tabLst>
                <a:tab pos="1976438" algn="l"/>
              </a:tabLst>
              <a:defRPr sz="2400">
                <a:solidFill>
                  <a:schemeClr val="tx1"/>
                </a:solidFill>
                <a:latin typeface="Times New Roman" panose="02020603050405020304" pitchFamily="18" charset="0"/>
              </a:defRPr>
            </a:lvl3pPr>
            <a:lvl4pPr marL="2960688" defTabSz="273050">
              <a:tabLst>
                <a:tab pos="1976438" algn="l"/>
              </a:tabLst>
              <a:defRPr sz="2400">
                <a:solidFill>
                  <a:schemeClr val="tx1"/>
                </a:solidFill>
                <a:latin typeface="Times New Roman" panose="02020603050405020304" pitchFamily="18" charset="0"/>
              </a:defRPr>
            </a:lvl4pPr>
            <a:lvl5pPr marL="3140075" defTabSz="273050">
              <a:tabLst>
                <a:tab pos="1976438" algn="l"/>
              </a:tabLst>
              <a:defRPr sz="2400">
                <a:solidFill>
                  <a:schemeClr val="tx1"/>
                </a:solidFill>
                <a:latin typeface="Times New Roman" panose="02020603050405020304" pitchFamily="18" charset="0"/>
              </a:defRPr>
            </a:lvl5pPr>
            <a:lvl6pPr marL="3597275" defTabSz="273050" fontAlgn="base">
              <a:spcBef>
                <a:spcPct val="0"/>
              </a:spcBef>
              <a:spcAft>
                <a:spcPct val="0"/>
              </a:spcAft>
              <a:tabLst>
                <a:tab pos="1976438" algn="l"/>
              </a:tabLst>
              <a:defRPr sz="2400">
                <a:solidFill>
                  <a:schemeClr val="tx1"/>
                </a:solidFill>
                <a:latin typeface="Times New Roman" panose="02020603050405020304" pitchFamily="18" charset="0"/>
              </a:defRPr>
            </a:lvl6pPr>
            <a:lvl7pPr marL="4054475" defTabSz="273050" fontAlgn="base">
              <a:spcBef>
                <a:spcPct val="0"/>
              </a:spcBef>
              <a:spcAft>
                <a:spcPct val="0"/>
              </a:spcAft>
              <a:tabLst>
                <a:tab pos="1976438" algn="l"/>
              </a:tabLst>
              <a:defRPr sz="2400">
                <a:solidFill>
                  <a:schemeClr val="tx1"/>
                </a:solidFill>
                <a:latin typeface="Times New Roman" panose="02020603050405020304" pitchFamily="18" charset="0"/>
              </a:defRPr>
            </a:lvl7pPr>
            <a:lvl8pPr marL="4511675" defTabSz="273050" fontAlgn="base">
              <a:spcBef>
                <a:spcPct val="0"/>
              </a:spcBef>
              <a:spcAft>
                <a:spcPct val="0"/>
              </a:spcAft>
              <a:tabLst>
                <a:tab pos="1976438" algn="l"/>
              </a:tabLst>
              <a:defRPr sz="2400">
                <a:solidFill>
                  <a:schemeClr val="tx1"/>
                </a:solidFill>
                <a:latin typeface="Times New Roman" panose="02020603050405020304" pitchFamily="18" charset="0"/>
              </a:defRPr>
            </a:lvl8pPr>
            <a:lvl9pPr marL="4968875" defTabSz="273050" fontAlgn="base">
              <a:spcBef>
                <a:spcPct val="0"/>
              </a:spcBef>
              <a:spcAft>
                <a:spcPct val="0"/>
              </a:spcAft>
              <a:tabLst>
                <a:tab pos="1976438" algn="l"/>
              </a:tabLst>
              <a:defRPr sz="2400">
                <a:solidFill>
                  <a:schemeClr val="tx1"/>
                </a:solidFill>
                <a:latin typeface="Times New Roman" panose="02020603050405020304" pitchFamily="18" charset="0"/>
              </a:defRPr>
            </a:lvl9pPr>
          </a:lstStyle>
          <a:p>
            <a:r>
              <a:rPr lang="fr-FR" altLang="fr-FR" sz="1600" dirty="0">
                <a:solidFill>
                  <a:schemeClr val="tx2"/>
                </a:solidFill>
                <a:latin typeface="Arial" panose="020B0604020202020204" pitchFamily="34" charset="0"/>
              </a:rPr>
              <a:t>Cas d’utilisation	: 	Arriver sur les lieux</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Déclenché par 	: 	Conducteur</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Autre acteur impliqué	:	Coordinateur</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Description	: 	Quand l’ambulance arrive sur les lieux d’un accident, le conducteur doit d’abord s’identifier auprès du système. Une fois identifié avec succès, le conducteur fournit des détails sur l’accident : lieu, nombre estimé de victimes nécessitant un transport en ambulance et d’autres renseignements comme par exemple les arrêts cardiaques présumés.</a:t>
            </a:r>
          </a:p>
          <a:p>
            <a:endParaRPr lang="fr-FR" altLang="fr-FR" sz="1600" dirty="0">
              <a:solidFill>
                <a:schemeClr val="tx2"/>
              </a:solidFill>
              <a:latin typeface="Arial" panose="020B0604020202020204" pitchFamily="34" charset="0"/>
            </a:endParaRPr>
          </a:p>
          <a:p>
            <a:r>
              <a:rPr lang="fr-FR" altLang="fr-FR" sz="1600" dirty="0">
                <a:solidFill>
                  <a:schemeClr val="tx2"/>
                </a:solidFill>
                <a:latin typeface="Arial" panose="020B0604020202020204" pitchFamily="34" charset="0"/>
              </a:rPr>
              <a:t>Chemin Alternatif	:	Si un identifiant invalide est fourni par le conducteur, ce dernier est prévenu. En cas de nouvel insuccès, une alarme est envoyée à la centrale.</a:t>
            </a:r>
          </a:p>
        </p:txBody>
      </p:sp>
    </p:spTree>
    <p:extLst>
      <p:ext uri="{BB962C8B-B14F-4D97-AF65-F5344CB8AC3E}">
        <p14:creationId xmlns:p14="http://schemas.microsoft.com/office/powerpoint/2010/main" val="21217060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79388" y="160338"/>
            <a:ext cx="8964612" cy="725487"/>
          </a:xfrm>
        </p:spPr>
        <p:txBody>
          <a:bodyPr/>
          <a:lstStyle/>
          <a:p>
            <a:r>
              <a:rPr lang="fr-FR" altLang="fr-FR"/>
              <a:t>Système d’affectation des ambulances : Diagramme de cas d’utilisation avec relations</a:t>
            </a:r>
          </a:p>
        </p:txBody>
      </p:sp>
      <p:pic>
        <p:nvPicPr>
          <p:cNvPr id="71686" name="Picture 6" descr="3-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1219200"/>
            <a:ext cx="8258175" cy="5005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520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01F8A7-22C5-C117-DD55-0CAC56F864A9}"/>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F39E9380-7173-85AE-D7D9-CFE85FEBA691}"/>
              </a:ext>
            </a:extLst>
          </p:cNvPr>
          <p:cNvSpPr>
            <a:spLocks noGrp="1"/>
          </p:cNvSpPr>
          <p:nvPr>
            <p:ph idx="1"/>
          </p:nvPr>
        </p:nvSpPr>
        <p:spPr/>
        <p:txBody>
          <a:bodyPr/>
          <a:lstStyle/>
          <a:p>
            <a:r>
              <a:rPr lang="fr-FR" dirty="0"/>
              <a:t>Faire un Use Case sur yuml.me</a:t>
            </a:r>
          </a:p>
        </p:txBody>
      </p:sp>
    </p:spTree>
    <p:extLst>
      <p:ext uri="{BB962C8B-B14F-4D97-AF65-F5344CB8AC3E}">
        <p14:creationId xmlns:p14="http://schemas.microsoft.com/office/powerpoint/2010/main" val="583779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fr-FR" altLang="fr-FR"/>
              <a:t>Diagramme de classes : Exemple simple</a:t>
            </a:r>
          </a:p>
        </p:txBody>
      </p:sp>
      <p:pic>
        <p:nvPicPr>
          <p:cNvPr id="9220" name="Picture 4" descr="Reunion (diagramme de clas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47800"/>
            <a:ext cx="6934200" cy="4557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97807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fr-FR" altLang="fr-FR"/>
              <a:t>Qu’est-ce qu’une classe ?</a:t>
            </a:r>
          </a:p>
        </p:txBody>
      </p:sp>
      <p:sp>
        <p:nvSpPr>
          <p:cNvPr id="51203" name="Rectangle 3"/>
          <p:cNvSpPr>
            <a:spLocks noGrp="1" noChangeArrowheads="1"/>
          </p:cNvSpPr>
          <p:nvPr>
            <p:ph type="body" idx="1"/>
          </p:nvPr>
        </p:nvSpPr>
        <p:spPr>
          <a:xfrm>
            <a:off x="228600" y="2895600"/>
            <a:ext cx="8599488" cy="1266825"/>
          </a:xfrm>
        </p:spPr>
        <p:txBody>
          <a:bodyPr/>
          <a:lstStyle/>
          <a:p>
            <a:r>
              <a:rPr lang="fr-FR" altLang="fr-FR"/>
              <a:t>Une classe représente un concept au sein du système modélisé</a:t>
            </a:r>
          </a:p>
          <a:p>
            <a:pPr lvl="1"/>
            <a:r>
              <a:rPr lang="fr-FR" altLang="fr-FR" i="1">
                <a:latin typeface="Century Schoolbook" pitchFamily="18" charset="0"/>
              </a:rPr>
              <a:t>Employé</a:t>
            </a:r>
            <a:r>
              <a:rPr lang="fr-FR" altLang="fr-FR"/>
              <a:t>, dans un système de gestion de personnel</a:t>
            </a:r>
          </a:p>
          <a:p>
            <a:pPr lvl="1"/>
            <a:r>
              <a:rPr lang="fr-FR" altLang="fr-FR" i="1">
                <a:latin typeface="Century Schoolbook" pitchFamily="18" charset="0"/>
              </a:rPr>
              <a:t>StationDeBase</a:t>
            </a:r>
            <a:r>
              <a:rPr lang="fr-FR" altLang="fr-FR"/>
              <a:t>, dans un réseau GSM</a:t>
            </a:r>
          </a:p>
          <a:p>
            <a:pPr lvl="1"/>
            <a:r>
              <a:rPr lang="fr-FR" altLang="fr-FR" i="1">
                <a:latin typeface="Century Schoolbook" pitchFamily="18" charset="0"/>
              </a:rPr>
              <a:t>Chaîne</a:t>
            </a:r>
            <a:r>
              <a:rPr lang="fr-FR" altLang="fr-FR"/>
              <a:t>, dans un langage de programmation</a:t>
            </a:r>
          </a:p>
        </p:txBody>
      </p:sp>
      <p:sp>
        <p:nvSpPr>
          <p:cNvPr id="51205" name="Rectangle 5"/>
          <p:cNvSpPr>
            <a:spLocks noChangeArrowheads="1"/>
          </p:cNvSpPr>
          <p:nvPr/>
        </p:nvSpPr>
        <p:spPr bwMode="blackWhite">
          <a:xfrm>
            <a:off x="930275" y="1639888"/>
            <a:ext cx="7391400" cy="996950"/>
          </a:xfrm>
          <a:prstGeom prst="rect">
            <a:avLst/>
          </a:prstGeom>
          <a:solidFill>
            <a:srgbClr val="FFFFCC"/>
          </a:solidFill>
          <a:ln w="12700">
            <a:solidFill>
              <a:schemeClr val="tx1"/>
            </a:solidFill>
            <a:miter lim="800000"/>
            <a:headEnd/>
            <a:tailEnd/>
          </a:ln>
          <a:effectLst>
            <a:outerShdw dist="107763" dir="2700000" algn="ctr" rotWithShape="0">
              <a:schemeClr val="tx1"/>
            </a:outerShdw>
          </a:effectLst>
        </p:spPr>
        <p:txBody>
          <a:bodyPr anchor="ctr">
            <a:spAutoFit/>
          </a:bodyPr>
          <a:lstStyle/>
          <a:p>
            <a:endParaRPr lang="fr-FR"/>
          </a:p>
        </p:txBody>
      </p:sp>
      <p:sp>
        <p:nvSpPr>
          <p:cNvPr id="51204" name="Text Box 4"/>
          <p:cNvSpPr txBox="1">
            <a:spLocks noChangeArrowheads="1"/>
          </p:cNvSpPr>
          <p:nvPr/>
        </p:nvSpPr>
        <p:spPr bwMode="blackWhite">
          <a:xfrm>
            <a:off x="920750" y="1649413"/>
            <a:ext cx="7391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sz="1800" b="1" i="1" dirty="0">
                <a:solidFill>
                  <a:schemeClr val="tx2"/>
                </a:solidFill>
                <a:latin typeface="Century Schoolbook" pitchFamily="18" charset="0"/>
              </a:rPr>
              <a:t>“La description d’un ensemble d’objets qui partagent les mêmes attributs, opérations, méthodes, relations et comportement”*</a:t>
            </a:r>
          </a:p>
        </p:txBody>
      </p:sp>
    </p:spTree>
    <p:extLst>
      <p:ext uri="{BB962C8B-B14F-4D97-AF65-F5344CB8AC3E}">
        <p14:creationId xmlns:p14="http://schemas.microsoft.com/office/powerpoint/2010/main" val="331451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fr-FR" altLang="fr-FR"/>
              <a:t>Propriétés des classes</a:t>
            </a:r>
          </a:p>
        </p:txBody>
      </p:sp>
      <p:sp>
        <p:nvSpPr>
          <p:cNvPr id="55299" name="Rectangle 3"/>
          <p:cNvSpPr>
            <a:spLocks noGrp="1" noChangeArrowheads="1"/>
          </p:cNvSpPr>
          <p:nvPr>
            <p:ph type="body" idx="1"/>
          </p:nvPr>
        </p:nvSpPr>
        <p:spPr>
          <a:xfrm>
            <a:off x="279400" y="1312863"/>
            <a:ext cx="8599488" cy="3472746"/>
          </a:xfrm>
        </p:spPr>
        <p:txBody>
          <a:bodyPr/>
          <a:lstStyle/>
          <a:p>
            <a:r>
              <a:rPr lang="fr-FR" altLang="fr-FR" sz="2400" dirty="0"/>
              <a:t>Une classe possède les </a:t>
            </a:r>
            <a:r>
              <a:rPr lang="fr-FR" altLang="fr-FR" sz="2400" i="1" dirty="0">
                <a:latin typeface="Century Schoolbook" pitchFamily="18" charset="0"/>
              </a:rPr>
              <a:t>propriétés</a:t>
            </a:r>
            <a:r>
              <a:rPr lang="fr-FR" altLang="fr-FR" sz="2400" dirty="0">
                <a:latin typeface="Century Schoolbook" pitchFamily="18" charset="0"/>
              </a:rPr>
              <a:t> </a:t>
            </a:r>
            <a:r>
              <a:rPr lang="fr-FR" altLang="fr-FR" sz="2400" dirty="0"/>
              <a:t>suivantes</a:t>
            </a:r>
          </a:p>
          <a:p>
            <a:pPr lvl="1"/>
            <a:r>
              <a:rPr lang="fr-FR" altLang="fr-FR" sz="2000" dirty="0"/>
              <a:t>Un nom de classe</a:t>
            </a:r>
          </a:p>
          <a:p>
            <a:pPr lvl="1"/>
            <a:r>
              <a:rPr lang="fr-FR" altLang="fr-FR" sz="2000" dirty="0"/>
              <a:t>Un ensemble d’</a:t>
            </a:r>
            <a:r>
              <a:rPr lang="fr-FR" altLang="fr-FR" sz="2000" i="1" dirty="0">
                <a:latin typeface="Century Schoolbook" pitchFamily="18" charset="0"/>
              </a:rPr>
              <a:t>attributs</a:t>
            </a:r>
            <a:r>
              <a:rPr lang="fr-FR" altLang="fr-FR" sz="2000" dirty="0"/>
              <a:t>, utilisés pour décrire l’état de l’instance</a:t>
            </a:r>
          </a:p>
          <a:p>
            <a:pPr lvl="2"/>
            <a:r>
              <a:rPr lang="fr-FR" altLang="fr-FR" sz="1800" dirty="0"/>
              <a:t>Toutes les instances partagent le même ensemble d’attributs avec des valeurs pouvant être différentes</a:t>
            </a:r>
          </a:p>
          <a:p>
            <a:pPr lvl="1"/>
            <a:r>
              <a:rPr lang="fr-FR" altLang="fr-FR" sz="2000" dirty="0"/>
              <a:t>Un ensemble d’</a:t>
            </a:r>
            <a:r>
              <a:rPr lang="fr-FR" altLang="fr-FR" sz="2000" i="1" dirty="0">
                <a:latin typeface="Century Schoolbook" pitchFamily="18" charset="0"/>
              </a:rPr>
              <a:t>opérations</a:t>
            </a:r>
            <a:r>
              <a:rPr lang="fr-FR" altLang="fr-FR" sz="2000" dirty="0"/>
              <a:t>, décrivant le comportement des instances</a:t>
            </a:r>
          </a:p>
          <a:p>
            <a:pPr lvl="2"/>
            <a:r>
              <a:rPr lang="fr-FR" altLang="fr-FR" sz="1800" dirty="0"/>
              <a:t>La mise en œuvre d’une opération est appelée </a:t>
            </a:r>
            <a:r>
              <a:rPr lang="fr-FR" altLang="fr-FR" sz="1800" i="1" dirty="0">
                <a:latin typeface="Century Schoolbook" pitchFamily="18" charset="0"/>
              </a:rPr>
              <a:t>méthode</a:t>
            </a:r>
            <a:endParaRPr lang="fr-FR" altLang="fr-FR" sz="1800" dirty="0"/>
          </a:p>
          <a:p>
            <a:pPr lvl="2"/>
            <a:r>
              <a:rPr lang="fr-FR" altLang="fr-FR" sz="1800" dirty="0"/>
              <a:t>Toutes les instances partagent le même ensemble d’opérations et de méthodes</a:t>
            </a:r>
          </a:p>
          <a:p>
            <a:r>
              <a:rPr lang="fr-FR" altLang="fr-FR" sz="2400" dirty="0"/>
              <a:t>La classe, ou ses instances, prend part à plusieurs types de </a:t>
            </a:r>
            <a:br>
              <a:rPr lang="fr-FR" altLang="fr-FR" sz="2400" dirty="0"/>
            </a:br>
            <a:r>
              <a:rPr lang="fr-FR" altLang="fr-FR" sz="2400" dirty="0"/>
              <a:t>relations, décrites plus loin dans ce chapitre</a:t>
            </a:r>
          </a:p>
        </p:txBody>
      </p:sp>
    </p:spTree>
    <p:extLst>
      <p:ext uri="{BB962C8B-B14F-4D97-AF65-F5344CB8AC3E}">
        <p14:creationId xmlns:p14="http://schemas.microsoft.com/office/powerpoint/2010/main" val="4079960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fr-FR" altLang="fr-FR"/>
              <a:t>Symbole de classe en UML</a:t>
            </a:r>
          </a:p>
        </p:txBody>
      </p:sp>
      <p:sp>
        <p:nvSpPr>
          <p:cNvPr id="57347" name="Rectangle 3"/>
          <p:cNvSpPr>
            <a:spLocks noGrp="1" noChangeArrowheads="1"/>
          </p:cNvSpPr>
          <p:nvPr>
            <p:ph type="body" idx="1"/>
          </p:nvPr>
        </p:nvSpPr>
        <p:spPr>
          <a:xfrm>
            <a:off x="279400" y="1312863"/>
            <a:ext cx="8599488" cy="1405513"/>
          </a:xfrm>
        </p:spPr>
        <p:txBody>
          <a:bodyPr/>
          <a:lstStyle/>
          <a:p>
            <a:r>
              <a:rPr lang="fr-FR" altLang="fr-FR" sz="2000" dirty="0"/>
              <a:t>Le symbole de la classe est un rectangle avec trois </a:t>
            </a:r>
            <a:r>
              <a:rPr lang="fr-FR" altLang="fr-FR" sz="2000" i="1" dirty="0">
                <a:latin typeface="Century Schoolbook" pitchFamily="18" charset="0"/>
              </a:rPr>
              <a:t>compartiments</a:t>
            </a:r>
            <a:r>
              <a:rPr lang="fr-FR" altLang="fr-FR" sz="2000" dirty="0"/>
              <a:t> standards</a:t>
            </a:r>
          </a:p>
          <a:p>
            <a:r>
              <a:rPr lang="fr-FR" altLang="fr-FR" sz="2000" dirty="0"/>
              <a:t>Des informations spécifiques au domaine ou au projet peuvent être définies par l’utilisateur dans des </a:t>
            </a:r>
            <a:r>
              <a:rPr lang="fr-FR" altLang="fr-FR" sz="2000" i="1" dirty="0">
                <a:latin typeface="Century Schoolbook" pitchFamily="18" charset="0"/>
              </a:rPr>
              <a:t>compartiments supplémentaires</a:t>
            </a:r>
            <a:r>
              <a:rPr lang="fr-FR" altLang="fr-FR" sz="2000" dirty="0">
                <a:latin typeface="Century Schoolbook" pitchFamily="18" charset="0"/>
              </a:rPr>
              <a:t> </a:t>
            </a:r>
            <a:r>
              <a:rPr lang="fr-FR" altLang="fr-FR" sz="2000" dirty="0"/>
              <a:t>nommés</a:t>
            </a:r>
          </a:p>
          <a:p>
            <a:pPr lvl="1"/>
            <a:r>
              <a:rPr lang="fr-FR" altLang="fr-FR" sz="1800" dirty="0"/>
              <a:t>À utiliser avec précaution, sous peine de réduire la portabilité</a:t>
            </a:r>
          </a:p>
        </p:txBody>
      </p:sp>
      <p:sp>
        <p:nvSpPr>
          <p:cNvPr id="57348" name="Text Box 4"/>
          <p:cNvSpPr txBox="1">
            <a:spLocks noChangeArrowheads="1"/>
          </p:cNvSpPr>
          <p:nvPr/>
        </p:nvSpPr>
        <p:spPr bwMode="blackWhite">
          <a:xfrm>
            <a:off x="1066800" y="3429000"/>
            <a:ext cx="2490788" cy="2678113"/>
          </a:xfrm>
          <a:prstGeom prst="rect">
            <a:avLst/>
          </a:prstGeom>
          <a:solidFill>
            <a:srgbClr val="FFFFFF"/>
          </a:solidFill>
          <a:ln w="9525">
            <a:solidFill>
              <a:schemeClr val="tx1"/>
            </a:solidFill>
            <a:miter lim="800000"/>
            <a:headEnd/>
            <a:tailEnd/>
          </a:ln>
        </p:spPr>
        <p:txBody>
          <a:bodyPr/>
          <a:lstStyle/>
          <a:p>
            <a:pPr algn="ctr"/>
            <a:r>
              <a:rPr lang="fr-FR" altLang="fr-FR" sz="1600" b="1">
                <a:solidFill>
                  <a:schemeClr val="tx2"/>
                </a:solidFill>
              </a:rPr>
              <a:t>Employé</a:t>
            </a:r>
            <a:endParaRPr lang="fr-FR" altLang="fr-FR" sz="1600">
              <a:solidFill>
                <a:schemeClr val="tx2"/>
              </a:solidFill>
            </a:endParaRPr>
          </a:p>
          <a:p>
            <a:endParaRPr lang="fr-FR" altLang="fr-FR" sz="1600">
              <a:solidFill>
                <a:schemeClr val="tx2"/>
              </a:solidFill>
              <a:latin typeface="Times New Roman" panose="02020603050405020304" pitchFamily="18" charset="0"/>
            </a:endParaRPr>
          </a:p>
          <a:p>
            <a:r>
              <a:rPr lang="fr-FR" altLang="fr-FR" sz="1600">
                <a:solidFill>
                  <a:schemeClr val="tx2"/>
                </a:solidFill>
              </a:rPr>
              <a:t>nom: String</a:t>
            </a:r>
          </a:p>
          <a:p>
            <a:r>
              <a:rPr lang="fr-FR" altLang="fr-FR" sz="1600">
                <a:solidFill>
                  <a:schemeClr val="tx2"/>
                </a:solidFill>
              </a:rPr>
              <a:t>salaire: int</a:t>
            </a:r>
          </a:p>
          <a:p>
            <a:pPr>
              <a:lnSpc>
                <a:spcPct val="80000"/>
              </a:lnSpc>
            </a:pPr>
            <a:endParaRPr lang="fr-FR" altLang="fr-FR" sz="1600">
              <a:solidFill>
                <a:schemeClr val="tx2"/>
              </a:solidFill>
            </a:endParaRPr>
          </a:p>
          <a:p>
            <a:r>
              <a:rPr lang="fr-FR" altLang="fr-FR" sz="1600">
                <a:solidFill>
                  <a:schemeClr val="tx2"/>
                </a:solidFill>
              </a:rPr>
              <a:t>setSalaire(montant:int)</a:t>
            </a:r>
          </a:p>
          <a:p>
            <a:r>
              <a:rPr lang="fr-FR" altLang="fr-FR" sz="1600">
                <a:solidFill>
                  <a:schemeClr val="tx2"/>
                </a:solidFill>
              </a:rPr>
              <a:t>calculerCharges():int</a:t>
            </a:r>
          </a:p>
          <a:p>
            <a:pPr>
              <a:lnSpc>
                <a:spcPct val="80000"/>
              </a:lnSpc>
            </a:pPr>
            <a:endParaRPr lang="fr-FR" altLang="fr-FR" sz="1600">
              <a:solidFill>
                <a:schemeClr val="tx2"/>
              </a:solidFill>
            </a:endParaRPr>
          </a:p>
          <a:p>
            <a:pPr algn="ctr"/>
            <a:r>
              <a:rPr lang="fr-FR" altLang="fr-FR" sz="1200" b="1">
                <a:solidFill>
                  <a:schemeClr val="tx2"/>
                </a:solidFill>
              </a:rPr>
              <a:t>exceptions</a:t>
            </a:r>
          </a:p>
          <a:p>
            <a:r>
              <a:rPr lang="fr-FR" altLang="fr-FR" sz="1600">
                <a:solidFill>
                  <a:schemeClr val="tx2"/>
                </a:solidFill>
              </a:rPr>
              <a:t>MiseAJourInvalide</a:t>
            </a:r>
          </a:p>
          <a:p>
            <a:r>
              <a:rPr lang="fr-FR" altLang="fr-FR" sz="1600">
                <a:solidFill>
                  <a:schemeClr val="tx2"/>
                </a:solidFill>
              </a:rPr>
              <a:t>ErreurTransaction</a:t>
            </a:r>
          </a:p>
        </p:txBody>
      </p:sp>
      <p:sp>
        <p:nvSpPr>
          <p:cNvPr id="57349" name="Line 5"/>
          <p:cNvSpPr>
            <a:spLocks noChangeShapeType="1"/>
          </p:cNvSpPr>
          <p:nvPr/>
        </p:nvSpPr>
        <p:spPr bwMode="auto">
          <a:xfrm>
            <a:off x="1066800" y="3851275"/>
            <a:ext cx="24907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0" name="Line 6"/>
          <p:cNvSpPr>
            <a:spLocks noChangeShapeType="1"/>
          </p:cNvSpPr>
          <p:nvPr/>
        </p:nvSpPr>
        <p:spPr bwMode="auto">
          <a:xfrm>
            <a:off x="1066800" y="4556125"/>
            <a:ext cx="24907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1" name="Text Box 7"/>
          <p:cNvSpPr txBox="1">
            <a:spLocks noChangeArrowheads="1"/>
          </p:cNvSpPr>
          <p:nvPr/>
        </p:nvSpPr>
        <p:spPr bwMode="blackWhite">
          <a:xfrm>
            <a:off x="4572000" y="3200400"/>
            <a:ext cx="3571875"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sz="1600" i="1" dirty="0">
                <a:solidFill>
                  <a:schemeClr val="tx2"/>
                </a:solidFill>
                <a:latin typeface="Lucida Sans" pitchFamily="34" charset="0"/>
              </a:rPr>
              <a:t>Le nom de la classe est indiqué dans le compartiment du haut, en gras et centré</a:t>
            </a:r>
          </a:p>
          <a:p>
            <a:br>
              <a:rPr lang="fr-FR" altLang="fr-FR" sz="1600" i="1" dirty="0">
                <a:solidFill>
                  <a:schemeClr val="tx2"/>
                </a:solidFill>
                <a:latin typeface="Lucida Sans" pitchFamily="34" charset="0"/>
              </a:rPr>
            </a:br>
            <a:r>
              <a:rPr lang="fr-FR" altLang="fr-FR" sz="1600" i="1" dirty="0">
                <a:solidFill>
                  <a:schemeClr val="tx2"/>
                </a:solidFill>
                <a:latin typeface="Lucida Sans" pitchFamily="34" charset="0"/>
              </a:rPr>
              <a:t>Les attributs sont montrés dans le deuxième compartiment</a:t>
            </a:r>
          </a:p>
          <a:p>
            <a:endParaRPr lang="fr-FR" altLang="fr-FR" sz="500" i="1" dirty="0">
              <a:solidFill>
                <a:schemeClr val="tx2"/>
              </a:solidFill>
              <a:latin typeface="Lucida Sans" pitchFamily="34" charset="0"/>
            </a:endParaRPr>
          </a:p>
          <a:p>
            <a:r>
              <a:rPr lang="fr-FR" altLang="fr-FR" sz="1600" i="1" dirty="0">
                <a:solidFill>
                  <a:schemeClr val="tx2"/>
                </a:solidFill>
                <a:latin typeface="Lucida Sans" pitchFamily="34" charset="0"/>
              </a:rPr>
              <a:t>Les opérations apparaissent dans le troisième compartiment</a:t>
            </a:r>
          </a:p>
          <a:p>
            <a:endParaRPr lang="fr-FR" altLang="fr-FR" sz="500" i="1" dirty="0">
              <a:solidFill>
                <a:schemeClr val="tx2"/>
              </a:solidFill>
              <a:latin typeface="Lucida Sans" pitchFamily="34" charset="0"/>
            </a:endParaRPr>
          </a:p>
          <a:p>
            <a:r>
              <a:rPr lang="fr-FR" altLang="fr-FR" sz="1600" i="1" dirty="0">
                <a:solidFill>
                  <a:schemeClr val="tx2"/>
                </a:solidFill>
                <a:latin typeface="Lucida Sans" pitchFamily="34" charset="0"/>
              </a:rPr>
              <a:t>Nom du compartiment supplémentaire en petit et gras</a:t>
            </a:r>
          </a:p>
          <a:p>
            <a:endParaRPr lang="fr-FR" altLang="fr-FR" sz="500" i="1" dirty="0">
              <a:solidFill>
                <a:schemeClr val="tx2"/>
              </a:solidFill>
              <a:latin typeface="Lucida Sans" pitchFamily="34" charset="0"/>
            </a:endParaRPr>
          </a:p>
          <a:p>
            <a:r>
              <a:rPr lang="fr-FR" altLang="fr-FR" sz="1600" i="1" dirty="0">
                <a:solidFill>
                  <a:schemeClr val="tx2"/>
                </a:solidFill>
                <a:latin typeface="Lucida Sans" pitchFamily="34" charset="0"/>
              </a:rPr>
              <a:t>Le compartiment supplémentaire peut contenir n’importe quel type de propriété</a:t>
            </a:r>
          </a:p>
        </p:txBody>
      </p:sp>
      <p:sp>
        <p:nvSpPr>
          <p:cNvPr id="57352" name="Line 8"/>
          <p:cNvSpPr>
            <a:spLocks noChangeShapeType="1"/>
          </p:cNvSpPr>
          <p:nvPr/>
        </p:nvSpPr>
        <p:spPr bwMode="auto">
          <a:xfrm flipH="1">
            <a:off x="2819400" y="3352800"/>
            <a:ext cx="1752600" cy="2286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3" name="Line 9"/>
          <p:cNvSpPr>
            <a:spLocks noChangeShapeType="1"/>
          </p:cNvSpPr>
          <p:nvPr/>
        </p:nvSpPr>
        <p:spPr bwMode="auto">
          <a:xfrm flipH="1">
            <a:off x="3276600" y="4191000"/>
            <a:ext cx="1295400"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4" name="Line 10"/>
          <p:cNvSpPr>
            <a:spLocks noChangeShapeType="1"/>
          </p:cNvSpPr>
          <p:nvPr/>
        </p:nvSpPr>
        <p:spPr bwMode="auto">
          <a:xfrm flipH="1">
            <a:off x="3352800" y="4800600"/>
            <a:ext cx="1219200" cy="152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5" name="Line 11"/>
          <p:cNvSpPr>
            <a:spLocks noChangeShapeType="1"/>
          </p:cNvSpPr>
          <p:nvPr/>
        </p:nvSpPr>
        <p:spPr bwMode="auto">
          <a:xfrm flipH="1">
            <a:off x="1066800" y="5260975"/>
            <a:ext cx="24907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6" name="Line 12"/>
          <p:cNvSpPr>
            <a:spLocks noChangeShapeType="1"/>
          </p:cNvSpPr>
          <p:nvPr/>
        </p:nvSpPr>
        <p:spPr bwMode="auto">
          <a:xfrm flipH="1">
            <a:off x="2819400" y="5334000"/>
            <a:ext cx="1752600" cy="762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7357" name="Line 13"/>
          <p:cNvSpPr>
            <a:spLocks noChangeShapeType="1"/>
          </p:cNvSpPr>
          <p:nvPr/>
        </p:nvSpPr>
        <p:spPr bwMode="auto">
          <a:xfrm flipH="1" flipV="1">
            <a:off x="3200400" y="5791200"/>
            <a:ext cx="1371600" cy="762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Tree>
    <p:extLst>
      <p:ext uri="{BB962C8B-B14F-4D97-AF65-F5344CB8AC3E}">
        <p14:creationId xmlns:p14="http://schemas.microsoft.com/office/powerpoint/2010/main" val="895812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fr-FR" altLang="fr-FR"/>
              <a:t>Pourquoi modéliser des classes ?</a:t>
            </a:r>
          </a:p>
        </p:txBody>
      </p:sp>
      <p:sp>
        <p:nvSpPr>
          <p:cNvPr id="71683" name="Rectangle 3"/>
          <p:cNvSpPr>
            <a:spLocks noGrp="1" noChangeArrowheads="1"/>
          </p:cNvSpPr>
          <p:nvPr>
            <p:ph type="body" idx="1"/>
          </p:nvPr>
        </p:nvSpPr>
        <p:spPr>
          <a:xfrm>
            <a:off x="279400" y="1312863"/>
            <a:ext cx="8599488" cy="3743325"/>
          </a:xfrm>
        </p:spPr>
        <p:txBody>
          <a:bodyPr/>
          <a:lstStyle/>
          <a:p>
            <a:r>
              <a:rPr lang="fr-FR" altLang="fr-FR" sz="2400" dirty="0"/>
              <a:t>Les concepts modélisés dépendent du niveau du modèle</a:t>
            </a:r>
          </a:p>
          <a:p>
            <a:pPr lvl="1"/>
            <a:r>
              <a:rPr lang="fr-FR" altLang="fr-FR" sz="2000" dirty="0"/>
              <a:t>Durant l’analyse, les classes</a:t>
            </a:r>
            <a:r>
              <a:rPr lang="fr-FR" altLang="fr-FR" sz="2000" i="1" dirty="0"/>
              <a:t> </a:t>
            </a:r>
            <a:r>
              <a:rPr lang="fr-FR" altLang="fr-FR" sz="2000" dirty="0"/>
              <a:t>représentent des concepts du monde réel</a:t>
            </a:r>
          </a:p>
          <a:p>
            <a:pPr lvl="2"/>
            <a:r>
              <a:rPr lang="fr-FR" altLang="fr-FR" sz="1800" dirty="0"/>
              <a:t>Employé</a:t>
            </a:r>
          </a:p>
          <a:p>
            <a:pPr lvl="2"/>
            <a:r>
              <a:rPr lang="fr-FR" altLang="fr-FR" sz="1800" dirty="0" err="1"/>
              <a:t>StationDeBase</a:t>
            </a:r>
            <a:endParaRPr lang="fr-FR" altLang="fr-FR" sz="1800" dirty="0"/>
          </a:p>
          <a:p>
            <a:pPr lvl="1"/>
            <a:r>
              <a:rPr lang="fr-FR" altLang="fr-FR" sz="2000" dirty="0"/>
              <a:t>Pendant la conception, des classes supplémentaires sont ajoutées et les classes d’analyse sont affinées pour représenter des concepts de mise en œuvre</a:t>
            </a:r>
          </a:p>
          <a:p>
            <a:pPr lvl="2"/>
            <a:r>
              <a:rPr lang="fr-FR" altLang="fr-FR" sz="1800" dirty="0"/>
              <a:t>Classe Chaîne (</a:t>
            </a:r>
            <a:r>
              <a:rPr lang="fr-FR" altLang="fr-FR" sz="1800" dirty="0">
                <a:latin typeface="Times New Roman" panose="02020603050405020304" pitchFamily="18" charset="0"/>
              </a:rPr>
              <a:t>String</a:t>
            </a:r>
            <a:r>
              <a:rPr lang="fr-FR" altLang="fr-FR" sz="1800" dirty="0"/>
              <a:t>)</a:t>
            </a:r>
          </a:p>
          <a:p>
            <a:pPr lvl="2"/>
            <a:r>
              <a:rPr lang="fr-FR" altLang="fr-FR" sz="1800" dirty="0"/>
              <a:t>L’identifiant de </a:t>
            </a:r>
            <a:r>
              <a:rPr lang="fr-FR" altLang="fr-FR" sz="1800" dirty="0" err="1"/>
              <a:t>StationDeBase</a:t>
            </a:r>
            <a:r>
              <a:rPr lang="fr-FR" altLang="fr-FR" sz="1800" dirty="0"/>
              <a:t> est de type </a:t>
            </a:r>
            <a:r>
              <a:rPr lang="fr-FR" altLang="fr-FR" sz="1800" dirty="0">
                <a:latin typeface="Courier New" panose="02070309020205020404" pitchFamily="49" charset="0"/>
              </a:rPr>
              <a:t>long</a:t>
            </a:r>
          </a:p>
          <a:p>
            <a:r>
              <a:rPr lang="fr-FR" altLang="fr-FR" sz="2400" dirty="0"/>
              <a:t>Les classes et les relations qu'elles ont entre elles décrivent la structure statique du système</a:t>
            </a:r>
          </a:p>
          <a:p>
            <a:pPr lvl="1"/>
            <a:r>
              <a:rPr lang="fr-FR" altLang="fr-FR" sz="2000" dirty="0"/>
              <a:t>C’est le cœur du modèle orienté objet</a:t>
            </a:r>
          </a:p>
        </p:txBody>
      </p:sp>
    </p:spTree>
    <p:extLst>
      <p:ext uri="{BB962C8B-B14F-4D97-AF65-F5344CB8AC3E}">
        <p14:creationId xmlns:p14="http://schemas.microsoft.com/office/powerpoint/2010/main" val="3167151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fr-FR" altLang="fr-FR"/>
              <a:t>Qu’est-ce qu’une relation ?</a:t>
            </a:r>
          </a:p>
        </p:txBody>
      </p:sp>
      <p:sp>
        <p:nvSpPr>
          <p:cNvPr id="78851" name="Rectangle 3"/>
          <p:cNvSpPr>
            <a:spLocks noGrp="1" noChangeArrowheads="1"/>
          </p:cNvSpPr>
          <p:nvPr>
            <p:ph type="body" idx="1"/>
          </p:nvPr>
        </p:nvSpPr>
        <p:spPr>
          <a:xfrm>
            <a:off x="279400" y="2133600"/>
            <a:ext cx="8599488" cy="3346450"/>
          </a:xfrm>
        </p:spPr>
        <p:txBody>
          <a:bodyPr/>
          <a:lstStyle/>
          <a:p>
            <a:r>
              <a:rPr lang="fr-FR" altLang="fr-FR" sz="2400" i="1" dirty="0">
                <a:latin typeface="Century Schoolbook" pitchFamily="18" charset="0"/>
              </a:rPr>
              <a:t>Réifiée</a:t>
            </a:r>
            <a:r>
              <a:rPr lang="fr-FR" altLang="fr-FR" sz="2400" dirty="0"/>
              <a:t> signifie « vue comme un objet »</a:t>
            </a:r>
          </a:p>
          <a:p>
            <a:pPr lvl="1"/>
            <a:r>
              <a:rPr lang="fr-FR" altLang="fr-FR" sz="2000" dirty="0"/>
              <a:t>En d’autres termes, la relation elle-même peut posséder un état et un comportement</a:t>
            </a:r>
          </a:p>
          <a:p>
            <a:r>
              <a:rPr lang="fr-FR" altLang="fr-FR" sz="2400" i="1" dirty="0">
                <a:latin typeface="Century Schoolbook" pitchFamily="18" charset="0"/>
              </a:rPr>
              <a:t>Sémantique</a:t>
            </a:r>
            <a:r>
              <a:rPr lang="fr-FR" altLang="fr-FR" sz="2400" dirty="0"/>
              <a:t> explique que la connexion possède une signification</a:t>
            </a:r>
          </a:p>
          <a:p>
            <a:pPr lvl="1"/>
            <a:r>
              <a:rPr lang="fr-FR" altLang="fr-FR" sz="2000" dirty="0"/>
              <a:t>Les employés </a:t>
            </a:r>
            <a:r>
              <a:rPr lang="fr-FR" altLang="fr-FR" sz="2000" i="1" dirty="0">
                <a:latin typeface="Century Schoolbook" pitchFamily="18" charset="0"/>
              </a:rPr>
              <a:t>travaillent pour</a:t>
            </a:r>
            <a:r>
              <a:rPr lang="fr-FR" altLang="fr-FR" sz="2000" dirty="0"/>
              <a:t> le département</a:t>
            </a:r>
          </a:p>
          <a:p>
            <a:r>
              <a:rPr lang="fr-FR" altLang="fr-FR" sz="2400" dirty="0"/>
              <a:t>UML définit les types de relation suivants</a:t>
            </a:r>
          </a:p>
          <a:p>
            <a:pPr lvl="1"/>
            <a:r>
              <a:rPr lang="fr-FR" altLang="fr-FR" sz="2000" dirty="0"/>
              <a:t>Association, agrégation et composition</a:t>
            </a:r>
          </a:p>
          <a:p>
            <a:pPr lvl="1"/>
            <a:r>
              <a:rPr lang="fr-FR" altLang="fr-FR" sz="2000" dirty="0"/>
              <a:t>Généralisation</a:t>
            </a:r>
          </a:p>
          <a:p>
            <a:pPr lvl="1"/>
            <a:r>
              <a:rPr lang="fr-FR" altLang="fr-FR" sz="2000" dirty="0"/>
              <a:t>Dépendance</a:t>
            </a:r>
          </a:p>
          <a:p>
            <a:pPr lvl="1"/>
            <a:r>
              <a:rPr lang="fr-FR" altLang="fr-FR" sz="2000" dirty="0"/>
              <a:t>Réalisation</a:t>
            </a:r>
          </a:p>
        </p:txBody>
      </p:sp>
      <p:sp>
        <p:nvSpPr>
          <p:cNvPr id="78852" name="Rectangle 4"/>
          <p:cNvSpPr>
            <a:spLocks noChangeArrowheads="1"/>
          </p:cNvSpPr>
          <p:nvPr/>
        </p:nvSpPr>
        <p:spPr bwMode="blackWhite">
          <a:xfrm>
            <a:off x="1073150" y="1301750"/>
            <a:ext cx="6699250" cy="687388"/>
          </a:xfrm>
          <a:prstGeom prst="rect">
            <a:avLst/>
          </a:prstGeom>
          <a:solidFill>
            <a:srgbClr val="FFFFCC"/>
          </a:solidFill>
          <a:ln w="12700">
            <a:solidFill>
              <a:schemeClr val="tx1"/>
            </a:solidFill>
            <a:miter lim="800000"/>
            <a:headEnd/>
            <a:tailEnd/>
          </a:ln>
          <a:effectLst>
            <a:outerShdw dist="45791" dir="3378596" algn="ctr" rotWithShape="0">
              <a:schemeClr val="tx1"/>
            </a:outerShdw>
          </a:effectLst>
        </p:spPr>
        <p:txBody>
          <a:bodyPr anchor="ctr">
            <a:spAutoFit/>
          </a:bodyPr>
          <a:lstStyle/>
          <a:p>
            <a:endParaRPr lang="fr-FR"/>
          </a:p>
        </p:txBody>
      </p:sp>
      <p:sp>
        <p:nvSpPr>
          <p:cNvPr id="78853" name="Text Box 5"/>
          <p:cNvSpPr txBox="1">
            <a:spLocks noChangeArrowheads="1"/>
          </p:cNvSpPr>
          <p:nvPr/>
        </p:nvSpPr>
        <p:spPr bwMode="blackWhite">
          <a:xfrm>
            <a:off x="1116013" y="1341438"/>
            <a:ext cx="65849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FR" altLang="fr-FR" sz="1800" b="1" i="1" dirty="0">
                <a:solidFill>
                  <a:schemeClr val="tx2"/>
                </a:solidFill>
                <a:latin typeface="Century Schoolbook" pitchFamily="18" charset="0"/>
              </a:rPr>
              <a:t>“Une connexion sémantique réifiée entre des éléments du modèle”*</a:t>
            </a:r>
          </a:p>
        </p:txBody>
      </p:sp>
    </p:spTree>
    <p:extLst>
      <p:ext uri="{BB962C8B-B14F-4D97-AF65-F5344CB8AC3E}">
        <p14:creationId xmlns:p14="http://schemas.microsoft.com/office/powerpoint/2010/main" val="26722899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fr-FR" altLang="fr-FR"/>
              <a:t>Associations</a:t>
            </a:r>
          </a:p>
        </p:txBody>
      </p:sp>
      <p:sp>
        <p:nvSpPr>
          <p:cNvPr id="82947" name="Rectangle 3"/>
          <p:cNvSpPr>
            <a:spLocks noGrp="1" noChangeArrowheads="1"/>
          </p:cNvSpPr>
          <p:nvPr>
            <p:ph type="body" idx="1"/>
          </p:nvPr>
        </p:nvSpPr>
        <p:spPr>
          <a:xfrm>
            <a:off x="279400" y="1312863"/>
            <a:ext cx="8599488" cy="5130800"/>
          </a:xfrm>
        </p:spPr>
        <p:txBody>
          <a:bodyPr/>
          <a:lstStyle/>
          <a:p>
            <a:r>
              <a:rPr lang="fr-FR" altLang="fr-FR"/>
              <a:t>Une </a:t>
            </a:r>
            <a:r>
              <a:rPr lang="fr-FR" altLang="fr-FR" i="1">
                <a:latin typeface="Century Schoolbook" pitchFamily="18" charset="0"/>
              </a:rPr>
              <a:t>association</a:t>
            </a:r>
            <a:r>
              <a:rPr lang="fr-FR" altLang="fr-FR"/>
              <a:t> est une relation entre classes qui décrit les liens possibles entre les instances</a:t>
            </a:r>
          </a:p>
          <a:p>
            <a:pPr lvl="1"/>
            <a:r>
              <a:rPr lang="fr-FR" altLang="fr-FR"/>
              <a:t>Joe travaille pour le département Finance : un lien</a:t>
            </a:r>
          </a:p>
          <a:p>
            <a:pPr lvl="1"/>
            <a:r>
              <a:rPr lang="fr-FR" altLang="fr-FR"/>
              <a:t>Les employés travaillent pour un département : une association</a:t>
            </a:r>
          </a:p>
          <a:p>
            <a:pPr>
              <a:buFont typeface="Arial" panose="020B0604020202020204" pitchFamily="34" charset="0"/>
              <a:buNone/>
            </a:pPr>
            <a:endParaRPr lang="fr-FR" altLang="fr-FR"/>
          </a:p>
          <a:p>
            <a:pPr>
              <a:buFont typeface="Arial" panose="020B0604020202020204" pitchFamily="34" charset="0"/>
              <a:buNone/>
            </a:pPr>
            <a:endParaRPr lang="fr-FR" altLang="fr-FR"/>
          </a:p>
          <a:p>
            <a:pPr>
              <a:buFont typeface="Arial" panose="020B0604020202020204" pitchFamily="34" charset="0"/>
              <a:buNone/>
            </a:pPr>
            <a:endParaRPr lang="fr-FR" altLang="fr-FR"/>
          </a:p>
          <a:p>
            <a:pPr>
              <a:buFont typeface="Arial" panose="020B0604020202020204" pitchFamily="34" charset="0"/>
              <a:buNone/>
            </a:pPr>
            <a:endParaRPr lang="fr-FR" altLang="fr-FR"/>
          </a:p>
          <a:p>
            <a:pPr>
              <a:buFont typeface="Arial" panose="020B0604020202020204" pitchFamily="34" charset="0"/>
              <a:buNone/>
            </a:pPr>
            <a:endParaRPr lang="fr-FR" altLang="fr-FR"/>
          </a:p>
          <a:p>
            <a:pPr lvl="1">
              <a:buFont typeface="Arial" panose="020B0604020202020204" pitchFamily="34" charset="0"/>
              <a:buNone/>
            </a:pPr>
            <a:endParaRPr lang="fr-FR" altLang="fr-FR"/>
          </a:p>
          <a:p>
            <a:pPr lvl="1">
              <a:buFont typeface="Arial" panose="020B0604020202020204" pitchFamily="34" charset="0"/>
              <a:buNone/>
            </a:pPr>
            <a:endParaRPr lang="fr-FR" altLang="fr-FR"/>
          </a:p>
          <a:p>
            <a:r>
              <a:rPr lang="fr-FR" altLang="fr-FR"/>
              <a:t>Les associations apparaissent sous forme de lignes sur le diagramme de classes</a:t>
            </a:r>
          </a:p>
          <a:p>
            <a:pPr lvl="1"/>
            <a:r>
              <a:rPr lang="fr-FR" altLang="fr-FR"/>
              <a:t>Et les liens sous forme de lignes sur le diagramme d’objets </a:t>
            </a:r>
          </a:p>
        </p:txBody>
      </p:sp>
      <p:pic>
        <p:nvPicPr>
          <p:cNvPr id="82948" name="Picture 4" descr="Departements (diagramme d objets, navigabil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819400"/>
            <a:ext cx="3314700" cy="2536825"/>
          </a:xfrm>
          <a:prstGeom prst="rect">
            <a:avLst/>
          </a:prstGeom>
          <a:noFill/>
          <a:extLst>
            <a:ext uri="{909E8E84-426E-40DD-AFC4-6F175D3DCCD1}">
              <a14:hiddenFill xmlns:a14="http://schemas.microsoft.com/office/drawing/2010/main">
                <a:solidFill>
                  <a:srgbClr val="FFFFFF"/>
                </a:solidFill>
              </a14:hiddenFill>
            </a:ext>
          </a:extLst>
        </p:spPr>
      </p:pic>
      <p:pic>
        <p:nvPicPr>
          <p:cNvPr id="82949" name="Picture 5" descr="Departements (diagramme de clas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667000"/>
            <a:ext cx="1839913"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09968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79388" y="160338"/>
            <a:ext cx="8785225" cy="725487"/>
          </a:xfrm>
        </p:spPr>
        <p:txBody>
          <a:bodyPr/>
          <a:lstStyle/>
          <a:p>
            <a:r>
              <a:rPr lang="fr-FR" altLang="fr-FR"/>
              <a:t>Système d’affectation d’ambulances : Diagramme de classes</a:t>
            </a:r>
          </a:p>
        </p:txBody>
      </p:sp>
      <p:pic>
        <p:nvPicPr>
          <p:cNvPr id="107524" name="Picture 4" descr="Classes_Class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524000"/>
            <a:ext cx="6781800" cy="3960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3239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9D3C0A-4D3E-0651-13E9-E53BF4AC8386}"/>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1850355F-FD52-EAE5-6A29-91A9A4AFF7BE}"/>
              </a:ext>
            </a:extLst>
          </p:cNvPr>
          <p:cNvSpPr>
            <a:spLocks noGrp="1"/>
          </p:cNvSpPr>
          <p:nvPr>
            <p:ph idx="1"/>
          </p:nvPr>
        </p:nvSpPr>
        <p:spPr/>
        <p:txBody>
          <a:bodyPr/>
          <a:lstStyle/>
          <a:p>
            <a:r>
              <a:rPr lang="fr-FR" dirty="0"/>
              <a:t>Démonstration de </a:t>
            </a:r>
            <a:r>
              <a:rPr lang="fr-FR" dirty="0" err="1"/>
              <a:t>Dbeaver</a:t>
            </a:r>
            <a:r>
              <a:rPr lang="fr-FR" dirty="0"/>
              <a:t> et </a:t>
            </a:r>
            <a:r>
              <a:rPr lang="fr-FR" dirty="0" err="1"/>
              <a:t>pgadmin</a:t>
            </a:r>
            <a:endParaRPr lang="fr-FR" dirty="0"/>
          </a:p>
          <a:p>
            <a:r>
              <a:rPr lang="fr-FR" dirty="0"/>
              <a:t>Créer un diagramme de classe sur yuml</a:t>
            </a:r>
            <a:r>
              <a:rPr lang="fr-FR"/>
              <a:t>.me</a:t>
            </a:r>
            <a:endParaRPr lang="fr-FR" dirty="0"/>
          </a:p>
        </p:txBody>
      </p:sp>
    </p:spTree>
    <p:extLst>
      <p:ext uri="{BB962C8B-B14F-4D97-AF65-F5344CB8AC3E}">
        <p14:creationId xmlns:p14="http://schemas.microsoft.com/office/powerpoint/2010/main" val="14256250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fr-FR" altLang="fr-FR" dirty="0"/>
              <a:t>Qu’est-ce qu’un diagramme d’activité ?</a:t>
            </a:r>
          </a:p>
        </p:txBody>
      </p:sp>
      <p:sp>
        <p:nvSpPr>
          <p:cNvPr id="64515" name="Rectangle 3"/>
          <p:cNvSpPr>
            <a:spLocks noGrp="1" noChangeArrowheads="1"/>
          </p:cNvSpPr>
          <p:nvPr>
            <p:ph type="body" idx="1"/>
          </p:nvPr>
        </p:nvSpPr>
        <p:spPr>
          <a:xfrm>
            <a:off x="201613" y="2719388"/>
            <a:ext cx="8599487" cy="2970212"/>
          </a:xfrm>
        </p:spPr>
        <p:txBody>
          <a:bodyPr/>
          <a:lstStyle/>
          <a:p>
            <a:r>
              <a:rPr lang="fr-FR" altLang="fr-FR" sz="2000" dirty="0"/>
              <a:t>Un </a:t>
            </a:r>
            <a:r>
              <a:rPr lang="fr-FR" altLang="fr-FR" sz="2000" i="1" dirty="0">
                <a:latin typeface="Century Schoolbook" pitchFamily="18" charset="0"/>
              </a:rPr>
              <a:t>diagramme d’activité</a:t>
            </a:r>
            <a:r>
              <a:rPr lang="fr-FR" altLang="fr-FR" sz="2000" dirty="0">
                <a:latin typeface="Century Schoolbook" pitchFamily="18" charset="0"/>
              </a:rPr>
              <a:t> </a:t>
            </a:r>
            <a:r>
              <a:rPr lang="fr-FR" altLang="fr-FR" sz="2000" dirty="0"/>
              <a:t>était vu comme un diagramme d’états modifié, avec quelques additions et restrictions</a:t>
            </a:r>
          </a:p>
          <a:p>
            <a:r>
              <a:rPr lang="fr-FR" altLang="fr-FR" sz="2000" dirty="0"/>
              <a:t>La principale différence entre ces diagrammes réside dans leurs objectifs</a:t>
            </a:r>
          </a:p>
          <a:p>
            <a:pPr lvl="1"/>
            <a:r>
              <a:rPr lang="fr-FR" altLang="fr-FR" sz="1800" dirty="0"/>
              <a:t>Un automate d’états décrit la vie d’un objet sur lequel des événements externes agissent</a:t>
            </a:r>
          </a:p>
          <a:p>
            <a:pPr lvl="1"/>
            <a:r>
              <a:rPr lang="fr-FR" altLang="fr-FR" sz="1800" dirty="0"/>
              <a:t>Un diagramme d’activité décrit un flux d’activité à travers les étapes d’une méthode ou d’un processus, contrôlé par l'achèvement des étapes</a:t>
            </a:r>
          </a:p>
          <a:p>
            <a:r>
              <a:rPr lang="fr-FR" altLang="fr-FR" sz="2000" dirty="0"/>
              <a:t>Pour éviter les confusions, le lien formel entre diagramme d'états et diagramme d'activité a été enlevé dans UML 2.0</a:t>
            </a:r>
          </a:p>
        </p:txBody>
      </p:sp>
      <p:sp>
        <p:nvSpPr>
          <p:cNvPr id="64516" name="Rectangle 4"/>
          <p:cNvSpPr>
            <a:spLocks noChangeArrowheads="1"/>
          </p:cNvSpPr>
          <p:nvPr/>
        </p:nvSpPr>
        <p:spPr bwMode="blackWhite">
          <a:xfrm>
            <a:off x="263525" y="1219200"/>
            <a:ext cx="8628063" cy="1268413"/>
          </a:xfrm>
          <a:prstGeom prst="rect">
            <a:avLst/>
          </a:prstGeom>
          <a:solidFill>
            <a:srgbClr val="FFFFCC"/>
          </a:solidFill>
          <a:ln w="12700">
            <a:solidFill>
              <a:schemeClr val="tx1"/>
            </a:solidFill>
            <a:miter lim="800000"/>
            <a:headEnd/>
            <a:tailEnd/>
          </a:ln>
          <a:effectLst>
            <a:outerShdw dist="107763" dir="2700000" algn="ctr" rotWithShape="0">
              <a:schemeClr val="tx1"/>
            </a:outerShdw>
          </a:effectLst>
        </p:spPr>
        <p:txBody>
          <a:bodyPr anchor="ctr">
            <a:spAutoFit/>
          </a:bodyPr>
          <a:lstStyle/>
          <a:p>
            <a:endParaRPr lang="fr-FR"/>
          </a:p>
        </p:txBody>
      </p:sp>
      <p:sp>
        <p:nvSpPr>
          <p:cNvPr id="64517" name="Text Box 5"/>
          <p:cNvSpPr txBox="1">
            <a:spLocks noChangeArrowheads="1"/>
          </p:cNvSpPr>
          <p:nvPr/>
        </p:nvSpPr>
        <p:spPr bwMode="auto">
          <a:xfrm>
            <a:off x="263525" y="1277938"/>
            <a:ext cx="8628063" cy="11906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FR" altLang="fr-FR" sz="1800" b="1" i="1" dirty="0">
                <a:solidFill>
                  <a:schemeClr val="tx2"/>
                </a:solidFill>
                <a:latin typeface="Century Schoolbook" pitchFamily="18" charset="0"/>
              </a:rPr>
              <a:t>“Une forme particulière de diagramme d’états dont tous les états (ou tout au moins la plupart des états) sont des actions ou des états contenant des sous-activités … Un tel diagramme permet de se focaliser sur les flux d’activité contrôlés par les traitements internes.”* </a:t>
            </a:r>
          </a:p>
        </p:txBody>
      </p:sp>
    </p:spTree>
    <p:extLst>
      <p:ext uri="{BB962C8B-B14F-4D97-AF65-F5344CB8AC3E}">
        <p14:creationId xmlns:p14="http://schemas.microsoft.com/office/powerpoint/2010/main" val="2024913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fr-FR" altLang="fr-FR"/>
              <a:t>Diagramme d’activité : Exemple</a:t>
            </a:r>
          </a:p>
        </p:txBody>
      </p:sp>
      <p:sp>
        <p:nvSpPr>
          <p:cNvPr id="68611" name="Rectangle 3"/>
          <p:cNvSpPr>
            <a:spLocks noGrp="1" noChangeArrowheads="1"/>
          </p:cNvSpPr>
          <p:nvPr>
            <p:ph type="body" idx="1"/>
          </p:nvPr>
        </p:nvSpPr>
        <p:spPr>
          <a:xfrm>
            <a:off x="279400" y="1312863"/>
            <a:ext cx="8599488" cy="366712"/>
          </a:xfrm>
        </p:spPr>
        <p:txBody>
          <a:bodyPr/>
          <a:lstStyle/>
          <a:p>
            <a:r>
              <a:rPr lang="fr-FR" altLang="fr-FR"/>
              <a:t>Dîner dans un restaurant</a:t>
            </a:r>
          </a:p>
        </p:txBody>
      </p:sp>
      <p:pic>
        <p:nvPicPr>
          <p:cNvPr id="68615" name="Picture 7" descr="6-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2286000"/>
            <a:ext cx="8550275"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587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fr-FR" altLang="fr-FR"/>
              <a:t>Pourquoi utiliser un diagramme d’activité ?</a:t>
            </a:r>
            <a:endParaRPr lang="fr-FR" altLang="fr-FR" noProof="1"/>
          </a:p>
        </p:txBody>
      </p:sp>
      <p:sp>
        <p:nvSpPr>
          <p:cNvPr id="70659" name="Rectangle 3"/>
          <p:cNvSpPr>
            <a:spLocks noGrp="1" noChangeArrowheads="1"/>
          </p:cNvSpPr>
          <p:nvPr>
            <p:ph type="body" idx="1"/>
          </p:nvPr>
        </p:nvSpPr>
        <p:spPr>
          <a:xfrm>
            <a:off x="279400" y="1312863"/>
            <a:ext cx="8599488" cy="2894012"/>
          </a:xfrm>
        </p:spPr>
        <p:txBody>
          <a:bodyPr/>
          <a:lstStyle/>
          <a:p>
            <a:r>
              <a:rPr lang="fr-FR" altLang="fr-FR"/>
              <a:t>Un diagramme d’activité est utilisé pour montrer les flux d’activité à différents niveaux :</a:t>
            </a:r>
          </a:p>
          <a:p>
            <a:pPr lvl="1"/>
            <a:r>
              <a:rPr lang="fr-FR" altLang="fr-FR"/>
              <a:t>Processus métier (ou </a:t>
            </a:r>
            <a:r>
              <a:rPr lang="fr-FR" altLang="fr-FR">
                <a:latin typeface="Times New Roman" panose="02020603050405020304" pitchFamily="18" charset="0"/>
              </a:rPr>
              <a:t>workflow</a:t>
            </a:r>
            <a:r>
              <a:rPr lang="fr-FR" altLang="fr-FR"/>
              <a:t>)</a:t>
            </a:r>
          </a:p>
          <a:p>
            <a:pPr lvl="1"/>
            <a:r>
              <a:rPr lang="fr-FR" altLang="fr-FR"/>
              <a:t>Cas d’utilisation</a:t>
            </a:r>
          </a:p>
          <a:p>
            <a:pPr lvl="1"/>
            <a:r>
              <a:rPr lang="fr-FR" altLang="fr-FR"/>
              <a:t>Interaction</a:t>
            </a:r>
          </a:p>
          <a:p>
            <a:pPr lvl="1"/>
            <a:r>
              <a:rPr lang="fr-FR" altLang="fr-FR"/>
              <a:t>Méthode particulière</a:t>
            </a:r>
          </a:p>
          <a:p>
            <a:r>
              <a:rPr lang="fr-FR" altLang="fr-FR"/>
              <a:t>Plus souple qu’un diagramme de flux conventionnel</a:t>
            </a:r>
          </a:p>
          <a:p>
            <a:pPr lvl="1"/>
            <a:r>
              <a:rPr lang="fr-FR" altLang="fr-FR"/>
              <a:t>Peut représenter des traitements parallèles</a:t>
            </a:r>
          </a:p>
          <a:p>
            <a:pPr lvl="1"/>
            <a:r>
              <a:rPr lang="fr-FR" altLang="fr-FR"/>
              <a:t>Peut montrer les correspondances avec les objets et les classes impliquées</a:t>
            </a:r>
          </a:p>
        </p:txBody>
      </p:sp>
    </p:spTree>
    <p:extLst>
      <p:ext uri="{BB962C8B-B14F-4D97-AF65-F5344CB8AC3E}">
        <p14:creationId xmlns:p14="http://schemas.microsoft.com/office/powerpoint/2010/main" val="3370275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fr-FR" altLang="fr-FR"/>
              <a:t>Actions</a:t>
            </a:r>
          </a:p>
        </p:txBody>
      </p:sp>
      <p:sp>
        <p:nvSpPr>
          <p:cNvPr id="72707" name="Rectangle 3"/>
          <p:cNvSpPr>
            <a:spLocks noGrp="1" noChangeArrowheads="1"/>
          </p:cNvSpPr>
          <p:nvPr>
            <p:ph type="body" idx="1"/>
          </p:nvPr>
        </p:nvSpPr>
        <p:spPr>
          <a:xfrm>
            <a:off x="279400" y="1312863"/>
            <a:ext cx="8599488" cy="1093787"/>
          </a:xfrm>
        </p:spPr>
        <p:txBody>
          <a:bodyPr/>
          <a:lstStyle/>
          <a:p>
            <a:r>
              <a:rPr lang="fr-FR" altLang="fr-FR"/>
              <a:t>Une </a:t>
            </a:r>
            <a:r>
              <a:rPr lang="fr-FR" altLang="fr-FR" i="1">
                <a:latin typeface="Century Schoolbook" pitchFamily="18" charset="0"/>
              </a:rPr>
              <a:t>action</a:t>
            </a:r>
            <a:r>
              <a:rPr lang="fr-FR" altLang="fr-FR"/>
              <a:t> représente une étape dans un processus ou dans l'exécution d'un algorithme</a:t>
            </a:r>
          </a:p>
          <a:p>
            <a:r>
              <a:rPr lang="fr-FR" altLang="fr-FR"/>
              <a:t>Le symbole d'une action dans UML 2.0 est un rectangle aux coins ronds</a:t>
            </a:r>
          </a:p>
        </p:txBody>
      </p:sp>
      <p:sp>
        <p:nvSpPr>
          <p:cNvPr id="72709" name="AutoShape 5"/>
          <p:cNvSpPr>
            <a:spLocks noChangeArrowheads="1"/>
          </p:cNvSpPr>
          <p:nvPr/>
        </p:nvSpPr>
        <p:spPr bwMode="gray">
          <a:xfrm>
            <a:off x="3529018" y="4797152"/>
            <a:ext cx="1030287" cy="660400"/>
          </a:xfrm>
          <a:prstGeom prst="roundRect">
            <a:avLst>
              <a:gd name="adj" fmla="val 16667"/>
            </a:avLst>
          </a:prstGeom>
          <a:solidFill>
            <a:srgbClr val="FFFFCC"/>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fr-FR"/>
          </a:p>
        </p:txBody>
      </p:sp>
      <p:sp>
        <p:nvSpPr>
          <p:cNvPr id="72714" name="Text Box 10"/>
          <p:cNvSpPr txBox="1">
            <a:spLocks noChangeArrowheads="1"/>
          </p:cNvSpPr>
          <p:nvPr/>
        </p:nvSpPr>
        <p:spPr bwMode="gray">
          <a:xfrm>
            <a:off x="3540607" y="4797152"/>
            <a:ext cx="1030287" cy="536575"/>
          </a:xfrm>
          <a:prstGeom prst="rect">
            <a:avLst/>
          </a:prstGeom>
          <a:noFill/>
          <a:ln>
            <a:noFill/>
          </a:ln>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ctr"/>
            <a:r>
              <a:rPr lang="fr-FR" altLang="fr-FR" sz="1600" b="1" dirty="0">
                <a:solidFill>
                  <a:schemeClr val="tx2"/>
                </a:solidFill>
              </a:rPr>
              <a:t>Cuisiner</a:t>
            </a:r>
            <a:br>
              <a:rPr lang="fr-FR" altLang="fr-FR" sz="1600" b="1" dirty="0">
                <a:solidFill>
                  <a:schemeClr val="tx2"/>
                </a:solidFill>
              </a:rPr>
            </a:br>
            <a:r>
              <a:rPr lang="fr-FR" altLang="fr-FR" sz="1600" b="1" dirty="0">
                <a:solidFill>
                  <a:schemeClr val="tx2"/>
                </a:solidFill>
              </a:rPr>
              <a:t>repas</a:t>
            </a:r>
            <a:endParaRPr lang="fr-FR" altLang="fr-FR" sz="1600" dirty="0">
              <a:solidFill>
                <a:schemeClr val="tx2"/>
              </a:solidFill>
            </a:endParaRPr>
          </a:p>
        </p:txBody>
      </p:sp>
    </p:spTree>
    <p:extLst>
      <p:ext uri="{BB962C8B-B14F-4D97-AF65-F5344CB8AC3E}">
        <p14:creationId xmlns:p14="http://schemas.microsoft.com/office/powerpoint/2010/main" val="2605442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fr-FR" altLang="fr-FR"/>
              <a:t>États sous-activité</a:t>
            </a:r>
          </a:p>
        </p:txBody>
      </p:sp>
      <p:sp>
        <p:nvSpPr>
          <p:cNvPr id="74755" name="Rectangle 3"/>
          <p:cNvSpPr>
            <a:spLocks noGrp="1" noChangeArrowheads="1"/>
          </p:cNvSpPr>
          <p:nvPr>
            <p:ph type="body" idx="1"/>
          </p:nvPr>
        </p:nvSpPr>
        <p:spPr>
          <a:xfrm>
            <a:off x="279400" y="1312863"/>
            <a:ext cx="8599488" cy="1516062"/>
          </a:xfrm>
        </p:spPr>
        <p:txBody>
          <a:bodyPr/>
          <a:lstStyle/>
          <a:p>
            <a:r>
              <a:rPr lang="fr-FR" altLang="fr-FR" sz="2000" dirty="0"/>
              <a:t>Un </a:t>
            </a:r>
            <a:r>
              <a:rPr lang="fr-FR" altLang="fr-FR" sz="2000" i="1" dirty="0">
                <a:latin typeface="Century Schoolbook" pitchFamily="18" charset="0"/>
              </a:rPr>
              <a:t>état sous-activité</a:t>
            </a:r>
            <a:r>
              <a:rPr lang="fr-FR" altLang="fr-FR" sz="2000" dirty="0"/>
              <a:t> est l’équivalent, dans le diagramme d’activité,  de l’état composite </a:t>
            </a:r>
          </a:p>
          <a:p>
            <a:pPr lvl="1"/>
            <a:r>
              <a:rPr lang="fr-FR" altLang="fr-FR" sz="1800" dirty="0"/>
              <a:t>Contient un diagramme d’activité interne</a:t>
            </a:r>
          </a:p>
          <a:p>
            <a:pPr lvl="1"/>
            <a:r>
              <a:rPr lang="fr-FR" altLang="fr-FR" sz="1800" dirty="0"/>
              <a:t>Le diagramme interne peut être représenté à l’intérieur de l’état sous-activité ou défini sur un autre diagramme</a:t>
            </a:r>
            <a:endParaRPr lang="fr-FR" altLang="fr-FR" sz="1800" noProof="1"/>
          </a:p>
        </p:txBody>
      </p:sp>
      <p:pic>
        <p:nvPicPr>
          <p:cNvPr id="74758" name="Picture 6" descr="6-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48000"/>
            <a:ext cx="7467600" cy="294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2163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fr-FR" altLang="fr-FR"/>
              <a:t>Décisions</a:t>
            </a:r>
          </a:p>
        </p:txBody>
      </p:sp>
      <p:sp>
        <p:nvSpPr>
          <p:cNvPr id="76803" name="Rectangle 3"/>
          <p:cNvSpPr>
            <a:spLocks noGrp="1" noChangeArrowheads="1"/>
          </p:cNvSpPr>
          <p:nvPr>
            <p:ph type="body" idx="1"/>
          </p:nvPr>
        </p:nvSpPr>
        <p:spPr>
          <a:xfrm>
            <a:off x="365125" y="1312863"/>
            <a:ext cx="8599488" cy="1985159"/>
          </a:xfrm>
        </p:spPr>
        <p:txBody>
          <a:bodyPr/>
          <a:lstStyle/>
          <a:p>
            <a:r>
              <a:rPr lang="fr-FR" altLang="fr-FR" dirty="0"/>
              <a:t>Une </a:t>
            </a:r>
            <a:r>
              <a:rPr lang="fr-FR" altLang="fr-FR" i="1" dirty="0">
                <a:latin typeface="Century Schoolbook" pitchFamily="18" charset="0"/>
              </a:rPr>
              <a:t>décision</a:t>
            </a:r>
            <a:r>
              <a:rPr lang="fr-FR" altLang="fr-FR" dirty="0"/>
              <a:t> “Si-alors-sinon” est représentée en utilisant des conditions de garde exclusives autour d'une icône en forme de losange</a:t>
            </a:r>
          </a:p>
          <a:p>
            <a:pPr lvl="1"/>
            <a:r>
              <a:rPr lang="fr-FR" altLang="fr-FR" dirty="0"/>
              <a:t>Identique à l'icône utilisée sur les diagrammes de flux traditionnels</a:t>
            </a:r>
          </a:p>
          <a:p>
            <a:pPr lvl="1"/>
            <a:r>
              <a:rPr lang="fr-FR" altLang="fr-FR" dirty="0"/>
              <a:t>La condition standard </a:t>
            </a:r>
            <a:r>
              <a:rPr lang="fr-FR" altLang="fr-FR" dirty="0" err="1">
                <a:latin typeface="Courier New" panose="02070309020205020404" pitchFamily="49" charset="0"/>
              </a:rPr>
              <a:t>else</a:t>
            </a:r>
            <a:r>
              <a:rPr lang="fr-FR" altLang="fr-FR" dirty="0"/>
              <a:t> peut être utilisée</a:t>
            </a:r>
          </a:p>
          <a:p>
            <a:r>
              <a:rPr lang="fr-FR" altLang="fr-FR" dirty="0"/>
              <a:t>Une icône en forme de losange indique également une </a:t>
            </a:r>
            <a:r>
              <a:rPr lang="fr-FR" altLang="fr-FR" i="1" dirty="0">
                <a:latin typeface="Century Schoolbook" pitchFamily="18" charset="0"/>
              </a:rPr>
              <a:t>jonction</a:t>
            </a:r>
            <a:r>
              <a:rPr lang="fr-FR" altLang="fr-FR" dirty="0"/>
              <a:t> de flux provenant de diverses transitions entrantes</a:t>
            </a:r>
          </a:p>
        </p:txBody>
      </p:sp>
    </p:spTree>
    <p:extLst>
      <p:ext uri="{BB962C8B-B14F-4D97-AF65-F5344CB8AC3E}">
        <p14:creationId xmlns:p14="http://schemas.microsoft.com/office/powerpoint/2010/main" val="29038390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fr-FR" altLang="fr-FR"/>
              <a:t>Décisions : Nouvelle et ancienne notations</a:t>
            </a:r>
          </a:p>
        </p:txBody>
      </p:sp>
      <p:pic>
        <p:nvPicPr>
          <p:cNvPr id="78856" name="Picture 8" descr="6-40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600"/>
            <a:ext cx="4184650" cy="4629150"/>
          </a:xfrm>
          <a:prstGeom prst="rect">
            <a:avLst/>
          </a:prstGeom>
          <a:noFill/>
          <a:extLst>
            <a:ext uri="{909E8E84-426E-40DD-AFC4-6F175D3DCCD1}">
              <a14:hiddenFill xmlns:a14="http://schemas.microsoft.com/office/drawing/2010/main">
                <a:solidFill>
                  <a:srgbClr val="FFFFFF"/>
                </a:solidFill>
              </a14:hiddenFill>
            </a:ext>
          </a:extLst>
        </p:spPr>
      </p:pic>
      <p:pic>
        <p:nvPicPr>
          <p:cNvPr id="78857" name="Picture 9" descr="6-40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371600"/>
            <a:ext cx="4302125" cy="4727575"/>
          </a:xfrm>
          <a:prstGeom prst="rect">
            <a:avLst/>
          </a:prstGeom>
          <a:noFill/>
          <a:extLst>
            <a:ext uri="{909E8E84-426E-40DD-AFC4-6F175D3DCCD1}">
              <a14:hiddenFill xmlns:a14="http://schemas.microsoft.com/office/drawing/2010/main">
                <a:solidFill>
                  <a:srgbClr val="FFFFFF"/>
                </a:solidFill>
              </a14:hiddenFill>
            </a:ext>
          </a:extLst>
        </p:spPr>
      </p:pic>
      <p:sp>
        <p:nvSpPr>
          <p:cNvPr id="78858" name="Text Box 10"/>
          <p:cNvSpPr txBox="1">
            <a:spLocks noChangeArrowheads="1"/>
          </p:cNvSpPr>
          <p:nvPr/>
        </p:nvSpPr>
        <p:spPr bwMode="auto">
          <a:xfrm>
            <a:off x="365125" y="1270000"/>
            <a:ext cx="1758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b="1"/>
              <a:t>Avant UML 2.0</a:t>
            </a:r>
          </a:p>
        </p:txBody>
      </p:sp>
      <p:sp>
        <p:nvSpPr>
          <p:cNvPr id="78859" name="Text Box 11"/>
          <p:cNvSpPr txBox="1">
            <a:spLocks noChangeArrowheads="1"/>
          </p:cNvSpPr>
          <p:nvPr/>
        </p:nvSpPr>
        <p:spPr bwMode="auto">
          <a:xfrm>
            <a:off x="4913313" y="1270000"/>
            <a:ext cx="1060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altLang="fr-FR" sz="1800" b="1"/>
              <a:t>UML 2.0</a:t>
            </a:r>
          </a:p>
        </p:txBody>
      </p:sp>
    </p:spTree>
    <p:extLst>
      <p:ext uri="{BB962C8B-B14F-4D97-AF65-F5344CB8AC3E}">
        <p14:creationId xmlns:p14="http://schemas.microsoft.com/office/powerpoint/2010/main" val="26656904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fr-FR" altLang="fr-FR"/>
              <a:t>Fork et join conditionnels</a:t>
            </a:r>
            <a:endParaRPr lang="fr-FR" altLang="fr-FR" noProof="1"/>
          </a:p>
        </p:txBody>
      </p:sp>
      <p:sp>
        <p:nvSpPr>
          <p:cNvPr id="79875" name="Rectangle 3"/>
          <p:cNvSpPr>
            <a:spLocks noGrp="1" noChangeArrowheads="1"/>
          </p:cNvSpPr>
          <p:nvPr>
            <p:ph type="body" idx="1"/>
          </p:nvPr>
        </p:nvSpPr>
        <p:spPr>
          <a:xfrm>
            <a:off x="279400" y="1312863"/>
            <a:ext cx="8599488" cy="3270250"/>
          </a:xfrm>
        </p:spPr>
        <p:txBody>
          <a:bodyPr/>
          <a:lstStyle/>
          <a:p>
            <a:r>
              <a:rPr lang="fr-FR" altLang="fr-FR"/>
              <a:t>Un fork représente un flux d’activité qui se sépare en plusieurs flux exécutés de manière concurrente (en parallèle)</a:t>
            </a:r>
          </a:p>
          <a:p>
            <a:r>
              <a:rPr lang="fr-FR" altLang="fr-FR"/>
              <a:t>Sur un diagramme d’activité, les flux sortant du fork peuvent être gardés par une condition</a:t>
            </a:r>
          </a:p>
          <a:p>
            <a:pPr lvl="1"/>
            <a:r>
              <a:rPr lang="fr-FR" altLang="fr-FR"/>
              <a:t>On parle alors de </a:t>
            </a:r>
            <a:r>
              <a:rPr lang="fr-FR" altLang="fr-FR" i="1">
                <a:latin typeface="Century Schoolbook" pitchFamily="18" charset="0"/>
              </a:rPr>
              <a:t>fork conditionnel</a:t>
            </a:r>
            <a:endParaRPr lang="fr-FR" altLang="fr-FR"/>
          </a:p>
          <a:p>
            <a:pPr lvl="1"/>
            <a:r>
              <a:rPr lang="fr-FR" altLang="fr-FR"/>
              <a:t>Les forks conditionnels ne sont pas permis dans les automates d’états</a:t>
            </a:r>
          </a:p>
          <a:p>
            <a:r>
              <a:rPr lang="fr-FR" altLang="fr-FR"/>
              <a:t>Un join est franchi lorsque tous les flux entrants ont été complètement exécutés</a:t>
            </a:r>
          </a:p>
          <a:p>
            <a:pPr lvl="1"/>
            <a:r>
              <a:rPr lang="fr-FR" altLang="fr-FR"/>
              <a:t>Si certains flux sont gardés par une condition, le join attend uniquement que les flux actifs se terminent</a:t>
            </a:r>
          </a:p>
        </p:txBody>
      </p:sp>
    </p:spTree>
    <p:extLst>
      <p:ext uri="{BB962C8B-B14F-4D97-AF65-F5344CB8AC3E}">
        <p14:creationId xmlns:p14="http://schemas.microsoft.com/office/powerpoint/2010/main" val="30233953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fr-FR" altLang="fr-FR"/>
              <a:t>Fork et join conditionnels : Exemple</a:t>
            </a:r>
          </a:p>
        </p:txBody>
      </p:sp>
      <p:sp>
        <p:nvSpPr>
          <p:cNvPr id="81923" name="Rectangle 3"/>
          <p:cNvSpPr>
            <a:spLocks noGrp="1" noChangeArrowheads="1"/>
          </p:cNvSpPr>
          <p:nvPr>
            <p:ph type="body" idx="1"/>
          </p:nvPr>
        </p:nvSpPr>
        <p:spPr>
          <a:xfrm>
            <a:off x="279400" y="1312863"/>
            <a:ext cx="8599488" cy="366712"/>
          </a:xfrm>
        </p:spPr>
        <p:txBody>
          <a:bodyPr/>
          <a:lstStyle/>
          <a:p>
            <a:r>
              <a:rPr lang="fr-FR" altLang="fr-FR"/>
              <a:t>On ne doit manger les frites que si on les a commandées</a:t>
            </a:r>
            <a:endParaRPr lang="fr-FR" altLang="fr-FR" noProof="1"/>
          </a:p>
        </p:txBody>
      </p:sp>
      <p:pic>
        <p:nvPicPr>
          <p:cNvPr id="81924" name="Picture 4" descr="Manger repas (fork conditionnel)_Activity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828800"/>
            <a:ext cx="4038600" cy="396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6693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fr-FR" altLang="fr-FR"/>
              <a:t>Partitions</a:t>
            </a:r>
          </a:p>
        </p:txBody>
      </p:sp>
      <p:sp>
        <p:nvSpPr>
          <p:cNvPr id="83971" name="Rectangle 3"/>
          <p:cNvSpPr>
            <a:spLocks noGrp="1" noChangeArrowheads="1"/>
          </p:cNvSpPr>
          <p:nvPr>
            <p:ph type="body" idx="1"/>
          </p:nvPr>
        </p:nvSpPr>
        <p:spPr>
          <a:xfrm>
            <a:off x="279400" y="1312863"/>
            <a:ext cx="8599488" cy="3392487"/>
          </a:xfrm>
        </p:spPr>
        <p:txBody>
          <a:bodyPr/>
          <a:lstStyle/>
          <a:p>
            <a:r>
              <a:rPr lang="fr-FR" altLang="fr-FR" sz="2400" dirty="0"/>
              <a:t>Un diagramme d’activité peut montrer les responsabilités de chaque objet intervenant dans un algorithme ou un processus métier</a:t>
            </a:r>
          </a:p>
          <a:p>
            <a:pPr lvl="1"/>
            <a:r>
              <a:rPr lang="fr-FR" altLang="fr-FR" sz="2000" dirty="0"/>
              <a:t>Le diagramme est divisé en régions appelées </a:t>
            </a:r>
            <a:r>
              <a:rPr lang="fr-FR" altLang="fr-FR" sz="2000" i="1" dirty="0">
                <a:latin typeface="Century Schoolbook" pitchFamily="18" charset="0"/>
              </a:rPr>
              <a:t>partitions</a:t>
            </a:r>
          </a:p>
          <a:p>
            <a:pPr lvl="1"/>
            <a:r>
              <a:rPr lang="fr-FR" altLang="fr-FR" sz="2000" dirty="0"/>
              <a:t>Avant UML 2.0, les partitions étaient appelées </a:t>
            </a:r>
            <a:r>
              <a:rPr lang="fr-FR" altLang="fr-FR" sz="2000" i="1" dirty="0">
                <a:latin typeface="Century Schoolbook" pitchFamily="18" charset="0"/>
              </a:rPr>
              <a:t>lignes de visibilité </a:t>
            </a:r>
            <a:r>
              <a:rPr lang="fr-FR" altLang="fr-FR" sz="2000" dirty="0"/>
              <a:t>(</a:t>
            </a:r>
            <a:r>
              <a:rPr lang="fr-FR" altLang="fr-FR" sz="2000" dirty="0" err="1">
                <a:latin typeface="Times New Roman" panose="02020603050405020304" pitchFamily="18" charset="0"/>
              </a:rPr>
              <a:t>swimlanes</a:t>
            </a:r>
            <a:r>
              <a:rPr lang="fr-FR" altLang="fr-FR" sz="2000" dirty="0"/>
              <a:t>)</a:t>
            </a:r>
          </a:p>
          <a:p>
            <a:r>
              <a:rPr lang="fr-FR" altLang="fr-FR" sz="2400" dirty="0"/>
              <a:t>Chaque partition contient les actions exécutées par un des composants du système</a:t>
            </a:r>
          </a:p>
          <a:p>
            <a:pPr lvl="1"/>
            <a:r>
              <a:rPr lang="fr-FR" altLang="fr-FR" sz="2000" dirty="0"/>
              <a:t>Habituellement, chaque partition correspond à un objet ou à un rôle d’objet</a:t>
            </a:r>
          </a:p>
          <a:p>
            <a:pPr lvl="1"/>
            <a:r>
              <a:rPr lang="fr-FR" altLang="fr-FR" sz="2000" dirty="0"/>
              <a:t>Mais elles peuvent correspondre à une unité organisationnelle dans un modèle métier, un acteur dans un modèle de cas d’utilisation, ou une classe dans un modèle de conception</a:t>
            </a:r>
          </a:p>
        </p:txBody>
      </p:sp>
    </p:spTree>
    <p:extLst>
      <p:ext uri="{BB962C8B-B14F-4D97-AF65-F5344CB8AC3E}">
        <p14:creationId xmlns:p14="http://schemas.microsoft.com/office/powerpoint/2010/main" val="25079994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fr-FR" altLang="fr-FR"/>
              <a:t>Partitions : Exemple</a:t>
            </a:r>
          </a:p>
        </p:txBody>
      </p:sp>
      <p:pic>
        <p:nvPicPr>
          <p:cNvPr id="86022" name="Picture 6" descr="6-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30225" y="1219200"/>
            <a:ext cx="8081963"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85622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9FCCCD-6612-E23E-23DF-DA848DA952F7}"/>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9D797C63-7F62-0F62-3949-E39381B7B03F}"/>
              </a:ext>
            </a:extLst>
          </p:cNvPr>
          <p:cNvSpPr>
            <a:spLocks noGrp="1"/>
          </p:cNvSpPr>
          <p:nvPr>
            <p:ph idx="1"/>
          </p:nvPr>
        </p:nvSpPr>
        <p:spPr/>
        <p:txBody>
          <a:bodyPr/>
          <a:lstStyle/>
          <a:p>
            <a:r>
              <a:rPr lang="fr-FR" dirty="0"/>
              <a:t>Facultatif</a:t>
            </a:r>
          </a:p>
          <a:p>
            <a:pPr lvl="1"/>
            <a:r>
              <a:rPr lang="fr-FR" dirty="0"/>
              <a:t>Créer un </a:t>
            </a:r>
            <a:r>
              <a:rPr lang="fr-FR"/>
              <a:t>diagramme d'activité</a:t>
            </a:r>
          </a:p>
        </p:txBody>
      </p:sp>
    </p:spTree>
    <p:extLst>
      <p:ext uri="{BB962C8B-B14F-4D97-AF65-F5344CB8AC3E}">
        <p14:creationId xmlns:p14="http://schemas.microsoft.com/office/powerpoint/2010/main" val="1159349746"/>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4984</TotalTime>
  <Words>3244</Words>
  <Application>Microsoft Office PowerPoint</Application>
  <PresentationFormat>Affichage à l'écran (4:3)</PresentationFormat>
  <Paragraphs>394</Paragraphs>
  <Slides>58</Slides>
  <Notes>35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58</vt:i4>
      </vt:variant>
    </vt:vector>
  </HeadingPairs>
  <TitlesOfParts>
    <vt:vector size="65" baseType="lpstr">
      <vt:lpstr>Arial</vt:lpstr>
      <vt:lpstr>Century Schoolbook</vt:lpstr>
      <vt:lpstr>Courier New</vt:lpstr>
      <vt:lpstr>Lucida Sans</vt:lpstr>
      <vt:lpstr>Monotype Sorts</vt:lpstr>
      <vt:lpstr>Times New Roman</vt:lpstr>
      <vt:lpstr>cvc</vt:lpstr>
      <vt:lpstr>Présentation PowerPoint</vt:lpstr>
      <vt:lpstr>Data Modeling &amp; Design</vt:lpstr>
      <vt:lpstr>Définition</vt:lpstr>
      <vt:lpstr>Buts</vt:lpstr>
      <vt:lpstr>Architecture générale</vt:lpstr>
      <vt:lpstr>Méthode Merise</vt:lpstr>
      <vt:lpstr>Le modèle conceptuel des données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MLP</vt:lpstr>
      <vt:lpstr>MLP</vt:lpstr>
      <vt:lpstr>MPD</vt:lpstr>
      <vt:lpstr>Les objets</vt:lpstr>
      <vt:lpstr>Une définition d’UML</vt:lpstr>
      <vt:lpstr>Système d’affectation des ambulances : Diagramme de cas d’utilisation</vt:lpstr>
      <vt:lpstr>Système d’affectation des ambulances : Diagramme de classes</vt:lpstr>
      <vt:lpstr>Système d’affectation des ambulances : Diagramme d’états</vt:lpstr>
      <vt:lpstr>Un langage visuel</vt:lpstr>
      <vt:lpstr>Entités, relations et diagrammes</vt:lpstr>
      <vt:lpstr>Entités, relations et diagrammes  (suite)</vt:lpstr>
      <vt:lpstr>Diagramme de cas d’utilisation : Exemple simple </vt:lpstr>
      <vt:lpstr>Formaliser les scénarios sous forme de cas d’utilisation</vt:lpstr>
      <vt:lpstr>Qu’est-ce qu’un acteur ?</vt:lpstr>
      <vt:lpstr>Symbole d’acteur en UML</vt:lpstr>
      <vt:lpstr>Qu’est-ce qu’un cas d’utilisation ?</vt:lpstr>
      <vt:lpstr>Le symbole de cas d’utilisation en UML</vt:lpstr>
      <vt:lpstr>Description d’un cas d’utilisation</vt:lpstr>
      <vt:lpstr>Description textuelle d’un cas d’utilisation</vt:lpstr>
      <vt:lpstr>Système d’affectation des ambulances : Diagramme de cas d’utilisation avec relations</vt:lpstr>
      <vt:lpstr>TP</vt:lpstr>
      <vt:lpstr>Diagramme de classes : Exemple simple</vt:lpstr>
      <vt:lpstr>Qu’est-ce qu’une classe ?</vt:lpstr>
      <vt:lpstr>Propriétés des classes</vt:lpstr>
      <vt:lpstr>Symbole de classe en UML</vt:lpstr>
      <vt:lpstr>Pourquoi modéliser des classes ?</vt:lpstr>
      <vt:lpstr>Qu’est-ce qu’une relation ?</vt:lpstr>
      <vt:lpstr>Associations</vt:lpstr>
      <vt:lpstr>Système d’affectation d’ambulances : Diagramme de classes</vt:lpstr>
      <vt:lpstr>TP</vt:lpstr>
      <vt:lpstr>Qu’est-ce qu’un diagramme d’activité ?</vt:lpstr>
      <vt:lpstr>Diagramme d’activité : Exemple</vt:lpstr>
      <vt:lpstr>Pourquoi utiliser un diagramme d’activité ?</vt:lpstr>
      <vt:lpstr>Actions</vt:lpstr>
      <vt:lpstr>États sous-activité</vt:lpstr>
      <vt:lpstr>Décisions</vt:lpstr>
      <vt:lpstr>Décisions : Nouvelle et ancienne notations</vt:lpstr>
      <vt:lpstr>Fork et join conditionnels</vt:lpstr>
      <vt:lpstr>Fork et join conditionnels : Exemple</vt:lpstr>
      <vt:lpstr>Partitions</vt:lpstr>
      <vt:lpstr>Partitions : Exemple</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255</cp:revision>
  <dcterms:created xsi:type="dcterms:W3CDTF">2000-04-10T19:33:12Z</dcterms:created>
  <dcterms:modified xsi:type="dcterms:W3CDTF">2026-01-07T15:19:04Z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