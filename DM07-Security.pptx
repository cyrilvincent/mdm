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8"/>
  </p:notesMasterIdLst>
  <p:handoutMasterIdLst>
    <p:handoutMasterId r:id="rId19"/>
  </p:handoutMasterIdLst>
  <p:sldIdLst>
    <p:sldId id="264" r:id="rId2"/>
    <p:sldId id="265" r:id="rId3"/>
    <p:sldId id="266" r:id="rId4"/>
    <p:sldId id="267" r:id="rId5"/>
    <p:sldId id="354" r:id="rId6"/>
    <p:sldId id="269" r:id="rId7"/>
    <p:sldId id="355" r:id="rId8"/>
    <p:sldId id="356" r:id="rId9"/>
    <p:sldId id="357" r:id="rId10"/>
    <p:sldId id="358" r:id="rId11"/>
    <p:sldId id="359" r:id="rId12"/>
    <p:sldId id="360" r:id="rId13"/>
    <p:sldId id="361" r:id="rId14"/>
    <p:sldId id="362" r:id="rId15"/>
    <p:sldId id="363" r:id="rId16"/>
    <p:sldId id="364" r:id="rId17"/>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57" autoAdjust="0"/>
    <p:restoredTop sz="94590" autoAdjust="0"/>
  </p:normalViewPr>
  <p:slideViewPr>
    <p:cSldViewPr>
      <p:cViewPr varScale="1">
        <p:scale>
          <a:sx n="70" d="100"/>
          <a:sy n="70" d="100"/>
        </p:scale>
        <p:origin x="1474"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latin typeface="+mj-lt"/>
              </a:rPr>
              <a:t>MDM</a:t>
            </a:r>
            <a:endParaRPr lang="fr-FR" dirty="0">
              <a:latin typeface="+mj-lt"/>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7</a:t>
            </a:r>
          </a:p>
          <a:p>
            <a:pPr eaLnBrk="1" hangingPunct="1"/>
            <a:r>
              <a:rPr lang="fr-FR" altLang="fr-FR" dirty="0"/>
              <a:t>Sécurité des données</a:t>
            </a:r>
          </a:p>
        </p:txBody>
      </p:sp>
      <p:sp>
        <p:nvSpPr>
          <p:cNvPr id="3" name="ZoneTexte 2"/>
          <p:cNvSpPr txBox="1"/>
          <p:nvPr/>
        </p:nvSpPr>
        <p:spPr>
          <a:xfrm>
            <a:off x="2581711" y="1988840"/>
            <a:ext cx="3980577" cy="646331"/>
          </a:xfrm>
          <a:prstGeom prst="rect">
            <a:avLst/>
          </a:prstGeom>
          <a:noFill/>
        </p:spPr>
        <p:txBody>
          <a:bodyPr wrap="none" rtlCol="0">
            <a:spAutoFit/>
          </a:bodyPr>
          <a:lstStyle/>
          <a:p>
            <a:r>
              <a:rPr lang="fr-FR" sz="3600" dirty="0"/>
              <a:t>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44DCAE-EC72-A49D-35B0-16F1DEF03794}"/>
              </a:ext>
            </a:extLst>
          </p:cNvPr>
          <p:cNvSpPr>
            <a:spLocks noGrp="1"/>
          </p:cNvSpPr>
          <p:nvPr>
            <p:ph type="title"/>
          </p:nvPr>
        </p:nvSpPr>
        <p:spPr/>
        <p:txBody>
          <a:bodyPr/>
          <a:lstStyle/>
          <a:p>
            <a:r>
              <a:rPr lang="fr-FR" dirty="0"/>
              <a:t>Sécurité des données</a:t>
            </a:r>
          </a:p>
        </p:txBody>
      </p:sp>
      <p:sp>
        <p:nvSpPr>
          <p:cNvPr id="3" name="Espace réservé du contenu 2">
            <a:extLst>
              <a:ext uri="{FF2B5EF4-FFF2-40B4-BE49-F238E27FC236}">
                <a16:creationId xmlns:a16="http://schemas.microsoft.com/office/drawing/2014/main" id="{204B59C8-C22F-7217-9A8F-4C26E7EA3158}"/>
              </a:ext>
            </a:extLst>
          </p:cNvPr>
          <p:cNvSpPr>
            <a:spLocks noGrp="1"/>
          </p:cNvSpPr>
          <p:nvPr>
            <p:ph idx="1"/>
          </p:nvPr>
        </p:nvSpPr>
        <p:spPr/>
        <p:txBody>
          <a:bodyPr/>
          <a:lstStyle/>
          <a:p>
            <a:endParaRPr lang="fr-FR"/>
          </a:p>
        </p:txBody>
      </p:sp>
      <p:pic>
        <p:nvPicPr>
          <p:cNvPr id="6" name="Image 5" descr="Une image contenant texte, cercle, capture d’écran, disque compact&#10;&#10;Le contenu généré par l’IA peut être incorrect.">
            <a:extLst>
              <a:ext uri="{FF2B5EF4-FFF2-40B4-BE49-F238E27FC236}">
                <a16:creationId xmlns:a16="http://schemas.microsoft.com/office/drawing/2014/main" id="{6A43B02B-9399-EAD7-2793-3AD90E5E4051}"/>
              </a:ext>
            </a:extLst>
          </p:cNvPr>
          <p:cNvPicPr>
            <a:picLocks noChangeAspect="1"/>
          </p:cNvPicPr>
          <p:nvPr/>
        </p:nvPicPr>
        <p:blipFill>
          <a:blip r:embed="rId2"/>
          <a:stretch>
            <a:fillRect/>
          </a:stretch>
        </p:blipFill>
        <p:spPr>
          <a:xfrm>
            <a:off x="2133259" y="1268760"/>
            <a:ext cx="4877481" cy="4791744"/>
          </a:xfrm>
          <a:prstGeom prst="rect">
            <a:avLst/>
          </a:prstGeom>
        </p:spPr>
      </p:pic>
    </p:spTree>
    <p:extLst>
      <p:ext uri="{BB962C8B-B14F-4D97-AF65-F5344CB8AC3E}">
        <p14:creationId xmlns:p14="http://schemas.microsoft.com/office/powerpoint/2010/main" val="1746833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B7445-89C2-7A61-67A6-37BFA1414E12}"/>
              </a:ext>
            </a:extLst>
          </p:cNvPr>
          <p:cNvSpPr>
            <a:spLocks noGrp="1"/>
          </p:cNvSpPr>
          <p:nvPr>
            <p:ph type="title"/>
          </p:nvPr>
        </p:nvSpPr>
        <p:spPr/>
        <p:txBody>
          <a:bodyPr/>
          <a:lstStyle/>
          <a:p>
            <a:r>
              <a:rPr lang="fr-FR" dirty="0"/>
              <a:t>Définition</a:t>
            </a:r>
          </a:p>
        </p:txBody>
      </p:sp>
      <p:sp>
        <p:nvSpPr>
          <p:cNvPr id="3" name="Espace réservé du contenu 2">
            <a:extLst>
              <a:ext uri="{FF2B5EF4-FFF2-40B4-BE49-F238E27FC236}">
                <a16:creationId xmlns:a16="http://schemas.microsoft.com/office/drawing/2014/main" id="{A8F50F5F-52DA-EA9B-481B-B61F1A9EC1A6}"/>
              </a:ext>
            </a:extLst>
          </p:cNvPr>
          <p:cNvSpPr>
            <a:spLocks noGrp="1"/>
          </p:cNvSpPr>
          <p:nvPr>
            <p:ph idx="1"/>
          </p:nvPr>
        </p:nvSpPr>
        <p:spPr/>
        <p:txBody>
          <a:bodyPr/>
          <a:lstStyle/>
          <a:p>
            <a:r>
              <a:rPr lang="fr-FR" dirty="0"/>
              <a:t>Planification, élaboration et mise en œuvre des politiques et procédures de sécurité visant à assurer l'authentification, l'autorisation, l'accès et l'audit appropriés des données et des actifs informationnels.</a:t>
            </a:r>
          </a:p>
        </p:txBody>
      </p:sp>
    </p:spTree>
    <p:extLst>
      <p:ext uri="{BB962C8B-B14F-4D97-AF65-F5344CB8AC3E}">
        <p14:creationId xmlns:p14="http://schemas.microsoft.com/office/powerpoint/2010/main" val="20675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C635DD-F7BE-F10B-30FB-2CA6A55181DD}"/>
              </a:ext>
            </a:extLst>
          </p:cNvPr>
          <p:cNvSpPr>
            <a:spLocks noGrp="1"/>
          </p:cNvSpPr>
          <p:nvPr>
            <p:ph type="title"/>
          </p:nvPr>
        </p:nvSpPr>
        <p:spPr/>
        <p:txBody>
          <a:bodyPr/>
          <a:lstStyle/>
          <a:p>
            <a:r>
              <a:rPr lang="fr-FR" dirty="0"/>
              <a:t>Buts</a:t>
            </a:r>
          </a:p>
        </p:txBody>
      </p:sp>
      <p:sp>
        <p:nvSpPr>
          <p:cNvPr id="3" name="Espace réservé du contenu 2">
            <a:extLst>
              <a:ext uri="{FF2B5EF4-FFF2-40B4-BE49-F238E27FC236}">
                <a16:creationId xmlns:a16="http://schemas.microsoft.com/office/drawing/2014/main" id="{2A9568B6-73A1-39D5-AC35-E70C31ED9947}"/>
              </a:ext>
            </a:extLst>
          </p:cNvPr>
          <p:cNvSpPr>
            <a:spLocks noGrp="1"/>
          </p:cNvSpPr>
          <p:nvPr>
            <p:ph idx="1"/>
          </p:nvPr>
        </p:nvSpPr>
        <p:spPr/>
        <p:txBody>
          <a:bodyPr/>
          <a:lstStyle/>
          <a:p>
            <a:r>
              <a:rPr lang="fr-FR" dirty="0"/>
              <a:t>Autoriser l'accès approprié aux données de l'entreprise et empêcher tout accès inapproprié</a:t>
            </a:r>
          </a:p>
          <a:p>
            <a:r>
              <a:rPr lang="fr-FR" dirty="0"/>
              <a:t>Comprendre et respecter toutes les réglementations et politiques pertinentes en matière de confidentialité et de protection des données</a:t>
            </a:r>
          </a:p>
          <a:p>
            <a:r>
              <a:rPr lang="fr-FR" dirty="0"/>
              <a:t>Veiller à ce que les besoins de confidentialité et de protection des données de toutes les parties prenantes soient respectés et audités.</a:t>
            </a:r>
          </a:p>
        </p:txBody>
      </p:sp>
    </p:spTree>
    <p:extLst>
      <p:ext uri="{BB962C8B-B14F-4D97-AF65-F5344CB8AC3E}">
        <p14:creationId xmlns:p14="http://schemas.microsoft.com/office/powerpoint/2010/main" val="3245922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C1F515-CEE0-29F3-F5A1-B11E6EA89478}"/>
              </a:ext>
            </a:extLst>
          </p:cNvPr>
          <p:cNvSpPr>
            <a:spLocks noGrp="1"/>
          </p:cNvSpPr>
          <p:nvPr>
            <p:ph type="title"/>
          </p:nvPr>
        </p:nvSpPr>
        <p:spPr/>
        <p:txBody>
          <a:bodyPr/>
          <a:lstStyle/>
          <a:p>
            <a:r>
              <a:rPr lang="fr-FR" dirty="0"/>
              <a:t>Plusieurs niveaux</a:t>
            </a:r>
          </a:p>
        </p:txBody>
      </p:sp>
      <p:sp>
        <p:nvSpPr>
          <p:cNvPr id="3" name="Espace réservé du contenu 2">
            <a:extLst>
              <a:ext uri="{FF2B5EF4-FFF2-40B4-BE49-F238E27FC236}">
                <a16:creationId xmlns:a16="http://schemas.microsoft.com/office/drawing/2014/main" id="{75041F58-B263-6FB0-05E3-3F2DF09B37E5}"/>
              </a:ext>
            </a:extLst>
          </p:cNvPr>
          <p:cNvSpPr>
            <a:spLocks noGrp="1"/>
          </p:cNvSpPr>
          <p:nvPr>
            <p:ph idx="1"/>
          </p:nvPr>
        </p:nvSpPr>
        <p:spPr/>
        <p:txBody>
          <a:bodyPr/>
          <a:lstStyle/>
          <a:p>
            <a:endParaRPr lang="fr-FR"/>
          </a:p>
        </p:txBody>
      </p:sp>
      <p:pic>
        <p:nvPicPr>
          <p:cNvPr id="5" name="Image 4" descr="Une image contenant texte, capture d’écran, Police&#10;&#10;Le contenu généré par l’IA peut être incorrect.">
            <a:extLst>
              <a:ext uri="{FF2B5EF4-FFF2-40B4-BE49-F238E27FC236}">
                <a16:creationId xmlns:a16="http://schemas.microsoft.com/office/drawing/2014/main" id="{3589AA9D-CEE8-909C-79AD-DE7C279E0859}"/>
              </a:ext>
            </a:extLst>
          </p:cNvPr>
          <p:cNvPicPr>
            <a:picLocks noChangeAspect="1"/>
          </p:cNvPicPr>
          <p:nvPr/>
        </p:nvPicPr>
        <p:blipFill>
          <a:blip r:embed="rId2"/>
          <a:stretch>
            <a:fillRect/>
          </a:stretch>
        </p:blipFill>
        <p:spPr>
          <a:xfrm>
            <a:off x="1494995" y="971207"/>
            <a:ext cx="6154009" cy="4915586"/>
          </a:xfrm>
          <a:prstGeom prst="rect">
            <a:avLst/>
          </a:prstGeom>
        </p:spPr>
      </p:pic>
    </p:spTree>
    <p:extLst>
      <p:ext uri="{BB962C8B-B14F-4D97-AF65-F5344CB8AC3E}">
        <p14:creationId xmlns:p14="http://schemas.microsoft.com/office/powerpoint/2010/main" val="3183484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BE4116-B201-C25B-4D4E-EF15D9A4AE58}"/>
              </a:ext>
            </a:extLst>
          </p:cNvPr>
          <p:cNvSpPr>
            <a:spLocks noGrp="1"/>
          </p:cNvSpPr>
          <p:nvPr>
            <p:ph type="title"/>
          </p:nvPr>
        </p:nvSpPr>
        <p:spPr/>
        <p:txBody>
          <a:bodyPr/>
          <a:lstStyle/>
          <a:p>
            <a:r>
              <a:rPr lang="fr-FR" dirty="0"/>
              <a:t>Classification</a:t>
            </a:r>
          </a:p>
        </p:txBody>
      </p:sp>
      <p:sp>
        <p:nvSpPr>
          <p:cNvPr id="3" name="Espace réservé du contenu 2">
            <a:extLst>
              <a:ext uri="{FF2B5EF4-FFF2-40B4-BE49-F238E27FC236}">
                <a16:creationId xmlns:a16="http://schemas.microsoft.com/office/drawing/2014/main" id="{25B65886-1BF7-40F7-3036-F52783A7EAF2}"/>
              </a:ext>
            </a:extLst>
          </p:cNvPr>
          <p:cNvSpPr>
            <a:spLocks noGrp="1"/>
          </p:cNvSpPr>
          <p:nvPr>
            <p:ph idx="1"/>
          </p:nvPr>
        </p:nvSpPr>
        <p:spPr/>
        <p:txBody>
          <a:bodyPr/>
          <a:lstStyle/>
          <a:p>
            <a:r>
              <a:rPr lang="fr-FR" sz="2400" dirty="0"/>
              <a:t>Critical Risk Data (CRD)</a:t>
            </a:r>
          </a:p>
          <a:p>
            <a:pPr lvl="1"/>
            <a:r>
              <a:rPr lang="fr-FR" sz="2000" dirty="0"/>
              <a:t>Entrainerais de graves conséquences pour l'entreprise et les personnes</a:t>
            </a:r>
          </a:p>
          <a:p>
            <a:r>
              <a:rPr lang="fr-FR" sz="2400" dirty="0"/>
              <a:t>High Risk Data (HRD)</a:t>
            </a:r>
          </a:p>
          <a:p>
            <a:pPr lvl="1"/>
            <a:r>
              <a:rPr lang="fr-FR" sz="2000" dirty="0"/>
              <a:t>Risque financier, de concurrence, sur les personnes</a:t>
            </a:r>
          </a:p>
          <a:p>
            <a:r>
              <a:rPr lang="fr-FR" sz="2400" dirty="0" err="1"/>
              <a:t>Moderate</a:t>
            </a:r>
            <a:r>
              <a:rPr lang="fr-FR" sz="2400" dirty="0"/>
              <a:t> Risk Data (MRD)</a:t>
            </a:r>
          </a:p>
          <a:p>
            <a:pPr lvl="1"/>
            <a:r>
              <a:rPr lang="fr-FR" sz="2000" dirty="0"/>
              <a:t>Risque raisonnable</a:t>
            </a:r>
          </a:p>
          <a:p>
            <a:r>
              <a:rPr lang="fr-FR" sz="2400" dirty="0"/>
              <a:t>No Risk</a:t>
            </a:r>
          </a:p>
          <a:p>
            <a:pPr lvl="1"/>
            <a:endParaRPr lang="fr-FR" sz="2000" dirty="0"/>
          </a:p>
          <a:p>
            <a:endParaRPr lang="fr-FR" sz="2400" dirty="0"/>
          </a:p>
        </p:txBody>
      </p:sp>
    </p:spTree>
    <p:extLst>
      <p:ext uri="{BB962C8B-B14F-4D97-AF65-F5344CB8AC3E}">
        <p14:creationId xmlns:p14="http://schemas.microsoft.com/office/powerpoint/2010/main" val="3784841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C8EF6A-629F-4515-A6F2-DECC69C62908}"/>
              </a:ext>
            </a:extLst>
          </p:cNvPr>
          <p:cNvSpPr>
            <a:spLocks noGrp="1"/>
          </p:cNvSpPr>
          <p:nvPr>
            <p:ph type="title"/>
          </p:nvPr>
        </p:nvSpPr>
        <p:spPr/>
        <p:txBody>
          <a:bodyPr/>
          <a:lstStyle/>
          <a:p>
            <a:r>
              <a:rPr lang="fr-FR" dirty="0"/>
              <a:t>Les 4 A</a:t>
            </a:r>
          </a:p>
        </p:txBody>
      </p:sp>
      <p:sp>
        <p:nvSpPr>
          <p:cNvPr id="3" name="Espace réservé du contenu 2">
            <a:extLst>
              <a:ext uri="{FF2B5EF4-FFF2-40B4-BE49-F238E27FC236}">
                <a16:creationId xmlns:a16="http://schemas.microsoft.com/office/drawing/2014/main" id="{0A68CBF9-6D99-B732-D9E2-E89D156A587B}"/>
              </a:ext>
            </a:extLst>
          </p:cNvPr>
          <p:cNvSpPr>
            <a:spLocks noGrp="1"/>
          </p:cNvSpPr>
          <p:nvPr>
            <p:ph idx="1"/>
          </p:nvPr>
        </p:nvSpPr>
        <p:spPr/>
        <p:txBody>
          <a:bodyPr/>
          <a:lstStyle/>
          <a:p>
            <a:r>
              <a:rPr lang="fr-FR" dirty="0"/>
              <a:t>Access</a:t>
            </a:r>
          </a:p>
          <a:p>
            <a:r>
              <a:rPr lang="fr-FR" dirty="0"/>
              <a:t>Audit</a:t>
            </a:r>
          </a:p>
          <a:p>
            <a:r>
              <a:rPr lang="fr-FR" dirty="0" err="1"/>
              <a:t>Authentication</a:t>
            </a:r>
            <a:endParaRPr lang="fr-FR" dirty="0"/>
          </a:p>
          <a:p>
            <a:r>
              <a:rPr lang="fr-FR" dirty="0" err="1"/>
              <a:t>Authorization</a:t>
            </a:r>
            <a:endParaRPr lang="fr-FR" dirty="0"/>
          </a:p>
        </p:txBody>
      </p:sp>
    </p:spTree>
    <p:extLst>
      <p:ext uri="{BB962C8B-B14F-4D97-AF65-F5344CB8AC3E}">
        <p14:creationId xmlns:p14="http://schemas.microsoft.com/office/powerpoint/2010/main" val="434358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084200-1761-4A72-56A6-3057083BBE2A}"/>
              </a:ext>
            </a:extLst>
          </p:cNvPr>
          <p:cNvSpPr>
            <a:spLocks noGrp="1"/>
          </p:cNvSpPr>
          <p:nvPr>
            <p:ph type="title"/>
          </p:nvPr>
        </p:nvSpPr>
        <p:spPr/>
        <p:txBody>
          <a:bodyPr/>
          <a:lstStyle/>
          <a:p>
            <a:r>
              <a:rPr lang="fr-FR" dirty="0"/>
              <a:t>Access</a:t>
            </a:r>
          </a:p>
        </p:txBody>
      </p:sp>
      <p:sp>
        <p:nvSpPr>
          <p:cNvPr id="3" name="Espace réservé du contenu 2">
            <a:extLst>
              <a:ext uri="{FF2B5EF4-FFF2-40B4-BE49-F238E27FC236}">
                <a16:creationId xmlns:a16="http://schemas.microsoft.com/office/drawing/2014/main" id="{FDCB89A0-E992-EF53-D41E-FD6338AD3E84}"/>
              </a:ext>
            </a:extLst>
          </p:cNvPr>
          <p:cNvSpPr>
            <a:spLocks noGrp="1"/>
          </p:cNvSpPr>
          <p:nvPr>
            <p:ph idx="1"/>
          </p:nvPr>
        </p:nvSpPr>
        <p:spPr/>
        <p:txBody>
          <a:bodyPr/>
          <a:lstStyle/>
          <a:p>
            <a:r>
              <a:rPr lang="fr-FR" dirty="0"/>
              <a:t>Permettre aux personnes autorisées d'accéder aux systèmes en temps opportun</a:t>
            </a:r>
          </a:p>
          <a:p>
            <a:r>
              <a:rPr lang="fr-FR" dirty="0"/>
              <a:t>L'accès, signifie se connecter activement à un système d'information et manipuler les données</a:t>
            </a:r>
          </a:p>
          <a:p>
            <a:r>
              <a:rPr lang="fr-FR" dirty="0"/>
              <a:t>L'accès indique que la personne dispose d'une autorisation valide pour accéder aux données</a:t>
            </a:r>
          </a:p>
          <a:p>
            <a:r>
              <a:rPr lang="fr-FR" dirty="0"/>
              <a:t>CRUD</a:t>
            </a:r>
          </a:p>
          <a:p>
            <a:pPr lvl="1"/>
            <a:r>
              <a:rPr lang="fr-FR" dirty="0" err="1"/>
              <a:t>Create</a:t>
            </a:r>
            <a:r>
              <a:rPr lang="fr-FR" dirty="0"/>
              <a:t> </a:t>
            </a:r>
            <a:r>
              <a:rPr lang="fr-FR" dirty="0" err="1"/>
              <a:t>Request</a:t>
            </a:r>
            <a:r>
              <a:rPr lang="fr-FR" dirty="0"/>
              <a:t> Update </a:t>
            </a:r>
            <a:r>
              <a:rPr lang="fr-FR" dirty="0" err="1"/>
              <a:t>Delete</a:t>
            </a:r>
            <a:endParaRPr lang="fr-FR" dirty="0"/>
          </a:p>
        </p:txBody>
      </p:sp>
    </p:spTree>
    <p:extLst>
      <p:ext uri="{BB962C8B-B14F-4D97-AF65-F5344CB8AC3E}">
        <p14:creationId xmlns:p14="http://schemas.microsoft.com/office/powerpoint/2010/main" val="763571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E16B5C-DDF8-8088-E57B-C6AA4B687B43}"/>
              </a:ext>
            </a:extLst>
          </p:cNvPr>
          <p:cNvSpPr>
            <a:spLocks noGrp="1"/>
          </p:cNvSpPr>
          <p:nvPr>
            <p:ph type="title"/>
          </p:nvPr>
        </p:nvSpPr>
        <p:spPr/>
        <p:txBody>
          <a:bodyPr/>
          <a:lstStyle/>
          <a:p>
            <a:r>
              <a:rPr lang="fr-FR" dirty="0"/>
              <a:t>Audit</a:t>
            </a:r>
          </a:p>
        </p:txBody>
      </p:sp>
      <p:sp>
        <p:nvSpPr>
          <p:cNvPr id="3" name="Espace réservé du contenu 2">
            <a:extLst>
              <a:ext uri="{FF2B5EF4-FFF2-40B4-BE49-F238E27FC236}">
                <a16:creationId xmlns:a16="http://schemas.microsoft.com/office/drawing/2014/main" id="{5B294378-A590-646A-18DC-6EF706696B85}"/>
              </a:ext>
            </a:extLst>
          </p:cNvPr>
          <p:cNvSpPr>
            <a:spLocks noGrp="1"/>
          </p:cNvSpPr>
          <p:nvPr>
            <p:ph idx="1"/>
          </p:nvPr>
        </p:nvSpPr>
        <p:spPr/>
        <p:txBody>
          <a:bodyPr/>
          <a:lstStyle/>
          <a:p>
            <a:r>
              <a:rPr lang="fr-FR" dirty="0"/>
              <a:t>Examiner les actions de sécurité et l'activité des utilisateurs afin de garantir la conformité aux réglementations et aux politiques et normes de l'entreprise</a:t>
            </a:r>
          </a:p>
          <a:p>
            <a:r>
              <a:rPr lang="fr-FR" dirty="0"/>
              <a:t>Les professionnels de la sécurité de l'information examinent périodiquement les journaux et les documents pour vérifier la conformité aux réglementations, politiques et normes de sécurité. Les résultats de ces audits sont publiés périodiquement</a:t>
            </a:r>
          </a:p>
        </p:txBody>
      </p:sp>
    </p:spTree>
    <p:extLst>
      <p:ext uri="{BB962C8B-B14F-4D97-AF65-F5344CB8AC3E}">
        <p14:creationId xmlns:p14="http://schemas.microsoft.com/office/powerpoint/2010/main" val="1974049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FAD680-8706-E724-E754-713812A67B1B}"/>
              </a:ext>
            </a:extLst>
          </p:cNvPr>
          <p:cNvSpPr>
            <a:spLocks noGrp="1"/>
          </p:cNvSpPr>
          <p:nvPr>
            <p:ph type="title"/>
          </p:nvPr>
        </p:nvSpPr>
        <p:spPr/>
        <p:txBody>
          <a:bodyPr/>
          <a:lstStyle/>
          <a:p>
            <a:r>
              <a:rPr lang="fr-FR" dirty="0" err="1"/>
              <a:t>Authentication</a:t>
            </a:r>
            <a:endParaRPr lang="fr-FR" dirty="0"/>
          </a:p>
        </p:txBody>
      </p:sp>
      <p:sp>
        <p:nvSpPr>
          <p:cNvPr id="3" name="Espace réservé du contenu 2">
            <a:extLst>
              <a:ext uri="{FF2B5EF4-FFF2-40B4-BE49-F238E27FC236}">
                <a16:creationId xmlns:a16="http://schemas.microsoft.com/office/drawing/2014/main" id="{D8CD4D92-B326-674A-0BF4-4D02F5F221F0}"/>
              </a:ext>
            </a:extLst>
          </p:cNvPr>
          <p:cNvSpPr>
            <a:spLocks noGrp="1"/>
          </p:cNvSpPr>
          <p:nvPr>
            <p:ph idx="1"/>
          </p:nvPr>
        </p:nvSpPr>
        <p:spPr/>
        <p:txBody>
          <a:bodyPr/>
          <a:lstStyle/>
          <a:p>
            <a:r>
              <a:rPr lang="fr-FR" dirty="0"/>
              <a:t>Valider l'accès des utilisateurs</a:t>
            </a:r>
          </a:p>
          <a:p>
            <a:r>
              <a:rPr lang="fr-FR" dirty="0"/>
              <a:t>Lorsqu'un utilisateur tente de se connecter à un système, ce dernier doit vérifier son </a:t>
            </a:r>
            <a:r>
              <a:rPr lang="fr-FR" dirty="0" err="1"/>
              <a:t>identit</a:t>
            </a:r>
            <a:endParaRPr lang="fr-FR" dirty="0"/>
          </a:p>
          <a:p>
            <a:r>
              <a:rPr lang="fr-FR" dirty="0"/>
              <a:t> Les mots de passe constituent une solution</a:t>
            </a:r>
          </a:p>
          <a:p>
            <a:r>
              <a:rPr lang="fr-FR" dirty="0"/>
              <a:t>Des méthodes d'authentification plus strictes incluent l'utilisation d'un jeton de sécurité, la réponse à des questions ou la saisie d'une empreinte digitale</a:t>
            </a:r>
          </a:p>
          <a:p>
            <a:r>
              <a:rPr lang="fr-FR" dirty="0"/>
              <a:t>Toutes les transmissions lors de l'authentification sont chiffrées afin d'empêcher le vol des informations d'authentification.</a:t>
            </a:r>
          </a:p>
        </p:txBody>
      </p:sp>
    </p:spTree>
    <p:extLst>
      <p:ext uri="{BB962C8B-B14F-4D97-AF65-F5344CB8AC3E}">
        <p14:creationId xmlns:p14="http://schemas.microsoft.com/office/powerpoint/2010/main" val="1019290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6B4584-E82F-4DF2-9B16-8201B9733EB8}"/>
              </a:ext>
            </a:extLst>
          </p:cNvPr>
          <p:cNvSpPr>
            <a:spLocks noGrp="1"/>
          </p:cNvSpPr>
          <p:nvPr>
            <p:ph type="title"/>
          </p:nvPr>
        </p:nvSpPr>
        <p:spPr/>
        <p:txBody>
          <a:bodyPr/>
          <a:lstStyle/>
          <a:p>
            <a:r>
              <a:rPr lang="fr-FR" dirty="0" err="1"/>
              <a:t>Authentication</a:t>
            </a:r>
            <a:endParaRPr lang="fr-FR" dirty="0"/>
          </a:p>
        </p:txBody>
      </p:sp>
      <p:sp>
        <p:nvSpPr>
          <p:cNvPr id="3" name="Espace réservé du contenu 2">
            <a:extLst>
              <a:ext uri="{FF2B5EF4-FFF2-40B4-BE49-F238E27FC236}">
                <a16:creationId xmlns:a16="http://schemas.microsoft.com/office/drawing/2014/main" id="{CC1C6AEA-8DFC-47C2-CE5A-A73662268BBF}"/>
              </a:ext>
            </a:extLst>
          </p:cNvPr>
          <p:cNvSpPr>
            <a:spLocks noGrp="1"/>
          </p:cNvSpPr>
          <p:nvPr>
            <p:ph idx="1"/>
          </p:nvPr>
        </p:nvSpPr>
        <p:spPr/>
        <p:txBody>
          <a:bodyPr/>
          <a:lstStyle/>
          <a:p>
            <a:r>
              <a:rPr lang="fr-FR" dirty="0"/>
              <a:t>L'authentification entraine plusieurs concepts</a:t>
            </a:r>
          </a:p>
          <a:p>
            <a:r>
              <a:rPr lang="fr-FR" dirty="0"/>
              <a:t>MFA</a:t>
            </a:r>
          </a:p>
          <a:p>
            <a:pPr lvl="1"/>
            <a:r>
              <a:rPr lang="fr-FR" dirty="0"/>
              <a:t>Multi Factor Autorisation</a:t>
            </a:r>
          </a:p>
          <a:p>
            <a:pPr lvl="1"/>
            <a:r>
              <a:rPr lang="fr-FR" dirty="0"/>
              <a:t>Authentification par mot de passe puis d'autres méthodes</a:t>
            </a:r>
          </a:p>
          <a:p>
            <a:r>
              <a:rPr lang="fr-FR" dirty="0"/>
              <a:t>Cryptage</a:t>
            </a:r>
          </a:p>
          <a:p>
            <a:pPr lvl="1"/>
            <a:r>
              <a:rPr lang="fr-FR" dirty="0"/>
              <a:t>Cryptage asymétrique</a:t>
            </a:r>
          </a:p>
          <a:p>
            <a:r>
              <a:rPr lang="fr-FR" dirty="0"/>
              <a:t>Signature</a:t>
            </a:r>
          </a:p>
          <a:p>
            <a:pPr lvl="1"/>
            <a:r>
              <a:rPr lang="fr-FR" dirty="0"/>
              <a:t>S'assurer que c'est la bonne personne qui répond</a:t>
            </a:r>
          </a:p>
          <a:p>
            <a:pPr lvl="1"/>
            <a:endParaRPr lang="fr-FR" dirty="0"/>
          </a:p>
        </p:txBody>
      </p:sp>
    </p:spTree>
    <p:extLst>
      <p:ext uri="{BB962C8B-B14F-4D97-AF65-F5344CB8AC3E}">
        <p14:creationId xmlns:p14="http://schemas.microsoft.com/office/powerpoint/2010/main" val="295507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86B962-07C5-D4B9-CEFD-7E83B74FE14A}"/>
              </a:ext>
            </a:extLst>
          </p:cNvPr>
          <p:cNvSpPr>
            <a:spLocks noGrp="1"/>
          </p:cNvSpPr>
          <p:nvPr>
            <p:ph type="title"/>
          </p:nvPr>
        </p:nvSpPr>
        <p:spPr/>
        <p:txBody>
          <a:bodyPr/>
          <a:lstStyle/>
          <a:p>
            <a:r>
              <a:rPr lang="fr-FR" dirty="0" err="1"/>
              <a:t>Authorization</a:t>
            </a:r>
            <a:endParaRPr lang="fr-FR" dirty="0"/>
          </a:p>
        </p:txBody>
      </p:sp>
      <p:sp>
        <p:nvSpPr>
          <p:cNvPr id="3" name="Espace réservé du contenu 2">
            <a:extLst>
              <a:ext uri="{FF2B5EF4-FFF2-40B4-BE49-F238E27FC236}">
                <a16:creationId xmlns:a16="http://schemas.microsoft.com/office/drawing/2014/main" id="{93F935B3-E70D-E2D2-A893-B8847511FBA5}"/>
              </a:ext>
            </a:extLst>
          </p:cNvPr>
          <p:cNvSpPr>
            <a:spLocks noGrp="1"/>
          </p:cNvSpPr>
          <p:nvPr>
            <p:ph idx="1"/>
          </p:nvPr>
        </p:nvSpPr>
        <p:spPr/>
        <p:txBody>
          <a:bodyPr/>
          <a:lstStyle/>
          <a:p>
            <a:r>
              <a:rPr lang="fr-FR" dirty="0"/>
              <a:t>Accorder aux utilisateurs des privilèges d'accès à des vues de données spécifiques, adaptés à leur rôle</a:t>
            </a:r>
          </a:p>
          <a:p>
            <a:r>
              <a:rPr lang="fr-FR" dirty="0"/>
              <a:t>Après la décision d'autorisation, le système de contrôle d'accès vérifie à chaque connexion la validité du jeton d'autorisation</a:t>
            </a:r>
          </a:p>
          <a:p>
            <a:r>
              <a:rPr lang="fr-FR" dirty="0"/>
              <a:t>Technologies</a:t>
            </a:r>
          </a:p>
          <a:p>
            <a:pPr lvl="1"/>
            <a:r>
              <a:rPr lang="fr-FR" dirty="0"/>
              <a:t>LDAP, Active Directory, </a:t>
            </a:r>
            <a:r>
              <a:rPr lang="fr-FR" dirty="0" err="1"/>
              <a:t>Tokens</a:t>
            </a:r>
            <a:r>
              <a:rPr lang="fr-FR" dirty="0"/>
              <a:t>, …</a:t>
            </a:r>
          </a:p>
        </p:txBody>
      </p:sp>
    </p:spTree>
    <p:extLst>
      <p:ext uri="{BB962C8B-B14F-4D97-AF65-F5344CB8AC3E}">
        <p14:creationId xmlns:p14="http://schemas.microsoft.com/office/powerpoint/2010/main" val="1318853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239C71-9CBC-D390-C864-077F1F7B9E16}"/>
              </a:ext>
            </a:extLst>
          </p:cNvPr>
          <p:cNvSpPr>
            <a:spLocks noGrp="1"/>
          </p:cNvSpPr>
          <p:nvPr>
            <p:ph type="title"/>
          </p:nvPr>
        </p:nvSpPr>
        <p:spPr/>
        <p:txBody>
          <a:bodyPr/>
          <a:lstStyle/>
          <a:p>
            <a:r>
              <a:rPr lang="fr-FR" dirty="0"/>
              <a:t>Cryptage</a:t>
            </a:r>
          </a:p>
        </p:txBody>
      </p:sp>
      <p:sp>
        <p:nvSpPr>
          <p:cNvPr id="3" name="Espace réservé du contenu 2">
            <a:extLst>
              <a:ext uri="{FF2B5EF4-FFF2-40B4-BE49-F238E27FC236}">
                <a16:creationId xmlns:a16="http://schemas.microsoft.com/office/drawing/2014/main" id="{14568C5A-252D-9BB4-7B9A-31957E93E944}"/>
              </a:ext>
            </a:extLst>
          </p:cNvPr>
          <p:cNvSpPr>
            <a:spLocks noGrp="1"/>
          </p:cNvSpPr>
          <p:nvPr>
            <p:ph idx="1"/>
          </p:nvPr>
        </p:nvSpPr>
        <p:spPr/>
        <p:txBody>
          <a:bodyPr/>
          <a:lstStyle/>
          <a:p>
            <a:r>
              <a:rPr lang="fr-FR" dirty="0"/>
              <a:t>Explication du cryptage</a:t>
            </a:r>
          </a:p>
        </p:txBody>
      </p:sp>
    </p:spTree>
    <p:extLst>
      <p:ext uri="{BB962C8B-B14F-4D97-AF65-F5344CB8AC3E}">
        <p14:creationId xmlns:p14="http://schemas.microsoft.com/office/powerpoint/2010/main" val="733775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A2FCE0-616A-E1F8-C468-9EB250BE7180}"/>
              </a:ext>
            </a:extLst>
          </p:cNvPr>
          <p:cNvSpPr>
            <a:spLocks noGrp="1"/>
          </p:cNvSpPr>
          <p:nvPr>
            <p:ph type="title"/>
          </p:nvPr>
        </p:nvSpPr>
        <p:spPr/>
        <p:txBody>
          <a:bodyPr/>
          <a:lstStyle/>
          <a:p>
            <a:r>
              <a:rPr lang="fr-FR" dirty="0"/>
              <a:t>OWASP</a:t>
            </a:r>
          </a:p>
        </p:txBody>
      </p:sp>
      <p:sp>
        <p:nvSpPr>
          <p:cNvPr id="3" name="Espace réservé du contenu 2">
            <a:extLst>
              <a:ext uri="{FF2B5EF4-FFF2-40B4-BE49-F238E27FC236}">
                <a16:creationId xmlns:a16="http://schemas.microsoft.com/office/drawing/2014/main" id="{DC10DB3A-4194-5A20-4A0C-5C4CFBF9C66A}"/>
              </a:ext>
            </a:extLst>
          </p:cNvPr>
          <p:cNvSpPr>
            <a:spLocks noGrp="1"/>
          </p:cNvSpPr>
          <p:nvPr>
            <p:ph idx="1"/>
          </p:nvPr>
        </p:nvSpPr>
        <p:spPr/>
        <p:txBody>
          <a:bodyPr/>
          <a:lstStyle/>
          <a:p>
            <a:r>
              <a:rPr lang="fr-FR" dirty="0"/>
              <a:t>Organisme spécialisé dans la sécurité Web</a:t>
            </a:r>
          </a:p>
          <a:p>
            <a:r>
              <a:rPr lang="fr-FR" dirty="0"/>
              <a:t>Voir le TOP 10</a:t>
            </a:r>
          </a:p>
          <a:p>
            <a:r>
              <a:rPr lang="fr-FR" dirty="0"/>
              <a:t>owasp.org</a:t>
            </a:r>
          </a:p>
        </p:txBody>
      </p:sp>
    </p:spTree>
    <p:extLst>
      <p:ext uri="{BB962C8B-B14F-4D97-AF65-F5344CB8AC3E}">
        <p14:creationId xmlns:p14="http://schemas.microsoft.com/office/powerpoint/2010/main" val="3459771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516618-E48C-2356-1587-3157C8AA0010}"/>
              </a:ext>
            </a:extLst>
          </p:cNvPr>
          <p:cNvSpPr>
            <a:spLocks noGrp="1"/>
          </p:cNvSpPr>
          <p:nvPr>
            <p:ph type="title"/>
          </p:nvPr>
        </p:nvSpPr>
        <p:spPr/>
        <p:txBody>
          <a:bodyPr/>
          <a:lstStyle/>
          <a:p>
            <a:r>
              <a:rPr lang="fr-FR" dirty="0"/>
              <a:t>Les sécurités</a:t>
            </a:r>
          </a:p>
        </p:txBody>
      </p:sp>
      <p:sp>
        <p:nvSpPr>
          <p:cNvPr id="3" name="Espace réservé du contenu 2">
            <a:extLst>
              <a:ext uri="{FF2B5EF4-FFF2-40B4-BE49-F238E27FC236}">
                <a16:creationId xmlns:a16="http://schemas.microsoft.com/office/drawing/2014/main" id="{68F93107-313A-D0F1-2069-5245C396E663}"/>
              </a:ext>
            </a:extLst>
          </p:cNvPr>
          <p:cNvSpPr>
            <a:spLocks noGrp="1"/>
          </p:cNvSpPr>
          <p:nvPr>
            <p:ph idx="1"/>
          </p:nvPr>
        </p:nvSpPr>
        <p:spPr/>
        <p:txBody>
          <a:bodyPr/>
          <a:lstStyle/>
          <a:p>
            <a:r>
              <a:rPr lang="fr-FR" dirty="0"/>
              <a:t>La sécurité du réseau</a:t>
            </a:r>
          </a:p>
          <a:p>
            <a:pPr lvl="1"/>
            <a:r>
              <a:rPr lang="fr-FR" dirty="0"/>
              <a:t>Géré par la DSI</a:t>
            </a:r>
          </a:p>
          <a:p>
            <a:r>
              <a:rPr lang="fr-FR"/>
              <a:t>La </a:t>
            </a:r>
            <a:r>
              <a:rPr lang="fr-FR" dirty="0"/>
              <a:t>sécurité système</a:t>
            </a:r>
          </a:p>
          <a:p>
            <a:pPr lvl="1"/>
            <a:r>
              <a:rPr lang="fr-FR" dirty="0"/>
              <a:t>La sécurité des </a:t>
            </a:r>
            <a:r>
              <a:rPr lang="fr-FR" dirty="0" err="1"/>
              <a:t>PCs</a:t>
            </a:r>
            <a:r>
              <a:rPr lang="fr-FR" dirty="0"/>
              <a:t> et serveurs</a:t>
            </a:r>
          </a:p>
          <a:p>
            <a:r>
              <a:rPr lang="fr-FR" dirty="0"/>
              <a:t>La sécurité Web</a:t>
            </a:r>
          </a:p>
          <a:p>
            <a:pPr lvl="1"/>
            <a:r>
              <a:rPr lang="fr-FR" dirty="0"/>
              <a:t>OWASP</a:t>
            </a:r>
          </a:p>
          <a:p>
            <a:r>
              <a:rPr lang="fr-FR" dirty="0"/>
              <a:t>La sécurité applicative</a:t>
            </a:r>
          </a:p>
          <a:p>
            <a:pPr lvl="1"/>
            <a:r>
              <a:rPr lang="fr-FR" dirty="0"/>
              <a:t>Gérée par les développeurs</a:t>
            </a:r>
          </a:p>
          <a:p>
            <a:r>
              <a:rPr lang="fr-FR" dirty="0"/>
              <a:t>LA sécurité des données</a:t>
            </a:r>
          </a:p>
          <a:p>
            <a:pPr lvl="1"/>
            <a:r>
              <a:rPr lang="fr-FR" dirty="0"/>
              <a:t>Gérée par les SGBD et la sécurité applicative</a:t>
            </a:r>
          </a:p>
          <a:p>
            <a:pPr lvl="1"/>
            <a:endParaRPr lang="fr-FR" dirty="0"/>
          </a:p>
        </p:txBody>
      </p:sp>
    </p:spTree>
    <p:extLst>
      <p:ext uri="{BB962C8B-B14F-4D97-AF65-F5344CB8AC3E}">
        <p14:creationId xmlns:p14="http://schemas.microsoft.com/office/powerpoint/2010/main" val="755327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DE7F09-187B-FFA7-07CC-3C564434B2DD}"/>
              </a:ext>
            </a:extLst>
          </p:cNvPr>
          <p:cNvSpPr>
            <a:spLocks noGrp="1"/>
          </p:cNvSpPr>
          <p:nvPr>
            <p:ph type="title"/>
          </p:nvPr>
        </p:nvSpPr>
        <p:spPr/>
        <p:txBody>
          <a:bodyPr/>
          <a:lstStyle/>
          <a:p>
            <a:r>
              <a:rPr lang="fr-FR" dirty="0"/>
              <a:t>TP</a:t>
            </a:r>
          </a:p>
        </p:txBody>
      </p:sp>
      <p:sp>
        <p:nvSpPr>
          <p:cNvPr id="3" name="Espace réservé du contenu 2">
            <a:extLst>
              <a:ext uri="{FF2B5EF4-FFF2-40B4-BE49-F238E27FC236}">
                <a16:creationId xmlns:a16="http://schemas.microsoft.com/office/drawing/2014/main" id="{F6586901-D165-8012-AEFC-47FDC58292FF}"/>
              </a:ext>
            </a:extLst>
          </p:cNvPr>
          <p:cNvSpPr>
            <a:spLocks noGrp="1"/>
          </p:cNvSpPr>
          <p:nvPr>
            <p:ph idx="1"/>
          </p:nvPr>
        </p:nvSpPr>
        <p:spPr/>
        <p:txBody>
          <a:bodyPr/>
          <a:lstStyle/>
          <a:p>
            <a:r>
              <a:rPr lang="fr-FR" dirty="0"/>
              <a:t>Dans votre projet définir la criticité des données</a:t>
            </a:r>
          </a:p>
          <a:p>
            <a:r>
              <a:rPr lang="fr-FR" dirty="0"/>
              <a:t>Quelle sécurité faut-il ? (cryptage, authentification, …)</a:t>
            </a:r>
          </a:p>
          <a:p>
            <a:r>
              <a:rPr lang="fr-FR" dirty="0"/>
              <a:t>Dans le cas d'une consultation d'un site web bancaire</a:t>
            </a:r>
          </a:p>
          <a:p>
            <a:pPr lvl="1"/>
            <a:r>
              <a:rPr lang="fr-FR" dirty="0"/>
              <a:t>Il y a un cryptage, mais ou se trouve la clé privée ? la clé publique ?</a:t>
            </a:r>
          </a:p>
          <a:p>
            <a:pPr lvl="1"/>
            <a:r>
              <a:rPr lang="fr-FR" dirty="0"/>
              <a:t>Comment casser ce cryptage ?</a:t>
            </a:r>
          </a:p>
          <a:p>
            <a:pPr lvl="1"/>
            <a:r>
              <a:rPr lang="fr-FR" dirty="0"/>
              <a:t>Il y a une authentification, comment la casser, quel est la solution ?</a:t>
            </a:r>
          </a:p>
          <a:p>
            <a:pPr lvl="1"/>
            <a:r>
              <a:rPr lang="fr-FR" dirty="0"/>
              <a:t>Comment être sure que c'est bien ma banque (</a:t>
            </a:r>
            <a:r>
              <a:rPr lang="fr-FR" dirty="0" err="1"/>
              <a:t>fishing</a:t>
            </a:r>
            <a:r>
              <a:rPr lang="fr-FR" dirty="0"/>
              <a:t>) ?</a:t>
            </a:r>
          </a:p>
        </p:txBody>
      </p:sp>
    </p:spTree>
    <p:extLst>
      <p:ext uri="{BB962C8B-B14F-4D97-AF65-F5344CB8AC3E}">
        <p14:creationId xmlns:p14="http://schemas.microsoft.com/office/powerpoint/2010/main" val="1055855073"/>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4892</TotalTime>
  <Words>529</Words>
  <Application>Microsoft Office PowerPoint</Application>
  <PresentationFormat>Affichage à l'écran (4:3)</PresentationFormat>
  <Paragraphs>78</Paragraphs>
  <Slides>16</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16</vt:i4>
      </vt:variant>
    </vt:vector>
  </HeadingPairs>
  <TitlesOfParts>
    <vt:vector size="20" baseType="lpstr">
      <vt:lpstr>Arial</vt:lpstr>
      <vt:lpstr>Monotype Sorts</vt:lpstr>
      <vt:lpstr>Times New Roman</vt:lpstr>
      <vt:lpstr>cvc</vt:lpstr>
      <vt:lpstr>Présentation PowerPoint</vt:lpstr>
      <vt:lpstr>Sécurité des données</vt:lpstr>
      <vt:lpstr>Définition</vt:lpstr>
      <vt:lpstr>Buts</vt:lpstr>
      <vt:lpstr>Plusieurs niveaux</vt:lpstr>
      <vt:lpstr>Classification</vt:lpstr>
      <vt:lpstr>Les 4 A</vt:lpstr>
      <vt:lpstr>Access</vt:lpstr>
      <vt:lpstr>Audit</vt:lpstr>
      <vt:lpstr>Authentication</vt:lpstr>
      <vt:lpstr>Authentication</vt:lpstr>
      <vt:lpstr>Authorization</vt:lpstr>
      <vt:lpstr>Cryptage</vt:lpstr>
      <vt:lpstr>OWASP</vt:lpstr>
      <vt:lpstr>Les sécurités</vt:lpstr>
      <vt:lpstr>TP</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259</cp:revision>
  <dcterms:created xsi:type="dcterms:W3CDTF">2000-04-10T19:33:12Z</dcterms:created>
  <dcterms:modified xsi:type="dcterms:W3CDTF">2026-01-07T15:26:17Z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