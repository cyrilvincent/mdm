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55"/>
  </p:notesMasterIdLst>
  <p:handoutMasterIdLst>
    <p:handoutMasterId r:id="rId56"/>
  </p:handoutMasterIdLst>
  <p:sldIdLst>
    <p:sldId id="264" r:id="rId2"/>
    <p:sldId id="257" r:id="rId3"/>
    <p:sldId id="334" r:id="rId4"/>
    <p:sldId id="308" r:id="rId5"/>
    <p:sldId id="309" r:id="rId6"/>
    <p:sldId id="286" r:id="rId7"/>
    <p:sldId id="287" r:id="rId8"/>
    <p:sldId id="259" r:id="rId9"/>
    <p:sldId id="344" r:id="rId10"/>
    <p:sldId id="345" r:id="rId11"/>
    <p:sldId id="288" r:id="rId12"/>
    <p:sldId id="289" r:id="rId13"/>
    <p:sldId id="290" r:id="rId14"/>
    <p:sldId id="346" r:id="rId15"/>
    <p:sldId id="291" r:id="rId16"/>
    <p:sldId id="304" r:id="rId17"/>
    <p:sldId id="305" r:id="rId18"/>
    <p:sldId id="306" r:id="rId19"/>
    <p:sldId id="307" r:id="rId20"/>
    <p:sldId id="332" r:id="rId21"/>
    <p:sldId id="266" r:id="rId22"/>
    <p:sldId id="268" r:id="rId23"/>
    <p:sldId id="269" r:id="rId24"/>
    <p:sldId id="270" r:id="rId25"/>
    <p:sldId id="272" r:id="rId26"/>
    <p:sldId id="325" r:id="rId27"/>
    <p:sldId id="343" r:id="rId28"/>
    <p:sldId id="323" r:id="rId29"/>
    <p:sldId id="267" r:id="rId30"/>
    <p:sldId id="348" r:id="rId31"/>
    <p:sldId id="349" r:id="rId32"/>
    <p:sldId id="350" r:id="rId33"/>
    <p:sldId id="271" r:id="rId34"/>
    <p:sldId id="351" r:id="rId35"/>
    <p:sldId id="352" r:id="rId36"/>
    <p:sldId id="358" r:id="rId37"/>
    <p:sldId id="273" r:id="rId38"/>
    <p:sldId id="277" r:id="rId39"/>
    <p:sldId id="319" r:id="rId40"/>
    <p:sldId id="278" r:id="rId41"/>
    <p:sldId id="279" r:id="rId42"/>
    <p:sldId id="283" r:id="rId43"/>
    <p:sldId id="365" r:id="rId44"/>
    <p:sldId id="265" r:id="rId45"/>
    <p:sldId id="366" r:id="rId46"/>
    <p:sldId id="326" r:id="rId47"/>
    <p:sldId id="376" r:id="rId48"/>
    <p:sldId id="377" r:id="rId49"/>
    <p:sldId id="363" r:id="rId50"/>
    <p:sldId id="379" r:id="rId51"/>
    <p:sldId id="382" r:id="rId52"/>
    <p:sldId id="318" r:id="rId53"/>
    <p:sldId id="383" r:id="rId54"/>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590" autoAdjust="0"/>
  </p:normalViewPr>
  <p:slideViewPr>
    <p:cSldViewPr>
      <p:cViewPr varScale="1">
        <p:scale>
          <a:sx n="70" d="100"/>
          <a:sy n="70" d="100"/>
        </p:scale>
        <p:origin x="931"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924" y="2430"/>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Expliquez comment chaque objectif sera évalué (quiz, échanges, mini‑exercices).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Introduire distinction entre IA faible (narrow) et IA générale (AGI).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Contextualiser données/compute; backpropagation (années 80).</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Illustrer avec exemple de pipeline de déploiement.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Demander des exemples métiers des participants.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877888" y="733425"/>
            <a:ext cx="4892675" cy="3670300"/>
          </a:xfrm>
        </p:spPr>
      </p:sp>
      <p:sp>
        <p:nvSpPr>
          <p:cNvPr id="3" name="Notes Placeholder 2"/>
          <p:cNvSpPr>
            <a:spLocks noGrp="1"/>
          </p:cNvSpPr>
          <p:nvPr>
            <p:ph type="body" sz="quarter" idx="3"/>
          </p:nvPr>
        </p:nvSpPr>
        <p:spPr/>
        <p:txBody>
          <a:bodyPr/>
          <a:lstStyle/>
          <a:p>
            <a:r>
              <a:t>Proposer un cadre d'évaluation des risques + mitigation.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Afficher aussi les abréviations courantes (AUC, ROC, MSE...).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dirty="0"/>
              <a:t>Python</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609015" y="1869334"/>
            <a:ext cx="6400800" cy="1752600"/>
          </a:xfrm>
        </p:spPr>
        <p:txBody>
          <a:bodyPr/>
          <a:lstStyle/>
          <a:p>
            <a:pPr eaLnBrk="1" hangingPunct="1"/>
            <a:r>
              <a:rPr lang="fr-FR" altLang="fr-FR" dirty="0"/>
              <a:t>Introduction</a:t>
            </a:r>
          </a:p>
        </p:txBody>
      </p:sp>
      <p:sp>
        <p:nvSpPr>
          <p:cNvPr id="3" name="ZoneTexte 2"/>
          <p:cNvSpPr txBox="1"/>
          <p:nvPr/>
        </p:nvSpPr>
        <p:spPr>
          <a:xfrm>
            <a:off x="4355976" y="738073"/>
            <a:ext cx="620683" cy="646331"/>
          </a:xfrm>
          <a:prstGeom prst="rect">
            <a:avLst/>
          </a:prstGeom>
          <a:noFill/>
        </p:spPr>
        <p:txBody>
          <a:bodyPr wrap="none" rtlCol="0">
            <a:spAutoFit/>
          </a:bodyPr>
          <a:lstStyle/>
          <a:p>
            <a:r>
              <a:rPr lang="fr-FR" sz="3600" dirty="0"/>
              <a:t>AI</a:t>
            </a:r>
          </a:p>
        </p:txBody>
      </p:sp>
      <p:pic>
        <p:nvPicPr>
          <p:cNvPr id="5" name="Image 4">
            <a:extLst>
              <a:ext uri="{FF2B5EF4-FFF2-40B4-BE49-F238E27FC236}">
                <a16:creationId xmlns:a16="http://schemas.microsoft.com/office/drawing/2014/main" id="{EBB0E3DE-7929-40C3-8F88-CAF151B25247}"/>
              </a:ext>
            </a:extLst>
          </p:cNvPr>
          <p:cNvPicPr>
            <a:picLocks noChangeAspect="1"/>
          </p:cNvPicPr>
          <p:nvPr/>
        </p:nvPicPr>
        <p:blipFill>
          <a:blip r:embed="rId2"/>
          <a:stretch>
            <a:fillRect/>
          </a:stretch>
        </p:blipFill>
        <p:spPr>
          <a:xfrm>
            <a:off x="-7459" y="3429000"/>
            <a:ext cx="9142310" cy="22412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Objectifs pédagogiques</a:t>
            </a:r>
          </a:p>
        </p:txBody>
      </p:sp>
      <p:sp>
        <p:nvSpPr>
          <p:cNvPr id="3" name="Content Placeholder 2"/>
          <p:cNvSpPr>
            <a:spLocks noGrp="1"/>
          </p:cNvSpPr>
          <p:nvPr>
            <p:ph idx="1"/>
          </p:nvPr>
        </p:nvSpPr>
        <p:spPr/>
        <p:txBody>
          <a:bodyPr/>
          <a:lstStyle/>
          <a:p>
            <a:r>
              <a:t>Comprendre ce qu'est l'IA et sa terminologie clé</a:t>
            </a:r>
          </a:p>
          <a:p>
            <a:r>
              <a:t>Distinguer IA, ML et Deep Learning</a:t>
            </a:r>
          </a:p>
          <a:p>
            <a:r>
              <a:t>Situer l'évolution historique et les ruptures récentes</a:t>
            </a:r>
          </a:p>
          <a:p>
            <a:r>
              <a:t>Relier Big Data, données et performance des modèles</a:t>
            </a:r>
          </a:p>
          <a:p>
            <a:r>
              <a:t>Identifier le potentiel et les limites (techniques &amp; sociétales)</a:t>
            </a:r>
          </a:p>
          <a:p>
            <a:r>
              <a:t>Discuter des cas emblématiques (échecs, Go, poker) et de leur portée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3579DF-66D0-4E22-BB39-CB7A8E021BB1}"/>
              </a:ext>
            </a:extLst>
          </p:cNvPr>
          <p:cNvSpPr>
            <a:spLocks noGrp="1"/>
          </p:cNvSpPr>
          <p:nvPr>
            <p:ph type="title"/>
          </p:nvPr>
        </p:nvSpPr>
        <p:spPr/>
        <p:txBody>
          <a:bodyPr/>
          <a:lstStyle/>
          <a:p>
            <a:endParaRPr lang="fr-FR"/>
          </a:p>
        </p:txBody>
      </p:sp>
      <p:pic>
        <p:nvPicPr>
          <p:cNvPr id="4" name="Picture 6" descr="Le rapport Villani sur l'intelligence artificielle est attendu pour janvier">
            <a:extLst>
              <a:ext uri="{FF2B5EF4-FFF2-40B4-BE49-F238E27FC236}">
                <a16:creationId xmlns:a16="http://schemas.microsoft.com/office/drawing/2014/main" id="{D868BDFA-9D78-4025-96A8-732E051C3A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77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74590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Difficultés</a:t>
            </a:r>
          </a:p>
        </p:txBody>
      </p:sp>
      <p:sp>
        <p:nvSpPr>
          <p:cNvPr id="3" name="Espace réservé du contenu 2"/>
          <p:cNvSpPr>
            <a:spLocks noGrp="1"/>
          </p:cNvSpPr>
          <p:nvPr>
            <p:ph idx="1"/>
          </p:nvPr>
        </p:nvSpPr>
        <p:spPr/>
        <p:txBody>
          <a:bodyPr/>
          <a:lstStyle/>
          <a:p>
            <a:r>
              <a:rPr lang="fr-FR" dirty="0"/>
              <a:t>Certains problèmes sont trop complexes pour être résolus par un algorithme</a:t>
            </a:r>
          </a:p>
          <a:p>
            <a:pPr lvl="1"/>
            <a:r>
              <a:rPr lang="fr-FR" dirty="0"/>
              <a:t>Comment reconnaitre un visage ?</a:t>
            </a:r>
          </a:p>
          <a:p>
            <a:pPr lvl="1"/>
            <a:r>
              <a:rPr lang="fr-FR" dirty="0"/>
              <a:t>Comment conduire une voiture ?</a:t>
            </a:r>
          </a:p>
          <a:p>
            <a:pPr lvl="1"/>
            <a:r>
              <a:rPr lang="fr-FR" dirty="0"/>
              <a:t>Est-ce la même personne ?</a:t>
            </a:r>
          </a:p>
          <a:p>
            <a:pPr lvl="1"/>
            <a:endParaRPr lang="fr-FR" dirty="0"/>
          </a:p>
          <a:p>
            <a:pPr lvl="1"/>
            <a:r>
              <a:rPr lang="fr-FR" dirty="0"/>
              <a:t>Les mesures anthropométriques ne suffisent pas</a:t>
            </a:r>
          </a:p>
        </p:txBody>
      </p:sp>
      <p:pic>
        <p:nvPicPr>
          <p:cNvPr id="1026" name="Picture 2" descr="RÃ©sultat de recherche d'images pour &quot;ia reconnaissance visage katy perry&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7259" y="1823841"/>
            <a:ext cx="3584552" cy="23897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Ã©sultat de recherche d'images pour &quot;deep learning  visage katy perry&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0352" y="1851480"/>
            <a:ext cx="1821722" cy="2362063"/>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p:cNvPicPr>
            <a:picLocks noChangeAspect="1"/>
          </p:cNvPicPr>
          <p:nvPr/>
        </p:nvPicPr>
        <p:blipFill>
          <a:blip r:embed="rId4"/>
          <a:stretch>
            <a:fillRect/>
          </a:stretch>
        </p:blipFill>
        <p:spPr>
          <a:xfrm>
            <a:off x="2339752" y="4529861"/>
            <a:ext cx="3751511" cy="2298271"/>
          </a:xfrm>
          <a:prstGeom prst="rect">
            <a:avLst/>
          </a:prstGeom>
        </p:spPr>
      </p:pic>
    </p:spTree>
    <p:extLst>
      <p:ext uri="{BB962C8B-B14F-4D97-AF65-F5344CB8AC3E}">
        <p14:creationId xmlns:p14="http://schemas.microsoft.com/office/powerpoint/2010/main" val="3995539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idx="1"/>
          </p:nvPr>
        </p:nvSpPr>
        <p:spPr/>
        <p:txBody>
          <a:bodyPr/>
          <a:lstStyle/>
          <a:p>
            <a:endParaRPr lang="fr-FR"/>
          </a:p>
        </p:txBody>
      </p:sp>
      <p:pic>
        <p:nvPicPr>
          <p:cNvPr id="1026" name="Picture 2" descr="RÃ©sultat de recherche d'images pour &quot;voiture autonom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672"/>
            <a:ext cx="9230645" cy="5733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982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L'intelligence artificielle</a:t>
            </a:r>
          </a:p>
        </p:txBody>
      </p:sp>
      <p:sp>
        <p:nvSpPr>
          <p:cNvPr id="3" name="Espace réservé du contenu 2"/>
          <p:cNvSpPr>
            <a:spLocks noGrp="1"/>
          </p:cNvSpPr>
          <p:nvPr>
            <p:ph idx="1"/>
          </p:nvPr>
        </p:nvSpPr>
        <p:spPr>
          <a:xfrm>
            <a:off x="179513" y="1412776"/>
            <a:ext cx="4392488" cy="5040560"/>
          </a:xfrm>
        </p:spPr>
        <p:txBody>
          <a:bodyPr/>
          <a:lstStyle/>
          <a:p>
            <a:r>
              <a:rPr lang="fr-FR" dirty="0"/>
              <a:t>l'IA est l'ensemble des théories et des techniques mises en œuvre en vue de réaliser des machines capables de simuler l'intelligence </a:t>
            </a:r>
          </a:p>
        </p:txBody>
      </p:sp>
      <p:pic>
        <p:nvPicPr>
          <p:cNvPr id="3074" name="Picture 2" descr="Image associÃ©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1412776"/>
            <a:ext cx="5238750" cy="3924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52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Test de Turing</a:t>
            </a:r>
          </a:p>
        </p:txBody>
      </p:sp>
      <p:sp>
        <p:nvSpPr>
          <p:cNvPr id="3" name="Espace réservé du contenu 2"/>
          <p:cNvSpPr>
            <a:spLocks noGrp="1"/>
          </p:cNvSpPr>
          <p:nvPr>
            <p:ph idx="1"/>
          </p:nvPr>
        </p:nvSpPr>
        <p:spPr>
          <a:xfrm>
            <a:off x="179513" y="1412776"/>
            <a:ext cx="6850928" cy="5040560"/>
          </a:xfrm>
        </p:spPr>
        <p:txBody>
          <a:bodyPr/>
          <a:lstStyle/>
          <a:p>
            <a:r>
              <a:rPr lang="fr-FR" dirty="0"/>
              <a:t>Le test de Turing est une proposition de test d’intelligence artificielle fondée sur la faculté d'une machine à imiter la conversation humaine</a:t>
            </a:r>
          </a:p>
          <a:p>
            <a:pPr lvl="1"/>
            <a:r>
              <a:rPr lang="fr-FR" dirty="0"/>
              <a:t>Ce test consiste à mettre un humain en confrontation verbale à l’aveugle avec un ordinateur et un autre humain</a:t>
            </a:r>
          </a:p>
          <a:p>
            <a:pPr lvl="1"/>
            <a:r>
              <a:rPr lang="fr-FR" dirty="0"/>
              <a:t>Si la personne qui engage les conversations n’est pas capable de dire lequel de ses interlocuteurs est un ordinateur, on peut considérer que le logiciel de l’ordinateur a passé avec succès le test</a:t>
            </a:r>
          </a:p>
        </p:txBody>
      </p:sp>
      <p:pic>
        <p:nvPicPr>
          <p:cNvPr id="4098" name="Picture 2" descr="https://upload.wikimedia.org/wikipedia/commons/thumb/e/e4/Turing_Test_version_3.png/220px-Turing_Test_version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441" y="2276872"/>
            <a:ext cx="2095500" cy="2686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96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Qu'est-ce que l'IA ?</a:t>
            </a:r>
          </a:p>
        </p:txBody>
      </p:sp>
      <p:sp>
        <p:nvSpPr>
          <p:cNvPr id="3" name="Content Placeholder 2"/>
          <p:cNvSpPr>
            <a:spLocks noGrp="1"/>
          </p:cNvSpPr>
          <p:nvPr>
            <p:ph idx="1"/>
          </p:nvPr>
        </p:nvSpPr>
        <p:spPr/>
        <p:txBody>
          <a:bodyPr/>
          <a:lstStyle/>
          <a:p>
            <a:r>
              <a:rPr dirty="0"/>
              <a:t>Discipline </a:t>
            </a:r>
            <a:r>
              <a:rPr dirty="0" err="1"/>
              <a:t>visant</a:t>
            </a:r>
            <a:r>
              <a:rPr dirty="0"/>
              <a:t> à </a:t>
            </a:r>
            <a:r>
              <a:rPr dirty="0" err="1"/>
              <a:t>reproduire</a:t>
            </a:r>
            <a:r>
              <a:rPr dirty="0"/>
              <a:t> </a:t>
            </a:r>
            <a:r>
              <a:rPr dirty="0" err="1"/>
              <a:t>ou</a:t>
            </a:r>
            <a:r>
              <a:rPr dirty="0"/>
              <a:t> augmenter des </a:t>
            </a:r>
            <a:r>
              <a:rPr dirty="0" err="1"/>
              <a:t>capacités</a:t>
            </a:r>
            <a:r>
              <a:rPr dirty="0"/>
              <a:t> </a:t>
            </a:r>
            <a:r>
              <a:rPr dirty="0" err="1"/>
              <a:t>cognitives</a:t>
            </a:r>
            <a:endParaRPr dirty="0"/>
          </a:p>
          <a:p>
            <a:r>
              <a:rPr dirty="0"/>
              <a:t>Sous‑</a:t>
            </a:r>
            <a:r>
              <a:rPr dirty="0" err="1"/>
              <a:t>domaines</a:t>
            </a:r>
            <a:endParaRPr lang="fr-FR" dirty="0"/>
          </a:p>
          <a:p>
            <a:pPr lvl="1"/>
            <a:r>
              <a:rPr lang="fr-FR" dirty="0"/>
              <a:t>R</a:t>
            </a:r>
            <a:r>
              <a:rPr dirty="0" err="1"/>
              <a:t>aisonnement</a:t>
            </a:r>
            <a:r>
              <a:rPr dirty="0"/>
              <a:t> </a:t>
            </a:r>
            <a:r>
              <a:rPr dirty="0" err="1"/>
              <a:t>symbolique</a:t>
            </a:r>
            <a:endParaRPr lang="fr-FR" dirty="0"/>
          </a:p>
          <a:p>
            <a:pPr lvl="1"/>
            <a:r>
              <a:rPr lang="fr-FR" dirty="0"/>
              <a:t>Machine Learning</a:t>
            </a:r>
          </a:p>
          <a:p>
            <a:pPr lvl="1"/>
            <a:r>
              <a:rPr lang="fr-FR" dirty="0"/>
              <a:t>Deep Learning</a:t>
            </a:r>
          </a:p>
          <a:p>
            <a:pPr lvl="1"/>
            <a:r>
              <a:rPr lang="fr-FR" dirty="0"/>
              <a:t>Large </a:t>
            </a:r>
            <a:r>
              <a:rPr lang="fr-FR" dirty="0" err="1"/>
              <a:t>Language</a:t>
            </a:r>
            <a:r>
              <a:rPr lang="fr-FR" dirty="0"/>
              <a:t> Model</a:t>
            </a:r>
          </a:p>
          <a:p>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5D3DBB9-96DF-C662-E08B-D9A580324491}"/>
              </a:ext>
            </a:extLst>
          </p:cNvPr>
          <p:cNvSpPr>
            <a:spLocks noGrp="1"/>
          </p:cNvSpPr>
          <p:nvPr>
            <p:ph type="title"/>
          </p:nvPr>
        </p:nvSpPr>
        <p:spPr/>
        <p:txBody>
          <a:bodyPr/>
          <a:lstStyle/>
          <a:p>
            <a:r>
              <a:rPr lang="fr-FR" dirty="0"/>
              <a:t>IA Symbolique</a:t>
            </a:r>
          </a:p>
        </p:txBody>
      </p:sp>
      <p:sp>
        <p:nvSpPr>
          <p:cNvPr id="3" name="Espace réservé du contenu 2">
            <a:extLst>
              <a:ext uri="{FF2B5EF4-FFF2-40B4-BE49-F238E27FC236}">
                <a16:creationId xmlns:a16="http://schemas.microsoft.com/office/drawing/2014/main" id="{38994325-9A5E-E8F5-024E-2C9BC97CFB2B}"/>
              </a:ext>
            </a:extLst>
          </p:cNvPr>
          <p:cNvSpPr>
            <a:spLocks noGrp="1"/>
          </p:cNvSpPr>
          <p:nvPr>
            <p:ph idx="1"/>
          </p:nvPr>
        </p:nvSpPr>
        <p:spPr/>
        <p:txBody>
          <a:bodyPr/>
          <a:lstStyle/>
          <a:p>
            <a:r>
              <a:rPr lang="fr-FR" dirty="0"/>
              <a:t>Systèmes basés règles</a:t>
            </a:r>
          </a:p>
          <a:p>
            <a:pPr lvl="1"/>
            <a:r>
              <a:rPr lang="fr-FR" dirty="0"/>
              <a:t>vs. systèmes appris à partir des données</a:t>
            </a:r>
          </a:p>
          <a:p>
            <a:pPr lvl="1"/>
            <a:r>
              <a:rPr lang="fr-FR" dirty="0"/>
              <a:t>Logique floue</a:t>
            </a:r>
          </a:p>
          <a:p>
            <a:pPr lvl="1"/>
            <a:r>
              <a:rPr lang="fr-FR" dirty="0"/>
              <a:t>Système expert</a:t>
            </a:r>
          </a:p>
          <a:p>
            <a:pPr lvl="1"/>
            <a:r>
              <a:rPr lang="fr-FR" dirty="0"/>
              <a:t>Orient logique</a:t>
            </a:r>
          </a:p>
        </p:txBody>
      </p:sp>
    </p:spTree>
    <p:extLst>
      <p:ext uri="{BB962C8B-B14F-4D97-AF65-F5344CB8AC3E}">
        <p14:creationId xmlns:p14="http://schemas.microsoft.com/office/powerpoint/2010/main" val="27946418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11B061-52C6-9846-F0FA-7F6F59B8277C}"/>
              </a:ext>
            </a:extLst>
          </p:cNvPr>
          <p:cNvSpPr>
            <a:spLocks noGrp="1"/>
          </p:cNvSpPr>
          <p:nvPr>
            <p:ph type="title"/>
          </p:nvPr>
        </p:nvSpPr>
        <p:spPr/>
        <p:txBody>
          <a:bodyPr/>
          <a:lstStyle/>
          <a:p>
            <a:r>
              <a:rPr lang="fr-FR" dirty="0"/>
              <a:t>IA par apprentissage</a:t>
            </a:r>
          </a:p>
        </p:txBody>
      </p:sp>
      <p:sp>
        <p:nvSpPr>
          <p:cNvPr id="3" name="Espace réservé du contenu 2">
            <a:extLst>
              <a:ext uri="{FF2B5EF4-FFF2-40B4-BE49-F238E27FC236}">
                <a16:creationId xmlns:a16="http://schemas.microsoft.com/office/drawing/2014/main" id="{A5560A14-625D-B30F-F730-086C192743D8}"/>
              </a:ext>
            </a:extLst>
          </p:cNvPr>
          <p:cNvSpPr>
            <a:spLocks noGrp="1"/>
          </p:cNvSpPr>
          <p:nvPr>
            <p:ph idx="1"/>
          </p:nvPr>
        </p:nvSpPr>
        <p:spPr/>
        <p:txBody>
          <a:bodyPr/>
          <a:lstStyle/>
          <a:p>
            <a:r>
              <a:rPr lang="fr-FR" dirty="0"/>
              <a:t>Système basé sur les données</a:t>
            </a:r>
          </a:p>
          <a:p>
            <a:pPr lvl="1"/>
            <a:r>
              <a:rPr lang="fr-FR" dirty="0"/>
              <a:t>Machine Learning</a:t>
            </a:r>
          </a:p>
          <a:p>
            <a:pPr lvl="1"/>
            <a:r>
              <a:rPr lang="fr-FR" dirty="0"/>
              <a:t>Deep Learning</a:t>
            </a:r>
          </a:p>
          <a:p>
            <a:pPr lvl="1"/>
            <a:r>
              <a:rPr lang="fr-FR" dirty="0"/>
              <a:t>LLM</a:t>
            </a:r>
          </a:p>
          <a:p>
            <a:r>
              <a:rPr lang="fr-FR" dirty="0"/>
              <a:t>Basé sur un système de notation</a:t>
            </a:r>
          </a:p>
          <a:p>
            <a:pPr lvl="1"/>
            <a:r>
              <a:rPr lang="fr-FR" dirty="0" err="1"/>
              <a:t>Scoring</a:t>
            </a:r>
            <a:endParaRPr lang="fr-FR" dirty="0"/>
          </a:p>
          <a:p>
            <a:pPr lvl="1"/>
            <a:r>
              <a:rPr lang="fr-FR" dirty="0" err="1"/>
              <a:t>Accuracy</a:t>
            </a:r>
            <a:endParaRPr lang="fr-FR" dirty="0"/>
          </a:p>
        </p:txBody>
      </p:sp>
    </p:spTree>
    <p:extLst>
      <p:ext uri="{BB962C8B-B14F-4D97-AF65-F5344CB8AC3E}">
        <p14:creationId xmlns:p14="http://schemas.microsoft.com/office/powerpoint/2010/main" val="329744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Copier la nature ou non</a:t>
            </a:r>
          </a:p>
        </p:txBody>
      </p:sp>
      <p:pic>
        <p:nvPicPr>
          <p:cNvPr id="5122" name="Picture 2" descr="RÃ©sultat de recherche d'images pour &quot;appareil photo&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5493"/>
            <a:ext cx="428625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attoyz en bois charrette roue Ornemental bois charrette WAGON Roues 59cm jardin dÃ©cora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551" y="2313809"/>
            <a:ext cx="4632449" cy="452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0437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IA - ML - DL</a:t>
            </a:r>
          </a:p>
        </p:txBody>
      </p:sp>
      <p:pic>
        <p:nvPicPr>
          <p:cNvPr id="1026" name="Picture 2" descr="https://www.mytectra.com/media/wysiwyg/Blog/deep-learnin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41399"/>
            <a:ext cx="9144000" cy="581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3829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pic>
        <p:nvPicPr>
          <p:cNvPr id="4" name="Picture 2" descr="https://thinkr.fr/wp-content/uploads/machine-learning-me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84576"/>
            <a:ext cx="9162255" cy="458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1893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Historique</a:t>
            </a:r>
            <a:endParaRPr dirty="0"/>
          </a:p>
        </p:txBody>
      </p:sp>
      <p:sp>
        <p:nvSpPr>
          <p:cNvPr id="3" name="Rectangle 2"/>
          <p:cNvSpPr/>
          <p:nvPr/>
        </p:nvSpPr>
        <p:spPr>
          <a:xfrm>
            <a:off x="640080" y="3595856"/>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3138656"/>
            <a:ext cx="548640" cy="274320"/>
          </a:xfrm>
          <a:prstGeom prst="rect">
            <a:avLst/>
          </a:prstGeom>
          <a:noFill/>
        </p:spPr>
        <p:txBody>
          <a:bodyPr wrap="none">
            <a:spAutoFit/>
          </a:bodyPr>
          <a:lstStyle/>
          <a:p>
            <a:pPr algn="ctr">
              <a:defRPr sz="1200"/>
            </a:pPr>
            <a:r>
              <a:t>1980</a:t>
            </a:r>
          </a:p>
        </p:txBody>
      </p:sp>
      <p:sp>
        <p:nvSpPr>
          <p:cNvPr id="6" name="TextBox 5"/>
          <p:cNvSpPr txBox="1"/>
          <p:nvPr/>
        </p:nvSpPr>
        <p:spPr>
          <a:xfrm>
            <a:off x="-365760" y="3733016"/>
            <a:ext cx="2377440" cy="1280160"/>
          </a:xfrm>
          <a:prstGeom prst="rect">
            <a:avLst/>
          </a:prstGeom>
          <a:noFill/>
        </p:spPr>
        <p:txBody>
          <a:bodyPr wrap="none">
            <a:spAutoFit/>
          </a:bodyPr>
          <a:lstStyle/>
          <a:p>
            <a:pPr algn="ctr">
              <a:defRPr sz="1200"/>
            </a:pPr>
            <a:r>
              <a:t>Systèmes experts</a:t>
            </a:r>
          </a:p>
        </p:txBody>
      </p:sp>
      <p:sp>
        <p:nvSpPr>
          <p:cNvPr id="7" name="Oval 6"/>
          <p:cNvSpPr/>
          <p:nvPr/>
        </p:nvSpPr>
        <p:spPr>
          <a:xfrm>
            <a:off x="344424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352800" y="3138656"/>
            <a:ext cx="548640" cy="274320"/>
          </a:xfrm>
          <a:prstGeom prst="rect">
            <a:avLst/>
          </a:prstGeom>
          <a:noFill/>
        </p:spPr>
        <p:txBody>
          <a:bodyPr wrap="none">
            <a:spAutoFit/>
          </a:bodyPr>
          <a:lstStyle/>
          <a:p>
            <a:pPr algn="ctr">
              <a:defRPr sz="1200"/>
            </a:pPr>
            <a:r>
              <a:t>1987</a:t>
            </a:r>
          </a:p>
        </p:txBody>
      </p:sp>
      <p:sp>
        <p:nvSpPr>
          <p:cNvPr id="9" name="TextBox 8"/>
          <p:cNvSpPr txBox="1"/>
          <p:nvPr/>
        </p:nvSpPr>
        <p:spPr>
          <a:xfrm>
            <a:off x="2255520" y="3733016"/>
            <a:ext cx="2377440" cy="1280160"/>
          </a:xfrm>
          <a:prstGeom prst="rect">
            <a:avLst/>
          </a:prstGeom>
          <a:noFill/>
        </p:spPr>
        <p:txBody>
          <a:bodyPr wrap="none">
            <a:spAutoFit/>
          </a:bodyPr>
          <a:lstStyle/>
          <a:p>
            <a:pPr algn="ctr">
              <a:defRPr sz="1200"/>
            </a:pPr>
            <a:r>
              <a:t>Hiver de l'IA</a:t>
            </a:r>
          </a:p>
        </p:txBody>
      </p:sp>
      <p:sp>
        <p:nvSpPr>
          <p:cNvPr id="10" name="Oval 9"/>
          <p:cNvSpPr/>
          <p:nvPr/>
        </p:nvSpPr>
        <p:spPr>
          <a:xfrm>
            <a:off x="606552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74080" y="3138656"/>
            <a:ext cx="548640" cy="274320"/>
          </a:xfrm>
          <a:prstGeom prst="rect">
            <a:avLst/>
          </a:prstGeom>
          <a:noFill/>
        </p:spPr>
        <p:txBody>
          <a:bodyPr wrap="none">
            <a:spAutoFit/>
          </a:bodyPr>
          <a:lstStyle/>
          <a:p>
            <a:pPr algn="ctr">
              <a:defRPr sz="1200"/>
            </a:pPr>
            <a:r>
              <a:t>1997</a:t>
            </a:r>
          </a:p>
        </p:txBody>
      </p:sp>
      <p:sp>
        <p:nvSpPr>
          <p:cNvPr id="12" name="TextBox 11"/>
          <p:cNvSpPr txBox="1"/>
          <p:nvPr/>
        </p:nvSpPr>
        <p:spPr>
          <a:xfrm>
            <a:off x="4876800" y="3733016"/>
            <a:ext cx="2377440" cy="1280160"/>
          </a:xfrm>
          <a:prstGeom prst="rect">
            <a:avLst/>
          </a:prstGeom>
          <a:noFill/>
        </p:spPr>
        <p:txBody>
          <a:bodyPr wrap="none">
            <a:spAutoFit/>
          </a:bodyPr>
          <a:lstStyle/>
          <a:p>
            <a:pPr algn="ctr">
              <a:defRPr sz="1200"/>
            </a:pPr>
            <a:r>
              <a:t>Deep Blue bat Kasparov</a:t>
            </a:r>
          </a:p>
        </p:txBody>
      </p:sp>
      <p:sp>
        <p:nvSpPr>
          <p:cNvPr id="13" name="Oval 12"/>
          <p:cNvSpPr/>
          <p:nvPr/>
        </p:nvSpPr>
        <p:spPr>
          <a:xfrm>
            <a:off x="8686800" y="3504416"/>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0" y="3138656"/>
            <a:ext cx="548640" cy="274320"/>
          </a:xfrm>
          <a:prstGeom prst="rect">
            <a:avLst/>
          </a:prstGeom>
          <a:noFill/>
        </p:spPr>
        <p:txBody>
          <a:bodyPr wrap="none">
            <a:spAutoFit/>
          </a:bodyPr>
          <a:lstStyle/>
          <a:p>
            <a:pPr algn="ctr">
              <a:defRPr sz="1200"/>
            </a:pPr>
            <a:r>
              <a:t>2006</a:t>
            </a:r>
          </a:p>
        </p:txBody>
      </p:sp>
      <p:sp>
        <p:nvSpPr>
          <p:cNvPr id="15" name="TextBox 14"/>
          <p:cNvSpPr txBox="1"/>
          <p:nvPr/>
        </p:nvSpPr>
        <p:spPr>
          <a:xfrm>
            <a:off x="7498080" y="3733016"/>
            <a:ext cx="2377440" cy="1280160"/>
          </a:xfrm>
          <a:prstGeom prst="rect">
            <a:avLst/>
          </a:prstGeom>
          <a:noFill/>
        </p:spPr>
        <p:txBody>
          <a:bodyPr wrap="none">
            <a:spAutoFit/>
          </a:bodyPr>
          <a:lstStyle/>
          <a:p>
            <a:pPr algn="ctr">
              <a:defRPr sz="1200"/>
            </a:pPr>
            <a:r>
              <a:t>Renaissance du deep learning</a:t>
            </a:r>
          </a:p>
        </p:txBody>
      </p:sp>
      <p:sp>
        <p:nvSpPr>
          <p:cNvPr id="16" name="Rectangle 15"/>
          <p:cNvSpPr/>
          <p:nvPr/>
        </p:nvSpPr>
        <p:spPr>
          <a:xfrm>
            <a:off x="665152" y="54680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3"/>
          <p:cNvSpPr/>
          <p:nvPr/>
        </p:nvSpPr>
        <p:spPr>
          <a:xfrm>
            <a:off x="84803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4"/>
          <p:cNvSpPr txBox="1"/>
          <p:nvPr/>
        </p:nvSpPr>
        <p:spPr>
          <a:xfrm>
            <a:off x="756592" y="5010864"/>
            <a:ext cx="548640" cy="274320"/>
          </a:xfrm>
          <a:prstGeom prst="rect">
            <a:avLst/>
          </a:prstGeom>
          <a:noFill/>
        </p:spPr>
        <p:txBody>
          <a:bodyPr wrap="none">
            <a:spAutoFit/>
          </a:bodyPr>
          <a:lstStyle/>
          <a:p>
            <a:pPr algn="ctr">
              <a:defRPr sz="1200"/>
            </a:pPr>
            <a:r>
              <a:t>2012</a:t>
            </a:r>
          </a:p>
        </p:txBody>
      </p:sp>
      <p:sp>
        <p:nvSpPr>
          <p:cNvPr id="19" name="TextBox 5"/>
          <p:cNvSpPr txBox="1"/>
          <p:nvPr/>
        </p:nvSpPr>
        <p:spPr>
          <a:xfrm>
            <a:off x="-340688" y="5605224"/>
            <a:ext cx="2377440" cy="1280160"/>
          </a:xfrm>
          <a:prstGeom prst="rect">
            <a:avLst/>
          </a:prstGeom>
          <a:noFill/>
        </p:spPr>
        <p:txBody>
          <a:bodyPr wrap="none">
            <a:spAutoFit/>
          </a:bodyPr>
          <a:lstStyle/>
          <a:p>
            <a:pPr algn="ctr">
              <a:defRPr sz="1200"/>
            </a:pPr>
            <a:r>
              <a:t>AlexNet ImageNet</a:t>
            </a:r>
          </a:p>
        </p:txBody>
      </p:sp>
      <p:sp>
        <p:nvSpPr>
          <p:cNvPr id="20" name="Oval 6"/>
          <p:cNvSpPr/>
          <p:nvPr/>
        </p:nvSpPr>
        <p:spPr>
          <a:xfrm>
            <a:off x="346931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7"/>
          <p:cNvSpPr txBox="1"/>
          <p:nvPr/>
        </p:nvSpPr>
        <p:spPr>
          <a:xfrm>
            <a:off x="3377872" y="5010864"/>
            <a:ext cx="548640" cy="274320"/>
          </a:xfrm>
          <a:prstGeom prst="rect">
            <a:avLst/>
          </a:prstGeom>
          <a:noFill/>
        </p:spPr>
        <p:txBody>
          <a:bodyPr wrap="none">
            <a:spAutoFit/>
          </a:bodyPr>
          <a:lstStyle/>
          <a:p>
            <a:pPr algn="ctr">
              <a:defRPr sz="1200"/>
            </a:pPr>
            <a:r>
              <a:t>2016</a:t>
            </a:r>
          </a:p>
        </p:txBody>
      </p:sp>
      <p:sp>
        <p:nvSpPr>
          <p:cNvPr id="22" name="TextBox 8"/>
          <p:cNvSpPr txBox="1"/>
          <p:nvPr/>
        </p:nvSpPr>
        <p:spPr>
          <a:xfrm>
            <a:off x="2280592" y="5605224"/>
            <a:ext cx="2377440" cy="1280160"/>
          </a:xfrm>
          <a:prstGeom prst="rect">
            <a:avLst/>
          </a:prstGeom>
          <a:noFill/>
        </p:spPr>
        <p:txBody>
          <a:bodyPr wrap="none">
            <a:spAutoFit/>
          </a:bodyPr>
          <a:lstStyle/>
          <a:p>
            <a:pPr algn="ctr">
              <a:defRPr sz="1200"/>
            </a:pPr>
            <a:r>
              <a:t>AlphaGo</a:t>
            </a:r>
          </a:p>
        </p:txBody>
      </p:sp>
      <p:sp>
        <p:nvSpPr>
          <p:cNvPr id="23" name="Oval 9"/>
          <p:cNvSpPr/>
          <p:nvPr/>
        </p:nvSpPr>
        <p:spPr>
          <a:xfrm>
            <a:off x="609059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p:cNvSpPr txBox="1"/>
          <p:nvPr/>
        </p:nvSpPr>
        <p:spPr>
          <a:xfrm>
            <a:off x="5999152" y="5010864"/>
            <a:ext cx="548640" cy="274320"/>
          </a:xfrm>
          <a:prstGeom prst="rect">
            <a:avLst/>
          </a:prstGeom>
          <a:noFill/>
        </p:spPr>
        <p:txBody>
          <a:bodyPr wrap="none">
            <a:spAutoFit/>
          </a:bodyPr>
          <a:lstStyle/>
          <a:p>
            <a:pPr algn="ctr">
              <a:defRPr sz="1200"/>
            </a:pPr>
            <a:r>
              <a:t>2017</a:t>
            </a:r>
          </a:p>
        </p:txBody>
      </p:sp>
      <p:sp>
        <p:nvSpPr>
          <p:cNvPr id="25" name="TextBox 11"/>
          <p:cNvSpPr txBox="1"/>
          <p:nvPr/>
        </p:nvSpPr>
        <p:spPr>
          <a:xfrm>
            <a:off x="4901872" y="5605224"/>
            <a:ext cx="2377440" cy="1280160"/>
          </a:xfrm>
          <a:prstGeom prst="rect">
            <a:avLst/>
          </a:prstGeom>
          <a:noFill/>
        </p:spPr>
        <p:txBody>
          <a:bodyPr wrap="none">
            <a:spAutoFit/>
          </a:bodyPr>
          <a:lstStyle/>
          <a:p>
            <a:pPr algn="ctr">
              <a:defRPr sz="1200"/>
            </a:pPr>
            <a:r>
              <a:t>Transformers</a:t>
            </a:r>
          </a:p>
        </p:txBody>
      </p:sp>
      <p:sp>
        <p:nvSpPr>
          <p:cNvPr id="26" name="Oval 12"/>
          <p:cNvSpPr/>
          <p:nvPr/>
        </p:nvSpPr>
        <p:spPr>
          <a:xfrm>
            <a:off x="8711872" y="53766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13"/>
          <p:cNvSpPr txBox="1"/>
          <p:nvPr/>
        </p:nvSpPr>
        <p:spPr>
          <a:xfrm>
            <a:off x="8620432" y="5010864"/>
            <a:ext cx="548640" cy="274320"/>
          </a:xfrm>
          <a:prstGeom prst="rect">
            <a:avLst/>
          </a:prstGeom>
          <a:noFill/>
        </p:spPr>
        <p:txBody>
          <a:bodyPr wrap="none">
            <a:spAutoFit/>
          </a:bodyPr>
          <a:lstStyle/>
          <a:p>
            <a:pPr algn="ctr">
              <a:defRPr sz="1200"/>
            </a:pPr>
            <a:r>
              <a:t>2022</a:t>
            </a:r>
          </a:p>
        </p:txBody>
      </p:sp>
      <p:sp>
        <p:nvSpPr>
          <p:cNvPr id="28" name="TextBox 14"/>
          <p:cNvSpPr txBox="1"/>
          <p:nvPr/>
        </p:nvSpPr>
        <p:spPr>
          <a:xfrm>
            <a:off x="7523152" y="5605224"/>
            <a:ext cx="2377440" cy="1280160"/>
          </a:xfrm>
          <a:prstGeom prst="rect">
            <a:avLst/>
          </a:prstGeom>
          <a:noFill/>
        </p:spPr>
        <p:txBody>
          <a:bodyPr wrap="none">
            <a:spAutoFit/>
          </a:bodyPr>
          <a:lstStyle/>
          <a:p>
            <a:pPr algn="ctr">
              <a:defRPr sz="1200"/>
            </a:pPr>
            <a:r>
              <a:t>Générative &amp; LLMs</a:t>
            </a:r>
          </a:p>
        </p:txBody>
      </p:sp>
      <p:sp>
        <p:nvSpPr>
          <p:cNvPr id="29" name="Title 1"/>
          <p:cNvSpPr txBox="1">
            <a:spLocks/>
          </p:cNvSpPr>
          <p:nvPr/>
        </p:nvSpPr>
        <p:spPr bwMode="auto">
          <a:xfrm>
            <a:off x="493293" y="-891222"/>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a:lstStyle>
          <a:p>
            <a:r>
              <a:rPr lang="fr-FR" kern="0"/>
              <a:t>Histoire (1950–1980)</a:t>
            </a:r>
          </a:p>
        </p:txBody>
      </p:sp>
      <p:sp>
        <p:nvSpPr>
          <p:cNvPr id="30" name="Rectangle 29"/>
          <p:cNvSpPr/>
          <p:nvPr/>
        </p:nvSpPr>
        <p:spPr>
          <a:xfrm>
            <a:off x="676173" y="1867664"/>
            <a:ext cx="8229600" cy="45720"/>
          </a:xfrm>
          <a:prstGeom prst="rect">
            <a:avLst/>
          </a:prstGeom>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
          <p:cNvSpPr/>
          <p:nvPr/>
        </p:nvSpPr>
        <p:spPr>
          <a:xfrm>
            <a:off x="85905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4"/>
          <p:cNvSpPr txBox="1"/>
          <p:nvPr/>
        </p:nvSpPr>
        <p:spPr>
          <a:xfrm>
            <a:off x="767613" y="1410464"/>
            <a:ext cx="548640" cy="274320"/>
          </a:xfrm>
          <a:prstGeom prst="rect">
            <a:avLst/>
          </a:prstGeom>
          <a:noFill/>
        </p:spPr>
        <p:txBody>
          <a:bodyPr wrap="none">
            <a:spAutoFit/>
          </a:bodyPr>
          <a:lstStyle/>
          <a:p>
            <a:pPr algn="ctr">
              <a:defRPr sz="1200"/>
            </a:pPr>
            <a:r>
              <a:t>1950</a:t>
            </a:r>
          </a:p>
        </p:txBody>
      </p:sp>
      <p:sp>
        <p:nvSpPr>
          <p:cNvPr id="33" name="TextBox 5"/>
          <p:cNvSpPr txBox="1"/>
          <p:nvPr/>
        </p:nvSpPr>
        <p:spPr>
          <a:xfrm>
            <a:off x="-329667" y="2004824"/>
            <a:ext cx="2377440" cy="1280160"/>
          </a:xfrm>
          <a:prstGeom prst="rect">
            <a:avLst/>
          </a:prstGeom>
          <a:noFill/>
        </p:spPr>
        <p:txBody>
          <a:bodyPr wrap="none">
            <a:spAutoFit/>
          </a:bodyPr>
          <a:lstStyle/>
          <a:p>
            <a:pPr algn="ctr">
              <a:defRPr sz="1200"/>
            </a:pPr>
            <a:r>
              <a:t>Turing &amp; test de Turing</a:t>
            </a:r>
          </a:p>
        </p:txBody>
      </p:sp>
      <p:sp>
        <p:nvSpPr>
          <p:cNvPr id="34" name="Oval 6"/>
          <p:cNvSpPr/>
          <p:nvPr/>
        </p:nvSpPr>
        <p:spPr>
          <a:xfrm>
            <a:off x="348033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7"/>
          <p:cNvSpPr txBox="1"/>
          <p:nvPr/>
        </p:nvSpPr>
        <p:spPr>
          <a:xfrm>
            <a:off x="3388893" y="1410464"/>
            <a:ext cx="548640" cy="274320"/>
          </a:xfrm>
          <a:prstGeom prst="rect">
            <a:avLst/>
          </a:prstGeom>
          <a:noFill/>
        </p:spPr>
        <p:txBody>
          <a:bodyPr wrap="none">
            <a:spAutoFit/>
          </a:bodyPr>
          <a:lstStyle/>
          <a:p>
            <a:pPr algn="ctr">
              <a:defRPr sz="1200"/>
            </a:pPr>
            <a:r>
              <a:t>1956</a:t>
            </a:r>
          </a:p>
        </p:txBody>
      </p:sp>
      <p:sp>
        <p:nvSpPr>
          <p:cNvPr id="36" name="TextBox 8"/>
          <p:cNvSpPr txBox="1"/>
          <p:nvPr/>
        </p:nvSpPr>
        <p:spPr>
          <a:xfrm>
            <a:off x="2291613" y="2004824"/>
            <a:ext cx="2377440" cy="1280160"/>
          </a:xfrm>
          <a:prstGeom prst="rect">
            <a:avLst/>
          </a:prstGeom>
          <a:noFill/>
        </p:spPr>
        <p:txBody>
          <a:bodyPr wrap="none">
            <a:spAutoFit/>
          </a:bodyPr>
          <a:lstStyle/>
          <a:p>
            <a:pPr algn="ctr">
              <a:defRPr sz="1200"/>
            </a:pPr>
            <a:r>
              <a:t>Dartmouth : acte de naissance</a:t>
            </a:r>
          </a:p>
        </p:txBody>
      </p:sp>
      <p:sp>
        <p:nvSpPr>
          <p:cNvPr id="37" name="Oval 9"/>
          <p:cNvSpPr/>
          <p:nvPr/>
        </p:nvSpPr>
        <p:spPr>
          <a:xfrm>
            <a:off x="610161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10"/>
          <p:cNvSpPr txBox="1"/>
          <p:nvPr/>
        </p:nvSpPr>
        <p:spPr>
          <a:xfrm>
            <a:off x="6010173" y="1410464"/>
            <a:ext cx="548640" cy="274320"/>
          </a:xfrm>
          <a:prstGeom prst="rect">
            <a:avLst/>
          </a:prstGeom>
          <a:noFill/>
        </p:spPr>
        <p:txBody>
          <a:bodyPr wrap="none">
            <a:spAutoFit/>
          </a:bodyPr>
          <a:lstStyle/>
          <a:p>
            <a:pPr algn="ctr">
              <a:defRPr sz="1200"/>
            </a:pPr>
            <a:r>
              <a:t>1960</a:t>
            </a:r>
          </a:p>
        </p:txBody>
      </p:sp>
      <p:sp>
        <p:nvSpPr>
          <p:cNvPr id="39" name="TextBox 11"/>
          <p:cNvSpPr txBox="1"/>
          <p:nvPr/>
        </p:nvSpPr>
        <p:spPr>
          <a:xfrm>
            <a:off x="4912893" y="2004824"/>
            <a:ext cx="2377440" cy="1280160"/>
          </a:xfrm>
          <a:prstGeom prst="rect">
            <a:avLst/>
          </a:prstGeom>
          <a:noFill/>
        </p:spPr>
        <p:txBody>
          <a:bodyPr wrap="none">
            <a:spAutoFit/>
          </a:bodyPr>
          <a:lstStyle/>
          <a:p>
            <a:pPr algn="ctr">
              <a:defRPr sz="1200"/>
            </a:pPr>
            <a:r>
              <a:t>IA symbolique</a:t>
            </a:r>
          </a:p>
        </p:txBody>
      </p:sp>
      <p:sp>
        <p:nvSpPr>
          <p:cNvPr id="40" name="Oval 12"/>
          <p:cNvSpPr/>
          <p:nvPr/>
        </p:nvSpPr>
        <p:spPr>
          <a:xfrm>
            <a:off x="8722893" y="1776224"/>
            <a:ext cx="182880" cy="182880"/>
          </a:xfrm>
          <a:prstGeom prst="ellipse">
            <a:avLst/>
          </a:prstGeom>
          <a:solidFill>
            <a:srgbClr val="0066C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13"/>
          <p:cNvSpPr txBox="1"/>
          <p:nvPr/>
        </p:nvSpPr>
        <p:spPr>
          <a:xfrm>
            <a:off x="8631453" y="1410464"/>
            <a:ext cx="548640" cy="274320"/>
          </a:xfrm>
          <a:prstGeom prst="rect">
            <a:avLst/>
          </a:prstGeom>
          <a:noFill/>
        </p:spPr>
        <p:txBody>
          <a:bodyPr wrap="none">
            <a:spAutoFit/>
          </a:bodyPr>
          <a:lstStyle/>
          <a:p>
            <a:pPr algn="ctr">
              <a:defRPr sz="1200"/>
            </a:pPr>
            <a:r>
              <a:t>1970</a:t>
            </a:r>
          </a:p>
        </p:txBody>
      </p:sp>
      <p:sp>
        <p:nvSpPr>
          <p:cNvPr id="42" name="TextBox 14"/>
          <p:cNvSpPr txBox="1"/>
          <p:nvPr/>
        </p:nvSpPr>
        <p:spPr>
          <a:xfrm>
            <a:off x="7534173" y="2004824"/>
            <a:ext cx="2377440" cy="1280160"/>
          </a:xfrm>
          <a:prstGeom prst="rect">
            <a:avLst/>
          </a:prstGeom>
          <a:noFill/>
        </p:spPr>
        <p:txBody>
          <a:bodyPr wrap="none">
            <a:spAutoFit/>
          </a:bodyPr>
          <a:lstStyle/>
          <a:p>
            <a:pPr algn="ctr">
              <a:defRPr sz="1200"/>
            </a:pPr>
            <a:r>
              <a:t>Systèmes à règles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a:t>
            </a:r>
          </a:p>
        </p:txBody>
      </p:sp>
      <p:sp>
        <p:nvSpPr>
          <p:cNvPr id="3" name="Espace réservé du contenu 2"/>
          <p:cNvSpPr>
            <a:spLocks noGrp="1"/>
          </p:cNvSpPr>
          <p:nvPr>
            <p:ph idx="1"/>
          </p:nvPr>
        </p:nvSpPr>
        <p:spPr/>
        <p:txBody>
          <a:bodyPr/>
          <a:lstStyle/>
          <a:p>
            <a:r>
              <a:rPr lang="fr-FR" dirty="0"/>
              <a:t>L'apprentissage automatique (machine </a:t>
            </a:r>
            <a:r>
              <a:rPr lang="fr-FR" dirty="0" err="1"/>
              <a:t>learning</a:t>
            </a:r>
            <a:r>
              <a:rPr lang="fr-FR" dirty="0"/>
              <a:t>), champ d'étude de l'intelligence artificielle, concerne la conception, l'analyse, le développement et l'implémentation de méthodes permettant à une machine d'évoluer par un processus systématique, et ainsi de remplir des tâches difficiles ou problématiques par des moyens algorithmiques plus classiques</a:t>
            </a:r>
          </a:p>
        </p:txBody>
      </p:sp>
    </p:spTree>
    <p:extLst>
      <p:ext uri="{BB962C8B-B14F-4D97-AF65-F5344CB8AC3E}">
        <p14:creationId xmlns:p14="http://schemas.microsoft.com/office/powerpoint/2010/main" val="8401956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Deep</a:t>
            </a:r>
            <a:r>
              <a:rPr lang="fr-FR" dirty="0"/>
              <a:t> Learning</a:t>
            </a:r>
          </a:p>
        </p:txBody>
      </p:sp>
      <p:sp>
        <p:nvSpPr>
          <p:cNvPr id="3" name="Espace réservé du contenu 2"/>
          <p:cNvSpPr>
            <a:spLocks noGrp="1"/>
          </p:cNvSpPr>
          <p:nvPr>
            <p:ph idx="1"/>
          </p:nvPr>
        </p:nvSpPr>
        <p:spPr/>
        <p:txBody>
          <a:bodyPr/>
          <a:lstStyle/>
          <a:p>
            <a:r>
              <a:rPr lang="fr-FR" dirty="0"/>
              <a:t>Le </a:t>
            </a:r>
            <a:r>
              <a:rPr lang="fr-FR" dirty="0" err="1"/>
              <a:t>deep</a:t>
            </a:r>
            <a:r>
              <a:rPr lang="fr-FR" dirty="0"/>
              <a:t> </a:t>
            </a:r>
            <a:r>
              <a:rPr lang="fr-FR" dirty="0" err="1"/>
              <a:t>learning</a:t>
            </a:r>
            <a:r>
              <a:rPr lang="fr-FR" dirty="0"/>
              <a:t> est un ensemble de méthodes d'apprentissage automatique tentant de modéliser avec un haut niveau d’abstraction des données grâce à des architectures articulées de différentes transformations </a:t>
            </a:r>
            <a:r>
              <a:rPr lang="fr-FR"/>
              <a:t>non linéaires</a:t>
            </a:r>
          </a:p>
          <a:p>
            <a:pPr lvl="1"/>
            <a:r>
              <a:rPr lang="fr-FR"/>
              <a:t>Ces </a:t>
            </a:r>
            <a:r>
              <a:rPr lang="fr-FR" dirty="0"/>
              <a:t>techniques ont permis des progrès importants et rapides dans les domaines de l'analyse du signal sonore ou visuel et notamment de la reconnaissance faciale, de la reconnaissance vocale, de la vision par ordinateur, du traitement automatisé du langage</a:t>
            </a:r>
          </a:p>
        </p:txBody>
      </p:sp>
    </p:spTree>
    <p:extLst>
      <p:ext uri="{BB962C8B-B14F-4D97-AF65-F5344CB8AC3E}">
        <p14:creationId xmlns:p14="http://schemas.microsoft.com/office/powerpoint/2010/main" val="35542267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connectée à d’autre neurones qui a la faculté de laisser passer ou non un courant électrique</a:t>
            </a:r>
          </a:p>
          <a:p>
            <a:pPr lvl="1"/>
            <a:r>
              <a:rPr lang="fr-FR" dirty="0"/>
              <a:t>Sa modélisation mathématique est appelé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3429000"/>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8719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Neurone</a:t>
            </a:r>
          </a:p>
        </p:txBody>
      </p:sp>
      <p:sp>
        <p:nvSpPr>
          <p:cNvPr id="3" name="Espace réservé du contenu 2"/>
          <p:cNvSpPr>
            <a:spLocks noGrp="1"/>
          </p:cNvSpPr>
          <p:nvPr>
            <p:ph idx="1"/>
          </p:nvPr>
        </p:nvSpPr>
        <p:spPr/>
        <p:txBody>
          <a:bodyPr/>
          <a:lstStyle/>
          <a:p>
            <a:r>
              <a:rPr lang="fr-FR" dirty="0"/>
              <a:t>Un neurone possède plusieurs entrées (ix), une sortie (o), un seuil et une fonction d’activation (f)</a:t>
            </a:r>
          </a:p>
          <a:p>
            <a:r>
              <a:rPr lang="fr-FR" dirty="0"/>
              <a:t>Chaque entrée possède un poids (</a:t>
            </a:r>
            <a:r>
              <a:rPr lang="fr-FR" dirty="0" err="1"/>
              <a:t>Wx</a:t>
            </a:r>
            <a:r>
              <a:rPr lang="fr-FR" dirty="0"/>
              <a:t>)</a:t>
            </a:r>
          </a:p>
          <a:p>
            <a:endParaRPr lang="fr-FR" dirty="0"/>
          </a:p>
        </p:txBody>
      </p:sp>
      <p:pic>
        <p:nvPicPr>
          <p:cNvPr id="1026" name="Picture 2" descr="Schéma d'un perceptron à n entré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473" y="2719205"/>
            <a:ext cx="5640561" cy="3990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497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Réseaux</a:t>
            </a:r>
          </a:p>
        </p:txBody>
      </p:sp>
      <p:sp>
        <p:nvSpPr>
          <p:cNvPr id="3" name="Espace réservé du contenu 2"/>
          <p:cNvSpPr>
            <a:spLocks noGrp="1"/>
          </p:cNvSpPr>
          <p:nvPr>
            <p:ph idx="1"/>
          </p:nvPr>
        </p:nvSpPr>
        <p:spPr/>
        <p:txBody>
          <a:bodyPr/>
          <a:lstStyle/>
          <a:p>
            <a:r>
              <a:rPr lang="fr-FR" dirty="0"/>
              <a:t>Les neurones peuvent être mis en réseaux</a:t>
            </a:r>
          </a:p>
          <a:p>
            <a:pPr lvl="1"/>
            <a:r>
              <a:rPr lang="fr-FR" dirty="0"/>
              <a:t>En arbre (MLP)</a:t>
            </a:r>
          </a:p>
          <a:p>
            <a:pPr lvl="1"/>
            <a:r>
              <a:rPr lang="fr-FR" dirty="0"/>
              <a:t>En graphe (plus complexe)</a:t>
            </a:r>
          </a:p>
          <a:p>
            <a:pPr lvl="1"/>
            <a:r>
              <a:rPr lang="fr-FR" dirty="0"/>
              <a:t>Poids multiples</a:t>
            </a:r>
          </a:p>
          <a:p>
            <a:r>
              <a:rPr lang="fr-FR" dirty="0"/>
              <a:t>Très couteux</a:t>
            </a:r>
          </a:p>
          <a:p>
            <a:pPr lvl="1"/>
            <a:r>
              <a:rPr lang="fr-FR" dirty="0"/>
              <a:t>Mais donne de très bons résultats</a:t>
            </a:r>
          </a:p>
          <a:p>
            <a:pPr lvl="1"/>
            <a:r>
              <a:rPr lang="fr-FR" dirty="0"/>
              <a:t>Maitrise l’addition sur 4 bits avec 145 neurones et 100 itérations</a:t>
            </a:r>
          </a:p>
          <a:p>
            <a:r>
              <a:rPr lang="fr-FR" dirty="0" err="1"/>
              <a:t>Backpropagation</a:t>
            </a:r>
            <a:r>
              <a:rPr lang="fr-FR" dirty="0"/>
              <a:t> complexe</a:t>
            </a:r>
          </a:p>
          <a:p>
            <a:pPr lvl="1"/>
            <a:r>
              <a:rPr lang="fr-FR" dirty="0"/>
              <a:t>Basé sur la répartition de l'erreurs sur les poids et la pente de la courbe de la fonction d'activation (</a:t>
            </a:r>
            <a:r>
              <a:rPr lang="fr-FR" dirty="0" err="1"/>
              <a:t>derivée</a:t>
            </a:r>
            <a:r>
              <a:rPr lang="fr-FR" dirty="0"/>
              <a:t>)</a:t>
            </a:r>
          </a:p>
        </p:txBody>
      </p:sp>
      <p:pic>
        <p:nvPicPr>
          <p:cNvPr id="3074" name="Picture 2" descr="../_images/multilayerperceptron_network.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16216" y="1930341"/>
            <a:ext cx="2088232" cy="2269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72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ADD6331-FA6A-4ED1-909A-5002ED680318}"/>
              </a:ext>
            </a:extLst>
          </p:cNvPr>
          <p:cNvSpPr>
            <a:spLocks noGrp="1"/>
          </p:cNvSpPr>
          <p:nvPr>
            <p:ph type="title"/>
          </p:nvPr>
        </p:nvSpPr>
        <p:spPr/>
        <p:txBody>
          <a:bodyPr/>
          <a:lstStyle/>
          <a:p>
            <a:endParaRPr lang="fr-FR"/>
          </a:p>
        </p:txBody>
      </p:sp>
      <p:pic>
        <p:nvPicPr>
          <p:cNvPr id="1030" name="Picture 6" descr="Introduction au deep learning avec Tensorflow | Machine Learning lab">
            <a:extLst>
              <a:ext uri="{FF2B5EF4-FFF2-40B4-BE49-F238E27FC236}">
                <a16:creationId xmlns:a16="http://schemas.microsoft.com/office/drawing/2014/main" id="{DC8127FD-9812-4BB5-A5F9-577769DF8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7030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538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Évolutions récentes &amp; ruptures</a:t>
            </a:r>
          </a:p>
        </p:txBody>
      </p:sp>
      <p:sp>
        <p:nvSpPr>
          <p:cNvPr id="3" name="Content Placeholder 2"/>
          <p:cNvSpPr>
            <a:spLocks noGrp="1"/>
          </p:cNvSpPr>
          <p:nvPr>
            <p:ph idx="1"/>
          </p:nvPr>
        </p:nvSpPr>
        <p:spPr/>
        <p:txBody>
          <a:bodyPr/>
          <a:lstStyle/>
          <a:p>
            <a:r>
              <a:rPr dirty="0" err="1"/>
              <a:t>Accélération</a:t>
            </a:r>
            <a:r>
              <a:rPr dirty="0"/>
              <a:t> </a:t>
            </a:r>
            <a:r>
              <a:rPr dirty="0" err="1"/>
              <a:t>matérielle</a:t>
            </a:r>
            <a:r>
              <a:rPr dirty="0"/>
              <a:t> (GPU/TPU)</a:t>
            </a:r>
            <a:endParaRPr lang="fr-FR" dirty="0"/>
          </a:p>
          <a:p>
            <a:r>
              <a:rPr lang="fr-FR" dirty="0"/>
              <a:t>P</a:t>
            </a:r>
            <a:r>
              <a:rPr dirty="0" err="1"/>
              <a:t>arallélisme</a:t>
            </a:r>
            <a:endParaRPr lang="fr-FR" dirty="0"/>
          </a:p>
          <a:p>
            <a:r>
              <a:rPr lang="fr-FR" dirty="0"/>
              <a:t>Grande quantité de données</a:t>
            </a:r>
          </a:p>
          <a:p>
            <a:r>
              <a:rPr lang="fr-FR" dirty="0"/>
              <a:t>Moyens </a:t>
            </a:r>
            <a:r>
              <a:rPr lang="fr-FR" dirty="0" err="1"/>
              <a:t>financié</a:t>
            </a:r>
            <a:r>
              <a:rPr lang="fr-FR" dirty="0"/>
              <a:t> ++</a:t>
            </a:r>
          </a:p>
          <a:p>
            <a:pPr lvl="1"/>
            <a:r>
              <a:rPr lang="fr-FR" dirty="0" err="1"/>
              <a:t>Nvidia</a:t>
            </a:r>
            <a:r>
              <a:rPr lang="fr-FR" dirty="0"/>
              <a:t>, </a:t>
            </a:r>
            <a:r>
              <a:rPr lang="fr-FR" dirty="0" err="1"/>
              <a:t>OpenAI</a:t>
            </a:r>
            <a:r>
              <a:rPr lang="fr-FR" dirty="0"/>
              <a:t>, …</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Potentiels de l'IA</a:t>
            </a:r>
          </a:p>
        </p:txBody>
      </p:sp>
      <p:sp>
        <p:nvSpPr>
          <p:cNvPr id="3" name="Content Placeholder 2"/>
          <p:cNvSpPr>
            <a:spLocks noGrp="1"/>
          </p:cNvSpPr>
          <p:nvPr>
            <p:ph idx="1"/>
          </p:nvPr>
        </p:nvSpPr>
        <p:spPr/>
        <p:txBody>
          <a:bodyPr/>
          <a:lstStyle/>
          <a:p>
            <a:r>
              <a:t>Vision par ordinateur : détection, OCR, inspection</a:t>
            </a:r>
          </a:p>
          <a:p>
            <a:r>
              <a:t>Traitement du langage : résumé, recherche sémantique, assistants</a:t>
            </a:r>
          </a:p>
          <a:p>
            <a:r>
              <a:t>Personnalisation &amp; recommandation</a:t>
            </a:r>
          </a:p>
          <a:p>
            <a:r>
              <a:t>Optimisation industrielle &amp; maintenance prédictive</a:t>
            </a:r>
          </a:p>
          <a:p>
            <a:r>
              <a:t>Aide à la décision &amp; automatisation de processus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Limites, risques &amp; garde‑fous</a:t>
            </a:r>
          </a:p>
        </p:txBody>
      </p:sp>
      <p:sp>
        <p:nvSpPr>
          <p:cNvPr id="3" name="Content Placeholder 2"/>
          <p:cNvSpPr>
            <a:spLocks noGrp="1"/>
          </p:cNvSpPr>
          <p:nvPr>
            <p:ph idx="1"/>
          </p:nvPr>
        </p:nvSpPr>
        <p:spPr/>
        <p:txBody>
          <a:bodyPr/>
          <a:lstStyle/>
          <a:p>
            <a:r>
              <a:rPr dirty="0" err="1"/>
              <a:t>Dépendance</a:t>
            </a:r>
            <a:r>
              <a:rPr dirty="0"/>
              <a:t> aux données (</a:t>
            </a:r>
            <a:r>
              <a:rPr dirty="0" err="1"/>
              <a:t>qualité</a:t>
            </a:r>
            <a:r>
              <a:rPr dirty="0"/>
              <a:t>, </a:t>
            </a:r>
            <a:r>
              <a:rPr dirty="0" err="1"/>
              <a:t>biais</a:t>
            </a:r>
            <a:r>
              <a:rPr dirty="0"/>
              <a:t>, </a:t>
            </a:r>
            <a:r>
              <a:rPr dirty="0" err="1"/>
              <a:t>dérive</a:t>
            </a:r>
            <a:r>
              <a:rPr dirty="0"/>
              <a:t>)</a:t>
            </a:r>
          </a:p>
          <a:p>
            <a:r>
              <a:rPr dirty="0" err="1"/>
              <a:t>Robustesse</a:t>
            </a:r>
            <a:r>
              <a:rPr dirty="0"/>
              <a:t>, hallucinations, </a:t>
            </a:r>
            <a:r>
              <a:rPr dirty="0" err="1"/>
              <a:t>sécurité</a:t>
            </a:r>
            <a:r>
              <a:rPr dirty="0"/>
              <a:t> (adversarial)</a:t>
            </a:r>
          </a:p>
          <a:p>
            <a:r>
              <a:rPr dirty="0" err="1"/>
              <a:t>Explicabilité</a:t>
            </a:r>
            <a:r>
              <a:rPr dirty="0"/>
              <a:t>, </a:t>
            </a:r>
            <a:r>
              <a:rPr dirty="0" err="1"/>
              <a:t>auditabilité</a:t>
            </a:r>
            <a:r>
              <a:rPr dirty="0"/>
              <a:t>, </a:t>
            </a:r>
            <a:r>
              <a:rPr dirty="0" err="1"/>
              <a:t>conformité</a:t>
            </a:r>
            <a:r>
              <a:rPr dirty="0"/>
              <a:t> (RGPD</a:t>
            </a:r>
            <a:r>
              <a:rPr lang="fr-FR" dirty="0"/>
              <a:t>, AI </a:t>
            </a:r>
            <a:r>
              <a:rPr lang="fr-FR" dirty="0" err="1"/>
              <a:t>Act</a:t>
            </a:r>
            <a:r>
              <a:rPr dirty="0"/>
              <a:t>)</a:t>
            </a:r>
          </a:p>
          <a:p>
            <a:r>
              <a:rPr dirty="0"/>
              <a:t>Impact </a:t>
            </a:r>
            <a:r>
              <a:rPr dirty="0" err="1"/>
              <a:t>environnemental</a:t>
            </a:r>
            <a:r>
              <a:rPr dirty="0"/>
              <a:t> et </a:t>
            </a:r>
            <a:r>
              <a:rPr dirty="0" err="1"/>
              <a:t>coûts</a:t>
            </a:r>
            <a:endParaRPr dirty="0"/>
          </a:p>
          <a:p>
            <a:r>
              <a:rPr dirty="0" err="1"/>
              <a:t>Risques</a:t>
            </a:r>
            <a:r>
              <a:rPr dirty="0"/>
              <a:t> </a:t>
            </a:r>
            <a:r>
              <a:rPr dirty="0" err="1"/>
              <a:t>organisationnels</a:t>
            </a:r>
            <a:r>
              <a:rPr dirty="0"/>
              <a:t> : adoption, </a:t>
            </a:r>
            <a:r>
              <a:rPr dirty="0" err="1"/>
              <a:t>compétences</a:t>
            </a:r>
            <a:r>
              <a:rPr dirty="0"/>
              <a:t>, </a:t>
            </a:r>
            <a:r>
              <a:rPr dirty="0" err="1"/>
              <a:t>éthique</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Terminologie &amp; définitions</a:t>
            </a:r>
          </a:p>
        </p:txBody>
      </p:sp>
      <p:graphicFrame>
        <p:nvGraphicFramePr>
          <p:cNvPr id="3" name="Table 2"/>
          <p:cNvGraphicFramePr>
            <a:graphicFrameLocks noGrp="1"/>
          </p:cNvGraphicFramePr>
          <p:nvPr/>
        </p:nvGraphicFramePr>
        <p:xfrm>
          <a:off x="457200" y="1554480"/>
          <a:ext cx="8229600" cy="4547064"/>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4072">
                <a:tc>
                  <a:txBody>
                    <a:bodyPr/>
                    <a:lstStyle/>
                    <a:p>
                      <a:pPr>
                        <a:defRPr sz="1400"/>
                      </a:pPr>
                      <a:r>
                        <a:t>Terme</a:t>
                      </a:r>
                    </a:p>
                  </a:txBody>
                  <a:tcPr/>
                </a:tc>
                <a:tc>
                  <a:txBody>
                    <a:bodyPr/>
                    <a:lstStyle/>
                    <a:p>
                      <a:pPr>
                        <a:defRPr sz="1400"/>
                      </a:pPr>
                      <a:r>
                        <a:t>Définition</a:t>
                      </a:r>
                    </a:p>
                  </a:txBody>
                  <a:tcPr/>
                </a:tc>
                <a:extLst>
                  <a:ext uri="{0D108BD9-81ED-4DB2-BD59-A6C34878D82A}">
                    <a16:rowId xmlns:a16="http://schemas.microsoft.com/office/drawing/2014/main" val="10000"/>
                  </a:ext>
                </a:extLst>
              </a:tr>
              <a:tr h="374072">
                <a:tc>
                  <a:txBody>
                    <a:bodyPr/>
                    <a:lstStyle/>
                    <a:p>
                      <a:pPr>
                        <a:defRPr sz="1400"/>
                      </a:pPr>
                      <a:r>
                        <a:t>Agent</a:t>
                      </a:r>
                    </a:p>
                  </a:txBody>
                  <a:tcPr/>
                </a:tc>
                <a:tc>
                  <a:txBody>
                    <a:bodyPr/>
                    <a:lstStyle/>
                    <a:p>
                      <a:pPr>
                        <a:defRPr sz="1400"/>
                      </a:pPr>
                      <a:r>
                        <a:t>Entité qui perçoit l'environnement et agit via une politique</a:t>
                      </a:r>
                    </a:p>
                  </a:txBody>
                  <a:tcPr/>
                </a:tc>
                <a:extLst>
                  <a:ext uri="{0D108BD9-81ED-4DB2-BD59-A6C34878D82A}">
                    <a16:rowId xmlns:a16="http://schemas.microsoft.com/office/drawing/2014/main" val="10001"/>
                  </a:ext>
                </a:extLst>
              </a:tr>
              <a:tr h="374072">
                <a:tc>
                  <a:txBody>
                    <a:bodyPr/>
                    <a:lstStyle/>
                    <a:p>
                      <a:pPr>
                        <a:defRPr sz="1400"/>
                      </a:pPr>
                      <a:r>
                        <a:t>Environnement</a:t>
                      </a:r>
                    </a:p>
                  </a:txBody>
                  <a:tcPr/>
                </a:tc>
                <a:tc>
                  <a:txBody>
                    <a:bodyPr/>
                    <a:lstStyle/>
                    <a:p>
                      <a:pPr>
                        <a:defRPr sz="1400"/>
                      </a:pPr>
                      <a:r>
                        <a:t>Monde externe observé par l'agent</a:t>
                      </a:r>
                    </a:p>
                  </a:txBody>
                  <a:tcPr/>
                </a:tc>
                <a:extLst>
                  <a:ext uri="{0D108BD9-81ED-4DB2-BD59-A6C34878D82A}">
                    <a16:rowId xmlns:a16="http://schemas.microsoft.com/office/drawing/2014/main" val="10002"/>
                  </a:ext>
                </a:extLst>
              </a:tr>
              <a:tr h="374072">
                <a:tc>
                  <a:txBody>
                    <a:bodyPr/>
                    <a:lstStyle/>
                    <a:p>
                      <a:pPr>
                        <a:defRPr sz="1400"/>
                      </a:pPr>
                      <a:r>
                        <a:t>Algorithme</a:t>
                      </a:r>
                    </a:p>
                  </a:txBody>
                  <a:tcPr/>
                </a:tc>
                <a:tc>
                  <a:txBody>
                    <a:bodyPr/>
                    <a:lstStyle/>
                    <a:p>
                      <a:pPr>
                        <a:defRPr sz="1400"/>
                      </a:pPr>
                      <a:r>
                        <a:t>Procédure de calcul transformant des entrées en sorties</a:t>
                      </a:r>
                    </a:p>
                  </a:txBody>
                  <a:tcPr/>
                </a:tc>
                <a:extLst>
                  <a:ext uri="{0D108BD9-81ED-4DB2-BD59-A6C34878D82A}">
                    <a16:rowId xmlns:a16="http://schemas.microsoft.com/office/drawing/2014/main" val="10003"/>
                  </a:ext>
                </a:extLst>
              </a:tr>
              <a:tr h="374072">
                <a:tc>
                  <a:txBody>
                    <a:bodyPr/>
                    <a:lstStyle/>
                    <a:p>
                      <a:pPr>
                        <a:defRPr sz="1400"/>
                      </a:pPr>
                      <a:r>
                        <a:t>Donnée</a:t>
                      </a:r>
                    </a:p>
                  </a:txBody>
                  <a:tcPr/>
                </a:tc>
                <a:tc>
                  <a:txBody>
                    <a:bodyPr/>
                    <a:lstStyle/>
                    <a:p>
                      <a:pPr>
                        <a:defRPr sz="1400"/>
                      </a:pPr>
                      <a:r>
                        <a:t>Observation/mesure utilisée pour l'entraînement</a:t>
                      </a:r>
                    </a:p>
                  </a:txBody>
                  <a:tcPr/>
                </a:tc>
                <a:extLst>
                  <a:ext uri="{0D108BD9-81ED-4DB2-BD59-A6C34878D82A}">
                    <a16:rowId xmlns:a16="http://schemas.microsoft.com/office/drawing/2014/main" val="10004"/>
                  </a:ext>
                </a:extLst>
              </a:tr>
              <a:tr h="374072">
                <a:tc>
                  <a:txBody>
                    <a:bodyPr/>
                    <a:lstStyle/>
                    <a:p>
                      <a:pPr>
                        <a:defRPr sz="1400"/>
                      </a:pPr>
                      <a:r>
                        <a:t>Incertitude</a:t>
                      </a:r>
                    </a:p>
                  </a:txBody>
                  <a:tcPr/>
                </a:tc>
                <a:tc>
                  <a:txBody>
                    <a:bodyPr/>
                    <a:lstStyle/>
                    <a:p>
                      <a:pPr>
                        <a:defRPr sz="1400"/>
                      </a:pPr>
                      <a:r>
                        <a:t>Imprévisibilité due au bruit, à l'incomplétude ou au modèle</a:t>
                      </a:r>
                    </a:p>
                  </a:txBody>
                  <a:tcPr/>
                </a:tc>
                <a:extLst>
                  <a:ext uri="{0D108BD9-81ED-4DB2-BD59-A6C34878D82A}">
                    <a16:rowId xmlns:a16="http://schemas.microsoft.com/office/drawing/2014/main" val="10005"/>
                  </a:ext>
                </a:extLst>
              </a:tr>
              <a:tr h="374072">
                <a:tc>
                  <a:txBody>
                    <a:bodyPr/>
                    <a:lstStyle/>
                    <a:p>
                      <a:pPr>
                        <a:defRPr sz="1400"/>
                      </a:pPr>
                      <a:r>
                        <a:t>Modèle</a:t>
                      </a:r>
                    </a:p>
                  </a:txBody>
                  <a:tcPr/>
                </a:tc>
                <a:tc>
                  <a:txBody>
                    <a:bodyPr/>
                    <a:lstStyle/>
                    <a:p>
                      <a:pPr>
                        <a:defRPr sz="1400"/>
                      </a:pPr>
                      <a:r>
                        <a:t>Fonction paramétrée apprenant une tâche</a:t>
                      </a:r>
                    </a:p>
                  </a:txBody>
                  <a:tcPr/>
                </a:tc>
                <a:extLst>
                  <a:ext uri="{0D108BD9-81ED-4DB2-BD59-A6C34878D82A}">
                    <a16:rowId xmlns:a16="http://schemas.microsoft.com/office/drawing/2014/main" val="10006"/>
                  </a:ext>
                </a:extLst>
              </a:tr>
              <a:tr h="374072">
                <a:tc>
                  <a:txBody>
                    <a:bodyPr/>
                    <a:lstStyle/>
                    <a:p>
                      <a:pPr>
                        <a:defRPr sz="1400"/>
                      </a:pPr>
                      <a:r>
                        <a:t>Paramètres</a:t>
                      </a:r>
                    </a:p>
                  </a:txBody>
                  <a:tcPr/>
                </a:tc>
                <a:tc>
                  <a:txBody>
                    <a:bodyPr/>
                    <a:lstStyle/>
                    <a:p>
                      <a:pPr>
                        <a:defRPr sz="1400"/>
                      </a:pPr>
                      <a:r>
                        <a:t>Poids internes ajustés lors de l'entraînement</a:t>
                      </a:r>
                    </a:p>
                  </a:txBody>
                  <a:tcPr/>
                </a:tc>
                <a:extLst>
                  <a:ext uri="{0D108BD9-81ED-4DB2-BD59-A6C34878D82A}">
                    <a16:rowId xmlns:a16="http://schemas.microsoft.com/office/drawing/2014/main" val="10007"/>
                  </a:ext>
                </a:extLst>
              </a:tr>
              <a:tr h="374072">
                <a:tc>
                  <a:txBody>
                    <a:bodyPr/>
                    <a:lstStyle/>
                    <a:p>
                      <a:pPr>
                        <a:defRPr sz="1400"/>
                      </a:pPr>
                      <a:r>
                        <a:t>Perte (loss)</a:t>
                      </a:r>
                    </a:p>
                  </a:txBody>
                  <a:tcPr/>
                </a:tc>
                <a:tc>
                  <a:txBody>
                    <a:bodyPr/>
                    <a:lstStyle/>
                    <a:p>
                      <a:pPr>
                        <a:defRPr sz="1400"/>
                      </a:pPr>
                      <a:r>
                        <a:t>Fonction optimisée pour apprendre</a:t>
                      </a:r>
                    </a:p>
                  </a:txBody>
                  <a:tcPr/>
                </a:tc>
                <a:extLst>
                  <a:ext uri="{0D108BD9-81ED-4DB2-BD59-A6C34878D82A}">
                    <a16:rowId xmlns:a16="http://schemas.microsoft.com/office/drawing/2014/main" val="10008"/>
                  </a:ext>
                </a:extLst>
              </a:tr>
              <a:tr h="374072">
                <a:tc>
                  <a:txBody>
                    <a:bodyPr/>
                    <a:lstStyle/>
                    <a:p>
                      <a:pPr>
                        <a:defRPr sz="1400"/>
                      </a:pPr>
                      <a:r>
                        <a:t>Politique</a:t>
                      </a:r>
                    </a:p>
                  </a:txBody>
                  <a:tcPr/>
                </a:tc>
                <a:tc>
                  <a:txBody>
                    <a:bodyPr/>
                    <a:lstStyle/>
                    <a:p>
                      <a:pPr>
                        <a:defRPr sz="1400"/>
                      </a:pPr>
                      <a:r>
                        <a:t>Stratégie d'action (RL)</a:t>
                      </a:r>
                    </a:p>
                  </a:txBody>
                  <a:tcPr/>
                </a:tc>
                <a:extLst>
                  <a:ext uri="{0D108BD9-81ED-4DB2-BD59-A6C34878D82A}">
                    <a16:rowId xmlns:a16="http://schemas.microsoft.com/office/drawing/2014/main" val="10009"/>
                  </a:ext>
                </a:extLst>
              </a:tr>
              <a:tr h="374080">
                <a:tc>
                  <a:txBody>
                    <a:bodyPr/>
                    <a:lstStyle/>
                    <a:p>
                      <a:pPr>
                        <a:defRPr sz="1400"/>
                      </a:pPr>
                      <a:r>
                        <a:t>Récompense</a:t>
                      </a:r>
                    </a:p>
                  </a:txBody>
                  <a:tcPr/>
                </a:tc>
                <a:tc>
                  <a:txBody>
                    <a:bodyPr/>
                    <a:lstStyle/>
                    <a:p>
                      <a:pPr>
                        <a:defRPr sz="1400"/>
                      </a:pPr>
                      <a:r>
                        <a:t>Signal d'objectif (RL)</a:t>
                      </a: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1026" name="Picture 2" descr="Cycle de travail du data scientist - en.wikipedia.org/wiki/Data_science poue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7664" y="1484784"/>
            <a:ext cx="5415111" cy="4061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78283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Yann Le </a:t>
            </a:r>
            <a:r>
              <a:rPr lang="fr-FR" dirty="0" err="1"/>
              <a:t>Cun</a:t>
            </a:r>
            <a:endParaRPr lang="fr-FR" dirty="0"/>
          </a:p>
        </p:txBody>
      </p:sp>
      <p:sp>
        <p:nvSpPr>
          <p:cNvPr id="3" name="Espace réservé du contenu 2"/>
          <p:cNvSpPr>
            <a:spLocks noGrp="1"/>
          </p:cNvSpPr>
          <p:nvPr>
            <p:ph idx="1"/>
          </p:nvPr>
        </p:nvSpPr>
        <p:spPr/>
        <p:txBody>
          <a:bodyPr/>
          <a:lstStyle/>
          <a:p>
            <a:r>
              <a:rPr lang="fr-FR" dirty="0"/>
              <a:t>Co-inventeur de l’apprentissage profond</a:t>
            </a:r>
          </a:p>
          <a:p>
            <a:pPr lvl="1"/>
            <a:r>
              <a:rPr lang="fr-FR" dirty="0"/>
              <a:t>Prix Turing</a:t>
            </a:r>
          </a:p>
          <a:p>
            <a:pPr lvl="1"/>
            <a:r>
              <a:rPr lang="fr-FR" dirty="0"/>
              <a:t>Inventeur des CNN</a:t>
            </a:r>
          </a:p>
          <a:p>
            <a:r>
              <a:rPr lang="fr-FR" dirty="0"/>
              <a:t>Directeur de Facebook AI</a:t>
            </a:r>
          </a:p>
        </p:txBody>
      </p:sp>
      <p:pic>
        <p:nvPicPr>
          <p:cNvPr id="1026" name="Picture 2" descr="Yann LeCun - 2018 (cropp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6571" y="2204864"/>
            <a:ext cx="3596935" cy="4136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335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François Chollet</a:t>
            </a:r>
            <a:endParaRPr lang="fr-FR" dirty="0"/>
          </a:p>
        </p:txBody>
      </p:sp>
      <p:sp>
        <p:nvSpPr>
          <p:cNvPr id="3" name="Espace réservé du contenu 2"/>
          <p:cNvSpPr>
            <a:spLocks noGrp="1"/>
          </p:cNvSpPr>
          <p:nvPr>
            <p:ph idx="1"/>
          </p:nvPr>
        </p:nvSpPr>
        <p:spPr/>
        <p:txBody>
          <a:bodyPr/>
          <a:lstStyle/>
          <a:p>
            <a:r>
              <a:rPr lang="fr-FR" dirty="0"/>
              <a:t>Chef de projet Google </a:t>
            </a:r>
            <a:r>
              <a:rPr lang="fr-FR" dirty="0" err="1"/>
              <a:t>TensorFlow</a:t>
            </a:r>
            <a:endParaRPr lang="fr-FR" dirty="0"/>
          </a:p>
          <a:p>
            <a:r>
              <a:rPr lang="fr-FR" dirty="0"/>
              <a:t>Inventeur de </a:t>
            </a:r>
            <a:r>
              <a:rPr lang="fr-FR" dirty="0" err="1"/>
              <a:t>Keras</a:t>
            </a:r>
            <a:endParaRPr lang="fr-FR" dirty="0"/>
          </a:p>
        </p:txBody>
      </p:sp>
      <p:pic>
        <p:nvPicPr>
          <p:cNvPr id="1026" name="Picture 2" descr="FranÃ§ois Cholle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11266" y="1696525"/>
            <a:ext cx="1827194" cy="182719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Keras tutorial - keras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4803" y="3766908"/>
            <a:ext cx="990061" cy="990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43518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42ED8F-11AB-C149-14DE-0ECEEA2E5B2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164126B-6D65-4283-A1F1-8A8BB03CBF63}"/>
              </a:ext>
            </a:extLst>
          </p:cNvPr>
          <p:cNvSpPr>
            <a:spLocks noGrp="1"/>
          </p:cNvSpPr>
          <p:nvPr>
            <p:ph idx="1"/>
          </p:nvPr>
        </p:nvSpPr>
        <p:spPr/>
        <p:txBody>
          <a:bodyPr/>
          <a:lstStyle/>
          <a:p>
            <a:endParaRPr lang="fr-FR"/>
          </a:p>
        </p:txBody>
      </p:sp>
      <p:pic>
        <p:nvPicPr>
          <p:cNvPr id="1026" name="Picture 2" descr="1_hfyjxxcfingbcyzcgksaiq">
            <a:extLst>
              <a:ext uri="{FF2B5EF4-FFF2-40B4-BE49-F238E27FC236}">
                <a16:creationId xmlns:a16="http://schemas.microsoft.com/office/drawing/2014/main" id="{0248DE54-DD5F-56BD-F121-1923D3F596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48" y="1156208"/>
            <a:ext cx="9123224" cy="5225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38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But</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et en data science plus généralement, l'objectif est de trouver un modèle du phénomène à l'origine des données</a:t>
            </a:r>
          </a:p>
          <a:p>
            <a:r>
              <a:rPr lang="fr-FR" dirty="0"/>
              <a:t>C'est à dire qu'on considère que chaque donnée observée est l'expression d'une variable aléatoire générée par une distribution de probabilité</a:t>
            </a:r>
          </a:p>
          <a:p>
            <a:pPr lvl="1"/>
            <a:r>
              <a:rPr lang="fr-FR"/>
              <a:t>Par exemple les sondages</a:t>
            </a:r>
            <a:endParaRPr lang="fr-FR" dirty="0"/>
          </a:p>
        </p:txBody>
      </p:sp>
    </p:spTree>
    <p:extLst>
      <p:ext uri="{BB962C8B-B14F-4D97-AF65-F5344CB8AC3E}">
        <p14:creationId xmlns:p14="http://schemas.microsoft.com/office/powerpoint/2010/main" val="3282916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sp>
        <p:nvSpPr>
          <p:cNvPr id="3" name="Espace réservé du contenu 2"/>
          <p:cNvSpPr>
            <a:spLocks noGrp="1"/>
          </p:cNvSpPr>
          <p:nvPr>
            <p:ph idx="1"/>
          </p:nvPr>
        </p:nvSpPr>
        <p:spPr/>
        <p:txBody>
          <a:bodyPr/>
          <a:lstStyle/>
          <a:p>
            <a:r>
              <a:rPr lang="fr-FR" dirty="0"/>
              <a:t>Imaginez que vous voulez savoir si vous payez trop cher votre loyer</a:t>
            </a:r>
          </a:p>
          <a:p>
            <a:r>
              <a:rPr lang="fr-FR" dirty="0"/>
              <a:t>Vous avez récupéré sur un site de location une trentaine de prix des locations disponibles, ainsi que la surface associée</a:t>
            </a:r>
          </a:p>
        </p:txBody>
      </p:sp>
      <p:pic>
        <p:nvPicPr>
          <p:cNvPr id="4" name="Image 3"/>
          <p:cNvPicPr>
            <a:picLocks noChangeAspect="1"/>
          </p:cNvPicPr>
          <p:nvPr/>
        </p:nvPicPr>
        <p:blipFill>
          <a:blip r:embed="rId2"/>
          <a:stretch>
            <a:fillRect/>
          </a:stretch>
        </p:blipFill>
        <p:spPr>
          <a:xfrm>
            <a:off x="4932040" y="4149080"/>
            <a:ext cx="2809875" cy="2038350"/>
          </a:xfrm>
          <a:prstGeom prst="rect">
            <a:avLst/>
          </a:prstGeom>
        </p:spPr>
      </p:pic>
    </p:spTree>
    <p:extLst>
      <p:ext uri="{BB962C8B-B14F-4D97-AF65-F5344CB8AC3E}">
        <p14:creationId xmlns:p14="http://schemas.microsoft.com/office/powerpoint/2010/main" val="1040096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Graphique</a:t>
            </a:r>
          </a:p>
        </p:txBody>
      </p:sp>
      <p:sp>
        <p:nvSpPr>
          <p:cNvPr id="3" name="Espace réservé du contenu 2"/>
          <p:cNvSpPr>
            <a:spLocks noGrp="1"/>
          </p:cNvSpPr>
          <p:nvPr>
            <p:ph idx="1"/>
          </p:nvPr>
        </p:nvSpPr>
        <p:spPr/>
        <p:txBody>
          <a:bodyPr/>
          <a:lstStyle/>
          <a:p>
            <a:r>
              <a:rPr lang="fr-FR" dirty="0"/>
              <a:t>Surface / Loyer</a:t>
            </a:r>
          </a:p>
        </p:txBody>
      </p:sp>
      <p:pic>
        <p:nvPicPr>
          <p:cNvPr id="1028" name="Picture 4" descr="Le loyer mensuel en fonction de la surface du loge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2060848"/>
            <a:ext cx="5688632" cy="39314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639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a:t>
            </a:r>
          </a:p>
        </p:txBody>
      </p:sp>
      <p:sp>
        <p:nvSpPr>
          <p:cNvPr id="3" name="Espace réservé du contenu 2"/>
          <p:cNvSpPr>
            <a:spLocks noGrp="1"/>
          </p:cNvSpPr>
          <p:nvPr>
            <p:ph idx="1"/>
          </p:nvPr>
        </p:nvSpPr>
        <p:spPr/>
        <p:txBody>
          <a:bodyPr/>
          <a:lstStyle/>
          <a:p>
            <a:r>
              <a:rPr lang="fr-FR" dirty="0"/>
              <a:t>Une régression est une formule mathématique qui étudie des données réelles d’une manière proche de la réalité mais simplifiée</a:t>
            </a:r>
          </a:p>
          <a:p>
            <a:r>
              <a:rPr lang="fr-FR" dirty="0"/>
              <a:t>Différent type</a:t>
            </a:r>
          </a:p>
          <a:p>
            <a:pPr lvl="1"/>
            <a:r>
              <a:rPr lang="fr-FR" dirty="0"/>
              <a:t>Linéaire</a:t>
            </a:r>
          </a:p>
          <a:p>
            <a:pPr lvl="1"/>
            <a:r>
              <a:rPr lang="fr-FR" dirty="0"/>
              <a:t>Second degré</a:t>
            </a:r>
          </a:p>
          <a:p>
            <a:pPr lvl="1"/>
            <a:r>
              <a:rPr lang="fr-FR" dirty="0"/>
              <a:t>Polynomiale</a:t>
            </a:r>
          </a:p>
          <a:p>
            <a:pPr lvl="1"/>
            <a:r>
              <a:rPr lang="fr-FR" dirty="0" err="1"/>
              <a:t>Sinusoidale</a:t>
            </a:r>
            <a:endParaRPr lang="fr-FR" dirty="0"/>
          </a:p>
          <a:p>
            <a:pPr lvl="1"/>
            <a:r>
              <a:rPr lang="fr-FR" dirty="0"/>
              <a:t>Elliptique</a:t>
            </a:r>
          </a:p>
        </p:txBody>
      </p:sp>
    </p:spTree>
    <p:extLst>
      <p:ext uri="{BB962C8B-B14F-4D97-AF65-F5344CB8AC3E}">
        <p14:creationId xmlns:p14="http://schemas.microsoft.com/office/powerpoint/2010/main" val="40016493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 linéaire</a:t>
            </a:r>
          </a:p>
        </p:txBody>
      </p:sp>
      <p:sp>
        <p:nvSpPr>
          <p:cNvPr id="3" name="Espace réservé du contenu 2"/>
          <p:cNvSpPr>
            <a:spLocks noGrp="1"/>
          </p:cNvSpPr>
          <p:nvPr>
            <p:ph idx="1"/>
          </p:nvPr>
        </p:nvSpPr>
        <p:spPr/>
        <p:txBody>
          <a:bodyPr/>
          <a:lstStyle/>
          <a:p>
            <a:r>
              <a:rPr lang="fr-FR" dirty="0"/>
              <a:t>Notre exemple montre une régression linéaire</a:t>
            </a:r>
          </a:p>
          <a:p>
            <a:endParaRPr lang="fr-FR" dirty="0"/>
          </a:p>
        </p:txBody>
      </p:sp>
      <p:pic>
        <p:nvPicPr>
          <p:cNvPr id="2056" name="Picture 8" descr="la droite de régression correspondant à la modélisation statistique du nuage de point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1" y="2420888"/>
            <a:ext cx="5212067" cy="3648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66377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Erreur</a:t>
            </a:r>
          </a:p>
        </p:txBody>
      </p:sp>
      <p:sp>
        <p:nvSpPr>
          <p:cNvPr id="3" name="Espace réservé du contenu 2"/>
          <p:cNvSpPr>
            <a:spLocks noGrp="1"/>
          </p:cNvSpPr>
          <p:nvPr>
            <p:ph idx="1"/>
          </p:nvPr>
        </p:nvSpPr>
        <p:spPr/>
        <p:txBody>
          <a:bodyPr/>
          <a:lstStyle/>
          <a:p>
            <a:r>
              <a:rPr lang="fr-FR" dirty="0"/>
              <a:t>Un écart type et un taux de confiance peut être calculé</a:t>
            </a:r>
          </a:p>
          <a:p>
            <a:endParaRPr lang="fr-FR" dirty="0"/>
          </a:p>
          <a:p>
            <a:endParaRPr lang="fr-FR" dirty="0"/>
          </a:p>
          <a:p>
            <a:endParaRPr lang="fr-FR" dirty="0"/>
          </a:p>
          <a:p>
            <a:endParaRPr lang="fr-FR" dirty="0"/>
          </a:p>
          <a:p>
            <a:endParaRPr lang="fr-FR" dirty="0"/>
          </a:p>
          <a:p>
            <a:endParaRPr lang="fr-FR" dirty="0"/>
          </a:p>
          <a:p>
            <a:r>
              <a:rPr lang="fr-FR" dirty="0"/>
              <a:t>Exemple : taux de confiance à 90%</a:t>
            </a:r>
          </a:p>
        </p:txBody>
      </p:sp>
      <p:pic>
        <p:nvPicPr>
          <p:cNvPr id="3074" name="Picture 2" descr="l'intervalle de confiance (à 90%) que les point se trouvent dans cette zo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2276872"/>
            <a:ext cx="4286250" cy="30003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8921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Classification</a:t>
            </a:r>
          </a:p>
        </p:txBody>
      </p:sp>
      <p:sp>
        <p:nvSpPr>
          <p:cNvPr id="3" name="Espace réservé du contenu 2"/>
          <p:cNvSpPr>
            <a:spLocks noGrp="1"/>
          </p:cNvSpPr>
          <p:nvPr>
            <p:ph idx="1"/>
          </p:nvPr>
        </p:nvSpPr>
        <p:spPr/>
        <p:txBody>
          <a:bodyPr/>
          <a:lstStyle/>
          <a:p>
            <a:r>
              <a:rPr lang="fr-FR" dirty="0"/>
              <a:t>Une autre distinction qui vous aidera dans le choix d'un algorithme de machine </a:t>
            </a:r>
            <a:r>
              <a:rPr lang="fr-FR" dirty="0" err="1"/>
              <a:t>learning</a:t>
            </a:r>
            <a:r>
              <a:rPr lang="fr-FR" dirty="0"/>
              <a:t> est le type de sortie que l'on attend de notre programme</a:t>
            </a:r>
          </a:p>
          <a:p>
            <a:pPr lvl="1"/>
            <a:r>
              <a:rPr lang="fr-FR" dirty="0"/>
              <a:t>Est-ce une valeur continue (un nombre)</a:t>
            </a:r>
          </a:p>
          <a:p>
            <a:pPr lvl="1"/>
            <a:r>
              <a:rPr lang="fr-FR" dirty="0"/>
              <a:t>ou bien une valeur discrète (une catégorie) ?</a:t>
            </a:r>
          </a:p>
          <a:p>
            <a:r>
              <a:rPr lang="fr-FR" dirty="0"/>
              <a:t>Le premier cas est appelé une régression, le second une classification</a:t>
            </a:r>
          </a:p>
        </p:txBody>
      </p:sp>
      <p:pic>
        <p:nvPicPr>
          <p:cNvPr id="1026" name="Picture 2" descr="Illustration de la différence entre régression et classific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4591645"/>
            <a:ext cx="4286250"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5263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B79A36-DCA2-04FF-4BD9-ADEA618418F6}"/>
              </a:ext>
            </a:extLst>
          </p:cNvPr>
          <p:cNvSpPr>
            <a:spLocks noGrp="1"/>
          </p:cNvSpPr>
          <p:nvPr>
            <p:ph type="title"/>
          </p:nvPr>
        </p:nvSpPr>
        <p:spPr/>
        <p:txBody>
          <a:bodyPr/>
          <a:lstStyle/>
          <a:p>
            <a:r>
              <a:rPr lang="fr-FR" dirty="0"/>
              <a:t>Principes mathématiques</a:t>
            </a:r>
          </a:p>
        </p:txBody>
      </p:sp>
      <p:sp>
        <p:nvSpPr>
          <p:cNvPr id="3" name="Espace réservé du contenu 2">
            <a:extLst>
              <a:ext uri="{FF2B5EF4-FFF2-40B4-BE49-F238E27FC236}">
                <a16:creationId xmlns:a16="http://schemas.microsoft.com/office/drawing/2014/main" id="{AA9957CF-3C17-0A94-E370-57CDB0345762}"/>
              </a:ext>
            </a:extLst>
          </p:cNvPr>
          <p:cNvSpPr>
            <a:spLocks noGrp="1"/>
          </p:cNvSpPr>
          <p:nvPr>
            <p:ph idx="1"/>
          </p:nvPr>
        </p:nvSpPr>
        <p:spPr/>
        <p:txBody>
          <a:bodyPr/>
          <a:lstStyle/>
          <a:p>
            <a:r>
              <a:rPr lang="fr-FR" dirty="0"/>
              <a:t>De nombreux principes mathématiques et statistiques régissent le Machine Learning</a:t>
            </a:r>
          </a:p>
          <a:p>
            <a:pPr lvl="1"/>
            <a:r>
              <a:rPr lang="fr-FR" sz="2000" dirty="0"/>
              <a:t>D'avantage pour le </a:t>
            </a:r>
            <a:r>
              <a:rPr lang="fr-FR" sz="2000"/>
              <a:t>Deep Learning</a:t>
            </a:r>
            <a:endParaRPr lang="fr-FR" sz="2000" dirty="0"/>
          </a:p>
          <a:p>
            <a:r>
              <a:rPr lang="fr-FR" dirty="0"/>
              <a:t>Statistiques</a:t>
            </a:r>
          </a:p>
          <a:p>
            <a:pPr lvl="1"/>
            <a:r>
              <a:rPr lang="fr-FR" sz="2000" dirty="0"/>
              <a:t>Distribution, loi normale, échantillonnage</a:t>
            </a:r>
          </a:p>
          <a:p>
            <a:r>
              <a:rPr lang="fr-FR" dirty="0"/>
              <a:t>Algorithmiques</a:t>
            </a:r>
            <a:endParaRPr lang="fr-FR" sz="2000" dirty="0"/>
          </a:p>
          <a:p>
            <a:r>
              <a:rPr lang="fr-FR" dirty="0"/>
              <a:t>MDP</a:t>
            </a:r>
          </a:p>
          <a:p>
            <a:pPr lvl="1"/>
            <a:r>
              <a:rPr lang="fr-FR" sz="2000" dirty="0"/>
              <a:t>Les processus de décision markoviens modélisent des états, actions et </a:t>
            </a:r>
            <a:r>
              <a:rPr lang="fr-FR" sz="1800" dirty="0"/>
              <a:t>récompenses </a:t>
            </a:r>
            <a:r>
              <a:rPr lang="fr-FR" dirty="0"/>
              <a:t>pour la prise de décision séquentielle.​</a:t>
            </a:r>
            <a:endParaRPr lang="fr-FR" sz="2800" dirty="0"/>
          </a:p>
          <a:p>
            <a:r>
              <a:rPr lang="fr-FR" dirty="0"/>
              <a:t>Équations de Bellman​</a:t>
            </a:r>
          </a:p>
          <a:p>
            <a:pPr lvl="1"/>
            <a:r>
              <a:rPr lang="fr-FR" sz="2000" dirty="0"/>
              <a:t>Les équations de Bellman définissent la relation récursive pour calculer les fonctions des valeurs optimales.​</a:t>
            </a:r>
          </a:p>
        </p:txBody>
      </p:sp>
    </p:spTree>
    <p:extLst>
      <p:ext uri="{BB962C8B-B14F-4D97-AF65-F5344CB8AC3E}">
        <p14:creationId xmlns:p14="http://schemas.microsoft.com/office/powerpoint/2010/main" val="24442780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Trouver le bon modèle</a:t>
            </a:r>
          </a:p>
        </p:txBody>
      </p:sp>
      <p:sp>
        <p:nvSpPr>
          <p:cNvPr id="3" name="Espace réservé du contenu 2"/>
          <p:cNvSpPr>
            <a:spLocks noGrp="1"/>
          </p:cNvSpPr>
          <p:nvPr>
            <p:ph idx="1"/>
          </p:nvPr>
        </p:nvSpPr>
        <p:spPr/>
        <p:txBody>
          <a:bodyPr/>
          <a:lstStyle/>
          <a:p>
            <a:r>
              <a:rPr lang="fr-FR" dirty="0"/>
              <a:t>Pour résumer, le travail de modélisation consiste à trouver le bon modèle statistique qui colle le mieux aux données d'exemple</a:t>
            </a:r>
          </a:p>
          <a:p>
            <a:r>
              <a:rPr lang="fr-FR" dirty="0"/>
              <a:t>Le machine </a:t>
            </a:r>
            <a:r>
              <a:rPr lang="fr-FR" dirty="0" err="1"/>
              <a:t>learning</a:t>
            </a:r>
            <a:r>
              <a:rPr lang="fr-FR" dirty="0"/>
              <a:t> en particulier intervient pour trouver ce modèle de manière automatisée</a:t>
            </a:r>
          </a:p>
          <a:p>
            <a:r>
              <a:rPr lang="fr-FR" dirty="0"/>
              <a:t>Problème du quartet d’</a:t>
            </a:r>
            <a:r>
              <a:rPr lang="fr-FR" dirty="0" err="1"/>
              <a:t>Ascombe</a:t>
            </a:r>
            <a:endParaRPr lang="fr-FR" dirty="0"/>
          </a:p>
        </p:txBody>
      </p:sp>
    </p:spTree>
    <p:extLst>
      <p:ext uri="{BB962C8B-B14F-4D97-AF65-F5344CB8AC3E}">
        <p14:creationId xmlns:p14="http://schemas.microsoft.com/office/powerpoint/2010/main" val="3748214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Apprentissage</a:t>
            </a:r>
          </a:p>
        </p:txBody>
      </p:sp>
      <p:sp>
        <p:nvSpPr>
          <p:cNvPr id="3" name="Espace réservé du contenu 2"/>
          <p:cNvSpPr>
            <a:spLocks noGrp="1"/>
          </p:cNvSpPr>
          <p:nvPr>
            <p:ph idx="1"/>
          </p:nvPr>
        </p:nvSpPr>
        <p:spPr/>
        <p:txBody>
          <a:bodyPr/>
          <a:lstStyle/>
          <a:p>
            <a:r>
              <a:rPr lang="fr-FR" dirty="0"/>
              <a:t>En machine </a:t>
            </a:r>
            <a:r>
              <a:rPr lang="fr-FR" dirty="0" err="1"/>
              <a:t>learning</a:t>
            </a:r>
            <a:r>
              <a:rPr lang="fr-FR" dirty="0"/>
              <a:t>, l'idée est que l'algorithme construise une "représentation interne" tout seul afin de pouvoir effectuer la tâche qui lui est demandée (prédiction, identification, </a:t>
            </a:r>
            <a:r>
              <a:rPr lang="fr-FR" dirty="0" err="1"/>
              <a:t>etc</a:t>
            </a:r>
            <a:r>
              <a:rPr lang="fr-FR" dirty="0"/>
              <a:t>)</a:t>
            </a:r>
          </a:p>
          <a:p>
            <a:r>
              <a:rPr lang="fr-FR" dirty="0"/>
              <a:t>L’être humain est quasiment incapable d’écrire l’algorithme</a:t>
            </a:r>
          </a:p>
          <a:p>
            <a:r>
              <a:rPr lang="fr-FR" dirty="0"/>
              <a:t>Pour cela, il va d'abord falloir lui entrer un jeu de données d'exemples afin qu'il puisse s'entraîner et s'améliorer, d'où le mot apprentissage</a:t>
            </a:r>
          </a:p>
          <a:p>
            <a:r>
              <a:rPr lang="fr-FR" dirty="0"/>
              <a:t>Ce jeu de données s'appelle le training set</a:t>
            </a:r>
          </a:p>
          <a:p>
            <a:endParaRPr lang="fr-FR" dirty="0"/>
          </a:p>
        </p:txBody>
      </p:sp>
    </p:spTree>
    <p:extLst>
      <p:ext uri="{BB962C8B-B14F-4D97-AF65-F5344CB8AC3E}">
        <p14:creationId xmlns:p14="http://schemas.microsoft.com/office/powerpoint/2010/main" val="1896891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Machine Learning </a:t>
            </a:r>
            <a:r>
              <a:rPr lang="fr-FR"/>
              <a:t>vs Programmation</a:t>
            </a:r>
            <a:endParaRPr lang="fr-FR" dirty="0"/>
          </a:p>
        </p:txBody>
      </p:sp>
      <p:pic>
        <p:nvPicPr>
          <p:cNvPr id="1026" name="Picture 2" descr="https://dpzbhybb2pdcj.cloudfront.net/allaire/Figures/01fig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420888"/>
            <a:ext cx="6048672" cy="3069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815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a:t>
            </a:r>
          </a:p>
        </p:txBody>
      </p:sp>
      <p:pic>
        <p:nvPicPr>
          <p:cNvPr id="6146" name="Picture 2" descr="Un exemple de jeu de données classique (appelé CIFAR-10) qui permet d'entraîner un modèle de machine learn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0716" y="1156209"/>
            <a:ext cx="6697627" cy="5177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44257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Workflow</a:t>
            </a:r>
          </a:p>
        </p:txBody>
      </p:sp>
      <p:pic>
        <p:nvPicPr>
          <p:cNvPr id="7170" name="Picture 2" descr="Un détail de des deux phases du process de machine learni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7624" y="1268760"/>
            <a:ext cx="6902073" cy="4678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71988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Exemples</a:t>
            </a:r>
          </a:p>
        </p:txBody>
      </p:sp>
      <p:sp>
        <p:nvSpPr>
          <p:cNvPr id="3" name="Espace réservé du contenu 2"/>
          <p:cNvSpPr>
            <a:spLocks noGrp="1"/>
          </p:cNvSpPr>
          <p:nvPr>
            <p:ph idx="1"/>
          </p:nvPr>
        </p:nvSpPr>
        <p:spPr/>
        <p:txBody>
          <a:bodyPr/>
          <a:lstStyle/>
          <a:p>
            <a:r>
              <a:rPr lang="fr-FR" dirty="0"/>
              <a:t>Quelques exemples d'algorithmes de machine </a:t>
            </a:r>
            <a:r>
              <a:rPr lang="fr-FR" dirty="0" err="1"/>
              <a:t>learning</a:t>
            </a:r>
            <a:r>
              <a:rPr lang="fr-FR" dirty="0"/>
              <a:t>, dont vous avez peut-être déjà entendu parler :</a:t>
            </a:r>
          </a:p>
          <a:p>
            <a:pPr lvl="1"/>
            <a:r>
              <a:rPr lang="fr-FR" dirty="0"/>
              <a:t>La régression linéaire</a:t>
            </a:r>
          </a:p>
          <a:p>
            <a:pPr lvl="1"/>
            <a:r>
              <a:rPr lang="fr-FR" dirty="0" err="1"/>
              <a:t>K-nn</a:t>
            </a:r>
            <a:endParaRPr lang="fr-FR" dirty="0"/>
          </a:p>
          <a:p>
            <a:pPr lvl="1"/>
            <a:r>
              <a:rPr lang="fr-FR" dirty="0"/>
              <a:t>Les Support </a:t>
            </a:r>
            <a:r>
              <a:rPr lang="fr-FR" dirty="0" err="1"/>
              <a:t>Vector</a:t>
            </a:r>
            <a:r>
              <a:rPr lang="fr-FR" dirty="0"/>
              <a:t> Machine (SVM)</a:t>
            </a:r>
          </a:p>
          <a:p>
            <a:pPr lvl="1"/>
            <a:r>
              <a:rPr lang="fr-FR" dirty="0"/>
              <a:t>Les réseaux de neurones</a:t>
            </a:r>
          </a:p>
          <a:p>
            <a:pPr lvl="1"/>
            <a:r>
              <a:rPr lang="fr-FR" dirty="0"/>
              <a:t>Les </a:t>
            </a:r>
            <a:r>
              <a:rPr lang="fr-FR" dirty="0" err="1"/>
              <a:t>random</a:t>
            </a:r>
            <a:r>
              <a:rPr lang="fr-FR" dirty="0"/>
              <a:t> </a:t>
            </a:r>
            <a:r>
              <a:rPr lang="fr-FR" dirty="0" err="1"/>
              <a:t>forests</a:t>
            </a:r>
            <a:endParaRPr lang="fr-FR" dirty="0"/>
          </a:p>
          <a:p>
            <a:pPr lvl="1"/>
            <a:r>
              <a:rPr lang="fr-FR" dirty="0"/>
              <a:t>etc.</a:t>
            </a:r>
          </a:p>
        </p:txBody>
      </p:sp>
    </p:spTree>
    <p:extLst>
      <p:ext uri="{BB962C8B-B14F-4D97-AF65-F5344CB8AC3E}">
        <p14:creationId xmlns:p14="http://schemas.microsoft.com/office/powerpoint/2010/main" val="41523990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a:xfrm>
            <a:off x="179513" y="1412776"/>
            <a:ext cx="5047360" cy="5040560"/>
          </a:xfrm>
        </p:spPr>
        <p:txBody>
          <a:bodyPr/>
          <a:lstStyle/>
          <a:p>
            <a:r>
              <a:rPr lang="fr-FR" sz="2400" dirty="0"/>
              <a:t>Initié et piloté en France par l'INRIA et Télécom </a:t>
            </a:r>
            <a:r>
              <a:rPr lang="fr-FR" sz="2400" dirty="0" err="1"/>
              <a:t>ParisTech</a:t>
            </a:r>
            <a:r>
              <a:rPr lang="fr-FR" sz="2400" dirty="0"/>
              <a:t>, le projet open source </a:t>
            </a:r>
            <a:r>
              <a:rPr lang="fr-FR" sz="2400" dirty="0" err="1"/>
              <a:t>Scikit-learn</a:t>
            </a:r>
            <a:r>
              <a:rPr lang="fr-FR" sz="2400" dirty="0"/>
              <a:t> est devenu une référence dans le monde de l'intelligence artificielle</a:t>
            </a:r>
          </a:p>
          <a:p>
            <a:pPr lvl="1"/>
            <a:r>
              <a:rPr lang="fr-FR" sz="2000" dirty="0"/>
              <a:t>De Paris à San Francisco en passant par Singapour, la bibliothèque de machine </a:t>
            </a:r>
            <a:r>
              <a:rPr lang="fr-FR" sz="2000" dirty="0" err="1"/>
              <a:t>learning</a:t>
            </a:r>
            <a:r>
              <a:rPr lang="fr-FR" sz="2000" dirty="0"/>
              <a:t>, écrite en Python, s'impose aux start-up jusqu'aux grands groupes, </a:t>
            </a:r>
            <a:r>
              <a:rPr lang="fr-FR" sz="2000" dirty="0" err="1"/>
              <a:t>Gafam</a:t>
            </a:r>
            <a:r>
              <a:rPr lang="fr-FR" sz="2000" dirty="0"/>
              <a:t> compris.</a:t>
            </a:r>
          </a:p>
          <a:p>
            <a:r>
              <a:rPr lang="fr-FR" sz="2400" dirty="0" err="1"/>
              <a:t>pip</a:t>
            </a:r>
            <a:r>
              <a:rPr lang="fr-FR" sz="2400" dirty="0"/>
              <a:t> </a:t>
            </a:r>
            <a:r>
              <a:rPr lang="fr-FR" sz="2400" dirty="0" err="1"/>
              <a:t>install</a:t>
            </a:r>
            <a:r>
              <a:rPr lang="fr-FR" sz="2400" dirty="0"/>
              <a:t> </a:t>
            </a:r>
            <a:r>
              <a:rPr lang="fr-FR" sz="2400" dirty="0" err="1"/>
              <a:t>scikit-learn</a:t>
            </a:r>
            <a:endParaRPr lang="fr-FR" sz="2400" dirty="0"/>
          </a:p>
          <a:p>
            <a:pPr lvl="1"/>
            <a:endParaRPr lang="fr-FR" sz="2000" dirty="0"/>
          </a:p>
        </p:txBody>
      </p:sp>
      <p:pic>
        <p:nvPicPr>
          <p:cNvPr id="7" name="Image 6"/>
          <p:cNvPicPr>
            <a:picLocks noChangeAspect="1"/>
          </p:cNvPicPr>
          <p:nvPr/>
        </p:nvPicPr>
        <p:blipFill>
          <a:blip r:embed="rId2"/>
          <a:stretch>
            <a:fillRect/>
          </a:stretch>
        </p:blipFill>
        <p:spPr>
          <a:xfrm>
            <a:off x="3348951" y="203709"/>
            <a:ext cx="3067050" cy="762000"/>
          </a:xfrm>
          <a:prstGeom prst="rect">
            <a:avLst/>
          </a:prstGeom>
        </p:spPr>
      </p:pic>
      <p:pic>
        <p:nvPicPr>
          <p:cNvPr id="4" name="Image 3"/>
          <p:cNvPicPr>
            <a:picLocks noChangeAspect="1"/>
          </p:cNvPicPr>
          <p:nvPr/>
        </p:nvPicPr>
        <p:blipFill>
          <a:blip r:embed="rId3"/>
          <a:stretch>
            <a:fillRect/>
          </a:stretch>
        </p:blipFill>
        <p:spPr>
          <a:xfrm>
            <a:off x="5226873" y="1844824"/>
            <a:ext cx="3893488" cy="4752528"/>
          </a:xfrm>
          <a:prstGeom prst="rect">
            <a:avLst/>
          </a:prstGeom>
        </p:spPr>
      </p:pic>
    </p:spTree>
    <p:extLst>
      <p:ext uri="{BB962C8B-B14F-4D97-AF65-F5344CB8AC3E}">
        <p14:creationId xmlns:p14="http://schemas.microsoft.com/office/powerpoint/2010/main" val="7614712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3" name="Espace réservé du contenu 2"/>
          <p:cNvSpPr>
            <a:spLocks noGrp="1"/>
          </p:cNvSpPr>
          <p:nvPr>
            <p:ph idx="1"/>
          </p:nvPr>
        </p:nvSpPr>
        <p:spPr/>
        <p:txBody>
          <a:bodyPr/>
          <a:lstStyle/>
          <a:p>
            <a:r>
              <a:rPr lang="fr-FR" dirty="0" err="1"/>
              <a:t>Scikit-learn</a:t>
            </a:r>
            <a:r>
              <a:rPr lang="fr-FR" dirty="0"/>
              <a:t> est le package de machine </a:t>
            </a:r>
            <a:r>
              <a:rPr lang="fr-FR" dirty="0" err="1"/>
              <a:t>learning</a:t>
            </a:r>
            <a:r>
              <a:rPr lang="fr-FR" dirty="0"/>
              <a:t> Python</a:t>
            </a:r>
          </a:p>
          <a:p>
            <a:pPr lvl="1"/>
            <a:r>
              <a:rPr lang="fr-FR" dirty="0"/>
              <a:t>Catégorisation</a:t>
            </a:r>
          </a:p>
          <a:p>
            <a:pPr lvl="1"/>
            <a:r>
              <a:rPr lang="fr-FR" dirty="0"/>
              <a:t>Régression</a:t>
            </a:r>
          </a:p>
          <a:p>
            <a:pPr lvl="1"/>
            <a:r>
              <a:rPr lang="fr-FR" dirty="0" err="1"/>
              <a:t>Clusterisation</a:t>
            </a:r>
            <a:r>
              <a:rPr lang="fr-FR" dirty="0"/>
              <a:t> (regroupement)</a:t>
            </a:r>
          </a:p>
          <a:p>
            <a:pPr lvl="1"/>
            <a:r>
              <a:rPr lang="fr-FR" dirty="0"/>
              <a:t>Réduction de dimension</a:t>
            </a:r>
          </a:p>
          <a:p>
            <a:pPr lvl="1"/>
            <a:r>
              <a:rPr lang="fr-FR" dirty="0"/>
              <a:t>Sélection de modèle</a:t>
            </a:r>
          </a:p>
          <a:p>
            <a:pPr lvl="1"/>
            <a:r>
              <a:rPr lang="fr-FR" dirty="0" err="1"/>
              <a:t>Preprocessing</a:t>
            </a:r>
            <a:r>
              <a:rPr lang="fr-FR" dirty="0"/>
              <a:t> (Filtrage, Randomisation)</a:t>
            </a:r>
          </a:p>
          <a:p>
            <a:pPr lvl="1"/>
            <a:endParaRPr lang="fr-FR" dirty="0"/>
          </a:p>
          <a:p>
            <a:pPr lvl="1"/>
            <a:endParaRPr lang="fr-FR" dirty="0"/>
          </a:p>
        </p:txBody>
      </p:sp>
      <p:pic>
        <p:nvPicPr>
          <p:cNvPr id="7" name="Image 6"/>
          <p:cNvPicPr>
            <a:picLocks noChangeAspect="1"/>
          </p:cNvPicPr>
          <p:nvPr/>
        </p:nvPicPr>
        <p:blipFill>
          <a:blip r:embed="rId2"/>
          <a:stretch>
            <a:fillRect/>
          </a:stretch>
        </p:blipFill>
        <p:spPr>
          <a:xfrm>
            <a:off x="3348951" y="203709"/>
            <a:ext cx="3067050" cy="762000"/>
          </a:xfrm>
          <a:prstGeom prst="rect">
            <a:avLst/>
          </a:prstGeom>
        </p:spPr>
      </p:pic>
      <p:pic>
        <p:nvPicPr>
          <p:cNvPr id="1026" name="Picture 2" descr="http://scikit-learn.org/stable/_images/sphx_glr_plot_classifier_comparison_001_carouse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5043336"/>
            <a:ext cx="5715000" cy="180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8605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a:t>
            </a:r>
          </a:p>
        </p:txBody>
      </p:sp>
      <p:sp>
        <p:nvSpPr>
          <p:cNvPr id="3" name="Espace réservé du contenu 2"/>
          <p:cNvSpPr>
            <a:spLocks noGrp="1"/>
          </p:cNvSpPr>
          <p:nvPr>
            <p:ph idx="1"/>
          </p:nvPr>
        </p:nvSpPr>
        <p:spPr/>
        <p:txBody>
          <a:bodyPr/>
          <a:lstStyle/>
          <a:p>
            <a:r>
              <a:rPr lang="fr-FR" dirty="0"/>
              <a:t>Commençons par la régression linéaire</a:t>
            </a:r>
          </a:p>
          <a:p>
            <a:r>
              <a:rPr lang="fr-FR" dirty="0"/>
              <a:t>Import </a:t>
            </a:r>
            <a:r>
              <a:rPr lang="fr-FR" dirty="0" err="1"/>
              <a:t>sklearn.linearmodel</a:t>
            </a:r>
            <a:endParaRPr lang="fr-FR" dirty="0"/>
          </a:p>
          <a:p>
            <a:pPr lvl="1"/>
            <a:r>
              <a:rPr lang="fr-FR" dirty="0"/>
              <a:t>Minimisation de l’erreur </a:t>
            </a:r>
            <a:r>
              <a:rPr lang="fr-FR" dirty="0" err="1"/>
              <a:t>quadritique</a:t>
            </a:r>
            <a:endParaRPr lang="fr-FR" dirty="0"/>
          </a:p>
          <a:p>
            <a:r>
              <a:rPr lang="fr-FR" dirty="0"/>
              <a:t>Classe </a:t>
            </a:r>
            <a:r>
              <a:rPr lang="fr-FR" dirty="0" err="1"/>
              <a:t>LinearRegression</a:t>
            </a:r>
            <a:endParaRPr lang="fr-FR" dirty="0"/>
          </a:p>
          <a:p>
            <a:r>
              <a:rPr lang="fr-FR" dirty="0"/>
              <a:t>Fit()</a:t>
            </a:r>
          </a:p>
          <a:p>
            <a:pPr lvl="1"/>
            <a:r>
              <a:rPr lang="fr-FR" dirty="0"/>
              <a:t>Va démarrer l’apprentissage</a:t>
            </a:r>
          </a:p>
          <a:p>
            <a:r>
              <a:rPr lang="fr-FR" dirty="0" err="1"/>
              <a:t>Predict</a:t>
            </a:r>
            <a:r>
              <a:rPr lang="fr-FR" dirty="0"/>
              <a:t>()</a:t>
            </a:r>
          </a:p>
          <a:p>
            <a:pPr lvl="1"/>
            <a:r>
              <a:rPr lang="fr-FR" dirty="0"/>
              <a:t>Joue le modèle</a:t>
            </a:r>
          </a:p>
          <a:p>
            <a:r>
              <a:rPr lang="fr-FR" dirty="0"/>
              <a:t>Résultats identiques à </a:t>
            </a:r>
            <a:r>
              <a:rPr lang="fr-FR" dirty="0" err="1"/>
              <a:t>SciPy</a:t>
            </a:r>
            <a:endParaRPr lang="fr-FR" dirty="0"/>
          </a:p>
        </p:txBody>
      </p:sp>
    </p:spTree>
    <p:extLst>
      <p:ext uri="{BB962C8B-B14F-4D97-AF65-F5344CB8AC3E}">
        <p14:creationId xmlns:p14="http://schemas.microsoft.com/office/powerpoint/2010/main" val="19098378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Régression</a:t>
            </a:r>
          </a:p>
        </p:txBody>
      </p:sp>
      <p:pic>
        <p:nvPicPr>
          <p:cNvPr id="1026" name="Picture 2" descr="https://www.guru99.com/images/1/080618_0520_LinearRegre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268759"/>
            <a:ext cx="4464496" cy="5331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1480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Random</a:t>
            </a:r>
            <a:r>
              <a:rPr lang="fr-FR" dirty="0"/>
              <a:t> Forest</a:t>
            </a:r>
          </a:p>
        </p:txBody>
      </p:sp>
      <p:sp>
        <p:nvSpPr>
          <p:cNvPr id="3" name="Espace réservé du contenu 2"/>
          <p:cNvSpPr>
            <a:spLocks noGrp="1"/>
          </p:cNvSpPr>
          <p:nvPr>
            <p:ph idx="1"/>
          </p:nvPr>
        </p:nvSpPr>
        <p:spPr/>
        <p:txBody>
          <a:bodyPr/>
          <a:lstStyle/>
          <a:p>
            <a:r>
              <a:rPr lang="fr-FR" dirty="0"/>
              <a:t>Les forêts d'arbres décisionnels ont été formellement proposées en 2001 par Leo </a:t>
            </a:r>
            <a:r>
              <a:rPr lang="fr-FR" dirty="0" err="1"/>
              <a:t>Breiman</a:t>
            </a:r>
            <a:r>
              <a:rPr lang="fr-FR" dirty="0"/>
              <a:t> et Adèle </a:t>
            </a:r>
            <a:r>
              <a:rPr lang="fr-FR" dirty="0" err="1"/>
              <a:t>Cutler</a:t>
            </a:r>
            <a:endParaRPr lang="fr-FR" dirty="0"/>
          </a:p>
          <a:p>
            <a:r>
              <a:rPr lang="fr-FR" dirty="0"/>
              <a:t>Cet algorithme combine les concepts de sous-espaces aléatoires et de </a:t>
            </a:r>
            <a:r>
              <a:rPr lang="fr-FR" dirty="0" err="1"/>
              <a:t>bagging</a:t>
            </a:r>
            <a:endParaRPr lang="fr-FR" dirty="0"/>
          </a:p>
          <a:p>
            <a:r>
              <a:rPr lang="fr-FR" dirty="0"/>
              <a:t>L'algorithme des forêts d'arbres décisionnels effectue un apprentissage sur de multiples arbres de décision entraînés sur des sous-ensembles de données légèrement différents</a:t>
            </a:r>
          </a:p>
        </p:txBody>
      </p:sp>
    </p:spTree>
    <p:extLst>
      <p:ext uri="{BB962C8B-B14F-4D97-AF65-F5344CB8AC3E}">
        <p14:creationId xmlns:p14="http://schemas.microsoft.com/office/powerpoint/2010/main" val="34285975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p:txBody>
          <a:bodyPr/>
          <a:lstStyle/>
          <a:p>
            <a:pPr eaLnBrk="1" hangingPunct="1"/>
            <a:endParaRPr lang="fr-FR" altLang="fr-FR" dirty="0"/>
          </a:p>
        </p:txBody>
      </p:sp>
      <p:pic>
        <p:nvPicPr>
          <p:cNvPr id="2" name="Image 1"/>
          <p:cNvPicPr>
            <a:picLocks noChangeAspect="1"/>
          </p:cNvPicPr>
          <p:nvPr/>
        </p:nvPicPr>
        <p:blipFill>
          <a:blip r:embed="rId2"/>
          <a:stretch>
            <a:fillRect/>
          </a:stretch>
        </p:blipFill>
        <p:spPr>
          <a:xfrm>
            <a:off x="1214437" y="5023445"/>
            <a:ext cx="6715125" cy="1285875"/>
          </a:xfrm>
          <a:prstGeom prst="rect">
            <a:avLst/>
          </a:prstGeom>
        </p:spPr>
      </p:pic>
      <p:sp>
        <p:nvSpPr>
          <p:cNvPr id="3" name="ZoneTexte 2"/>
          <p:cNvSpPr txBox="1"/>
          <p:nvPr/>
        </p:nvSpPr>
        <p:spPr>
          <a:xfrm>
            <a:off x="3107495" y="2132856"/>
            <a:ext cx="3211135" cy="646331"/>
          </a:xfrm>
          <a:prstGeom prst="rect">
            <a:avLst/>
          </a:prstGeom>
          <a:noFill/>
        </p:spPr>
        <p:txBody>
          <a:bodyPr wrap="none" rtlCol="0">
            <a:spAutoFit/>
          </a:bodyPr>
          <a:lstStyle/>
          <a:p>
            <a:r>
              <a:rPr lang="fr-FR" sz="3600" dirty="0" err="1"/>
              <a:t>Deep</a:t>
            </a:r>
            <a:r>
              <a:rPr lang="fr-FR" sz="3600" dirty="0"/>
              <a:t> Learning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623EF0-3F89-B93C-B4F5-DD64F4B5A4AD}"/>
              </a:ext>
            </a:extLst>
          </p:cNvPr>
          <p:cNvSpPr>
            <a:spLocks noGrp="1"/>
          </p:cNvSpPr>
          <p:nvPr>
            <p:ph type="title"/>
          </p:nvPr>
        </p:nvSpPr>
        <p:spPr/>
        <p:txBody>
          <a:bodyPr/>
          <a:lstStyle/>
          <a:p>
            <a:r>
              <a:rPr lang="fr-FR" dirty="0" err="1"/>
              <a:t>Frameworks</a:t>
            </a:r>
            <a:endParaRPr lang="fr-FR" dirty="0"/>
          </a:p>
        </p:txBody>
      </p:sp>
      <p:sp>
        <p:nvSpPr>
          <p:cNvPr id="3" name="Espace réservé du contenu 2">
            <a:extLst>
              <a:ext uri="{FF2B5EF4-FFF2-40B4-BE49-F238E27FC236}">
                <a16:creationId xmlns:a16="http://schemas.microsoft.com/office/drawing/2014/main" id="{99306F81-32CB-7C16-D1AA-89B50707E332}"/>
              </a:ext>
            </a:extLst>
          </p:cNvPr>
          <p:cNvSpPr>
            <a:spLocks noGrp="1"/>
          </p:cNvSpPr>
          <p:nvPr>
            <p:ph idx="1"/>
          </p:nvPr>
        </p:nvSpPr>
        <p:spPr/>
        <p:txBody>
          <a:bodyPr/>
          <a:lstStyle/>
          <a:p>
            <a:r>
              <a:rPr lang="fr-FR" dirty="0"/>
              <a:t>Facebook </a:t>
            </a:r>
            <a:r>
              <a:rPr lang="fr-FR" dirty="0" err="1"/>
              <a:t>PyTorch</a:t>
            </a:r>
            <a:endParaRPr lang="fr-FR" dirty="0"/>
          </a:p>
          <a:p>
            <a:r>
              <a:rPr lang="fr-FR" dirty="0"/>
              <a:t>Azure ML</a:t>
            </a:r>
          </a:p>
          <a:p>
            <a:r>
              <a:rPr lang="fr-FR" dirty="0"/>
              <a:t>Google </a:t>
            </a:r>
            <a:r>
              <a:rPr lang="fr-FR" dirty="0" err="1"/>
              <a:t>Tensorflow</a:t>
            </a:r>
            <a:endParaRPr lang="fr-FR" dirty="0"/>
          </a:p>
          <a:p>
            <a:r>
              <a:rPr lang="fr-FR"/>
              <a:t>SparkML</a:t>
            </a:r>
            <a:endParaRPr lang="fr-FR" dirty="0"/>
          </a:p>
        </p:txBody>
      </p:sp>
    </p:spTree>
    <p:extLst>
      <p:ext uri="{BB962C8B-B14F-4D97-AF65-F5344CB8AC3E}">
        <p14:creationId xmlns:p14="http://schemas.microsoft.com/office/powerpoint/2010/main" val="14377606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CPU, GPU, TPU</a:t>
            </a:r>
          </a:p>
        </p:txBody>
      </p:sp>
      <p:sp>
        <p:nvSpPr>
          <p:cNvPr id="3" name="Espace réservé du contenu 2"/>
          <p:cNvSpPr>
            <a:spLocks noGrp="1"/>
          </p:cNvSpPr>
          <p:nvPr>
            <p:ph idx="1"/>
          </p:nvPr>
        </p:nvSpPr>
        <p:spPr/>
        <p:txBody>
          <a:bodyPr/>
          <a:lstStyle/>
          <a:p>
            <a:r>
              <a:rPr lang="fr-FR" dirty="0" err="1"/>
              <a:t>TensorFlow</a:t>
            </a:r>
            <a:r>
              <a:rPr lang="fr-FR" dirty="0"/>
              <a:t> est multiple CPU</a:t>
            </a:r>
          </a:p>
          <a:p>
            <a:r>
              <a:rPr lang="fr-FR" dirty="0" err="1"/>
              <a:t>TensorFlow</a:t>
            </a:r>
            <a:r>
              <a:rPr lang="fr-FR" dirty="0"/>
              <a:t> est GPU</a:t>
            </a:r>
          </a:p>
          <a:p>
            <a:pPr lvl="1"/>
            <a:r>
              <a:rPr lang="fr-FR" dirty="0"/>
              <a:t>Raison du Succès</a:t>
            </a:r>
          </a:p>
          <a:p>
            <a:pPr lvl="1"/>
            <a:r>
              <a:rPr lang="fr-FR" dirty="0"/>
              <a:t>Technologies GPGPU et GPPGPU</a:t>
            </a:r>
          </a:p>
          <a:p>
            <a:r>
              <a:rPr lang="fr-FR" dirty="0" err="1"/>
              <a:t>TensorFlow</a:t>
            </a:r>
            <a:r>
              <a:rPr lang="fr-FR" dirty="0"/>
              <a:t> est TPU</a:t>
            </a:r>
          </a:p>
          <a:p>
            <a:pPr lvl="1"/>
            <a:r>
              <a:rPr lang="fr-FR" dirty="0" err="1"/>
              <a:t>Tensor</a:t>
            </a:r>
            <a:r>
              <a:rPr lang="fr-FR" dirty="0"/>
              <a:t> </a:t>
            </a:r>
            <a:r>
              <a:rPr lang="fr-FR" dirty="0" err="1"/>
              <a:t>Processing</a:t>
            </a:r>
            <a:r>
              <a:rPr lang="fr-FR" dirty="0"/>
              <a:t> Unit</a:t>
            </a:r>
          </a:p>
          <a:p>
            <a:pPr lvl="1"/>
            <a:r>
              <a:rPr lang="fr-FR" dirty="0"/>
              <a:t>Uniquement pour le </a:t>
            </a:r>
            <a:r>
              <a:rPr lang="fr-FR" dirty="0" err="1"/>
              <a:t>deep</a:t>
            </a:r>
            <a:r>
              <a:rPr lang="fr-FR" dirty="0"/>
              <a:t> </a:t>
            </a:r>
            <a:r>
              <a:rPr lang="fr-FR" dirty="0" err="1"/>
              <a:t>learning</a:t>
            </a:r>
            <a:endParaRPr lang="fr-FR" dirty="0"/>
          </a:p>
          <a:p>
            <a:pPr lvl="1"/>
            <a:r>
              <a:rPr lang="fr-FR" dirty="0"/>
              <a:t>Format propriétaire Google Cloud ML</a:t>
            </a:r>
          </a:p>
          <a:p>
            <a:r>
              <a:rPr lang="fr-FR" dirty="0"/>
              <a:t>CPU, GPU et TPU sont génériques grâce à ABC</a:t>
            </a:r>
          </a:p>
          <a:p>
            <a:pPr lvl="1"/>
            <a:endParaRPr lang="fr-FR" dirty="0"/>
          </a:p>
          <a:p>
            <a:pPr lvl="1"/>
            <a:endParaRPr lang="fr-FR" dirty="0"/>
          </a:p>
        </p:txBody>
      </p:sp>
    </p:spTree>
    <p:extLst>
      <p:ext uri="{BB962C8B-B14F-4D97-AF65-F5344CB8AC3E}">
        <p14:creationId xmlns:p14="http://schemas.microsoft.com/office/powerpoint/2010/main" val="35249148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Neurone</a:t>
            </a:r>
          </a:p>
        </p:txBody>
      </p:sp>
      <p:sp>
        <p:nvSpPr>
          <p:cNvPr id="3" name="Espace réservé du contenu 2"/>
          <p:cNvSpPr>
            <a:spLocks noGrp="1"/>
          </p:cNvSpPr>
          <p:nvPr>
            <p:ph idx="1"/>
          </p:nvPr>
        </p:nvSpPr>
        <p:spPr/>
        <p:txBody>
          <a:bodyPr/>
          <a:lstStyle/>
          <a:p>
            <a:r>
              <a:rPr lang="fr-FR" dirty="0"/>
              <a:t>En biologie un neurone est une cellule connecté à d’autre neurones qui a la faculté de laisser passer ou non un courant électrique</a:t>
            </a:r>
          </a:p>
          <a:p>
            <a:pPr lvl="1"/>
            <a:r>
              <a:rPr lang="fr-FR" dirty="0"/>
              <a:t>Sa modélisation mathématique est appelé perceptron</a:t>
            </a:r>
          </a:p>
          <a:p>
            <a:endParaRPr lang="fr-FR" dirty="0"/>
          </a:p>
        </p:txBody>
      </p:sp>
      <p:pic>
        <p:nvPicPr>
          <p:cNvPr id="6146" name="Picture 2" descr="RÃ©sultat de recherche d'images pour &quot;neurone&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3356992"/>
            <a:ext cx="5184576" cy="2912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0891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MLP Complexes</a:t>
            </a:r>
          </a:p>
        </p:txBody>
      </p:sp>
      <p:sp>
        <p:nvSpPr>
          <p:cNvPr id="3" name="Espace réservé du contenu 2"/>
          <p:cNvSpPr>
            <a:spLocks noGrp="1"/>
          </p:cNvSpPr>
          <p:nvPr>
            <p:ph idx="1"/>
          </p:nvPr>
        </p:nvSpPr>
        <p:spPr/>
        <p:txBody>
          <a:bodyPr/>
          <a:lstStyle/>
          <a:p>
            <a:r>
              <a:rPr lang="fr-FR" dirty="0"/>
              <a:t>Les réseaux peuvent être complexes</a:t>
            </a:r>
          </a:p>
        </p:txBody>
      </p:sp>
      <p:pic>
        <p:nvPicPr>
          <p:cNvPr id="4" name="Picture 16" descr="Résultat de recherche d'images pour &quot;multi layer perceptron inference animated gif&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916832"/>
            <a:ext cx="5273934" cy="44287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9473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79E2C0-7D01-939F-442C-F7D8236DD040}"/>
              </a:ext>
            </a:extLst>
          </p:cNvPr>
          <p:cNvSpPr>
            <a:spLocks noGrp="1"/>
          </p:cNvSpPr>
          <p:nvPr>
            <p:ph type="title"/>
          </p:nvPr>
        </p:nvSpPr>
        <p:spPr/>
        <p:txBody>
          <a:bodyPr/>
          <a:lstStyle/>
          <a:p>
            <a:r>
              <a:rPr lang="fr-FR" dirty="0"/>
              <a:t>TP</a:t>
            </a:r>
          </a:p>
        </p:txBody>
      </p:sp>
      <p:sp>
        <p:nvSpPr>
          <p:cNvPr id="3" name="Espace réservé du contenu 2">
            <a:extLst>
              <a:ext uri="{FF2B5EF4-FFF2-40B4-BE49-F238E27FC236}">
                <a16:creationId xmlns:a16="http://schemas.microsoft.com/office/drawing/2014/main" id="{367447F3-E686-FC81-E348-EDD3F67BD210}"/>
              </a:ext>
            </a:extLst>
          </p:cNvPr>
          <p:cNvSpPr>
            <a:spLocks noGrp="1"/>
          </p:cNvSpPr>
          <p:nvPr>
            <p:ph idx="1"/>
          </p:nvPr>
        </p:nvSpPr>
        <p:spPr/>
        <p:txBody>
          <a:bodyPr/>
          <a:lstStyle/>
          <a:p>
            <a:r>
              <a:rPr lang="fr-FR" dirty="0"/>
              <a:t>Démo ML</a:t>
            </a:r>
          </a:p>
          <a:p>
            <a:r>
              <a:rPr lang="fr-FR" dirty="0"/>
              <a:t>Démo DL</a:t>
            </a:r>
          </a:p>
          <a:p>
            <a:r>
              <a:rPr lang="fr-FR"/>
              <a:t>Démo LLM</a:t>
            </a:r>
          </a:p>
        </p:txBody>
      </p:sp>
    </p:spTree>
    <p:extLst>
      <p:ext uri="{BB962C8B-B14F-4D97-AF65-F5344CB8AC3E}">
        <p14:creationId xmlns:p14="http://schemas.microsoft.com/office/powerpoint/2010/main" val="228581245"/>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3371</TotalTime>
  <Words>1557</Words>
  <Application>Microsoft Office PowerPoint</Application>
  <PresentationFormat>Affichage à l'écran (4:3)</PresentationFormat>
  <Paragraphs>263</Paragraphs>
  <Slides>53</Slides>
  <Notes>7</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53</vt:i4>
      </vt:variant>
    </vt:vector>
  </HeadingPairs>
  <TitlesOfParts>
    <vt:vector size="57" baseType="lpstr">
      <vt:lpstr>Arial</vt:lpstr>
      <vt:lpstr>Monotype Sorts</vt:lpstr>
      <vt:lpstr>Times New Roman</vt:lpstr>
      <vt:lpstr>cvc</vt:lpstr>
      <vt:lpstr>Présentation PowerPoint</vt:lpstr>
      <vt:lpstr>Objectifs pédagogiques</vt:lpstr>
      <vt:lpstr>Présentation PowerPoint</vt:lpstr>
      <vt:lpstr>Difficultés</vt:lpstr>
      <vt:lpstr>Présentation PowerPoint</vt:lpstr>
      <vt:lpstr>L'intelligence artificielle</vt:lpstr>
      <vt:lpstr>Test de Turing</vt:lpstr>
      <vt:lpstr>Qu'est-ce que l'IA ?</vt:lpstr>
      <vt:lpstr>IA Symbolique</vt:lpstr>
      <vt:lpstr>IA par apprentissage</vt:lpstr>
      <vt:lpstr>Copier la nature ou non</vt:lpstr>
      <vt:lpstr>IA - ML - DL</vt:lpstr>
      <vt:lpstr>Machine Learning</vt:lpstr>
      <vt:lpstr>Historique</vt:lpstr>
      <vt:lpstr>Machine Learning</vt:lpstr>
      <vt:lpstr>Deep Learning</vt:lpstr>
      <vt:lpstr>Neurone</vt:lpstr>
      <vt:lpstr>Neurone</vt:lpstr>
      <vt:lpstr>Réseaux</vt:lpstr>
      <vt:lpstr>Présentation PowerPoint</vt:lpstr>
      <vt:lpstr>Évolutions récentes &amp; ruptures</vt:lpstr>
      <vt:lpstr>Potentiels de l'IA</vt:lpstr>
      <vt:lpstr>Limites, risques &amp; garde‑fous</vt:lpstr>
      <vt:lpstr>Terminologie &amp; définitions</vt:lpstr>
      <vt:lpstr>Workflow</vt:lpstr>
      <vt:lpstr>Yann Le Cun</vt:lpstr>
      <vt:lpstr>François Chollet</vt:lpstr>
      <vt:lpstr>Présentation PowerPoint</vt:lpstr>
      <vt:lpstr>But</vt:lpstr>
      <vt:lpstr>Exemple</vt:lpstr>
      <vt:lpstr>Graphique</vt:lpstr>
      <vt:lpstr>Régression</vt:lpstr>
      <vt:lpstr>Régression linéaire</vt:lpstr>
      <vt:lpstr>Erreur</vt:lpstr>
      <vt:lpstr>Classification</vt:lpstr>
      <vt:lpstr>Principes mathématiques</vt:lpstr>
      <vt:lpstr>Trouver le bon modèle</vt:lpstr>
      <vt:lpstr>Apprentissage</vt:lpstr>
      <vt:lpstr>Machine Learning vs Programmation</vt:lpstr>
      <vt:lpstr>Exemple</vt:lpstr>
      <vt:lpstr>Workflow</vt:lpstr>
      <vt:lpstr>Exemples</vt:lpstr>
      <vt:lpstr>Présentation PowerPoint</vt:lpstr>
      <vt:lpstr>Présentation PowerPoint</vt:lpstr>
      <vt:lpstr>Régression</vt:lpstr>
      <vt:lpstr>Régression</vt:lpstr>
      <vt:lpstr>Random Forest</vt:lpstr>
      <vt:lpstr>Présentation PowerPoint</vt:lpstr>
      <vt:lpstr>Frameworks</vt:lpstr>
      <vt:lpstr>CPU, GPU, TPU</vt:lpstr>
      <vt:lpstr>Neurone</vt:lpstr>
      <vt:lpstr>MLP Complexes</vt:lpstr>
      <vt:lpstr>TP</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241</cp:revision>
  <dcterms:created xsi:type="dcterms:W3CDTF">2000-04-10T19:33:12Z</dcterms:created>
  <dcterms:modified xsi:type="dcterms:W3CDTF">2026-01-07T16:41:58Z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