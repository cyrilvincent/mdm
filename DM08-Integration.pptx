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9"/>
  </p:notesMasterIdLst>
  <p:handoutMasterIdLst>
    <p:handoutMasterId r:id="rId20"/>
  </p:handoutMasterIdLst>
  <p:sldIdLst>
    <p:sldId id="264" r:id="rId2"/>
    <p:sldId id="265" r:id="rId3"/>
    <p:sldId id="266" r:id="rId4"/>
    <p:sldId id="267" r:id="rId5"/>
    <p:sldId id="268" r:id="rId6"/>
    <p:sldId id="269" r:id="rId7"/>
    <p:sldId id="270" r:id="rId8"/>
    <p:sldId id="271" r:id="rId9"/>
    <p:sldId id="272" r:id="rId10"/>
    <p:sldId id="273" r:id="rId11"/>
    <p:sldId id="274" r:id="rId12"/>
    <p:sldId id="275" r:id="rId13"/>
    <p:sldId id="276" r:id="rId14"/>
    <p:sldId id="277" r:id="rId15"/>
    <p:sldId id="278" r:id="rId16"/>
    <p:sldId id="279" r:id="rId17"/>
    <p:sldId id="280" r:id="rId18"/>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57" autoAdjust="0"/>
    <p:restoredTop sz="94590" autoAdjust="0"/>
  </p:normalViewPr>
  <p:slideViewPr>
    <p:cSldViewPr>
      <p:cViewPr varScale="1">
        <p:scale>
          <a:sx n="70" d="100"/>
          <a:sy n="70" d="100"/>
        </p:scale>
        <p:origin x="672"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1956" y="-1386"/>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latin typeface="+mj-lt"/>
              </a:rPr>
              <a:t>MDM</a:t>
            </a:r>
            <a:endParaRPr lang="fr-FR" dirty="0">
              <a:latin typeface="+mj-lt"/>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r>
              <a:rPr lang="fr-FR" altLang="fr-FR" dirty="0"/>
              <a:t>Chapitre 8</a:t>
            </a:r>
          </a:p>
          <a:p>
            <a:pPr eaLnBrk="1" hangingPunct="1"/>
            <a:r>
              <a:rPr lang="fr-FR" altLang="fr-FR" dirty="0" err="1"/>
              <a:t>Integration</a:t>
            </a:r>
            <a:endParaRPr lang="fr-FR" altLang="fr-FR" dirty="0"/>
          </a:p>
        </p:txBody>
      </p:sp>
      <p:sp>
        <p:nvSpPr>
          <p:cNvPr id="3" name="ZoneTexte 2"/>
          <p:cNvSpPr txBox="1"/>
          <p:nvPr/>
        </p:nvSpPr>
        <p:spPr>
          <a:xfrm>
            <a:off x="2581711" y="1988840"/>
            <a:ext cx="3980577" cy="646331"/>
          </a:xfrm>
          <a:prstGeom prst="rect">
            <a:avLst/>
          </a:prstGeom>
          <a:noFill/>
        </p:spPr>
        <p:txBody>
          <a:bodyPr wrap="none" rtlCol="0">
            <a:spAutoFit/>
          </a:bodyPr>
          <a:lstStyle/>
          <a:p>
            <a:r>
              <a:rPr lang="fr-FR" sz="3600" dirty="0"/>
              <a:t>Data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44DCAE-EC72-A49D-35B0-16F1DEF03794}"/>
              </a:ext>
            </a:extLst>
          </p:cNvPr>
          <p:cNvSpPr>
            <a:spLocks noGrp="1"/>
          </p:cNvSpPr>
          <p:nvPr>
            <p:ph type="title"/>
          </p:nvPr>
        </p:nvSpPr>
        <p:spPr/>
        <p:txBody>
          <a:bodyPr/>
          <a:lstStyle/>
          <a:p>
            <a:r>
              <a:rPr lang="fr-FR" dirty="0"/>
              <a:t>Intégration et interopérabilité</a:t>
            </a:r>
          </a:p>
        </p:txBody>
      </p:sp>
      <p:sp>
        <p:nvSpPr>
          <p:cNvPr id="3" name="Espace réservé du contenu 2">
            <a:extLst>
              <a:ext uri="{FF2B5EF4-FFF2-40B4-BE49-F238E27FC236}">
                <a16:creationId xmlns:a16="http://schemas.microsoft.com/office/drawing/2014/main" id="{204B59C8-C22F-7217-9A8F-4C26E7EA3158}"/>
              </a:ext>
            </a:extLst>
          </p:cNvPr>
          <p:cNvSpPr>
            <a:spLocks noGrp="1"/>
          </p:cNvSpPr>
          <p:nvPr>
            <p:ph idx="1"/>
          </p:nvPr>
        </p:nvSpPr>
        <p:spPr/>
        <p:txBody>
          <a:bodyPr/>
          <a:lstStyle/>
          <a:p>
            <a:endParaRPr lang="fr-FR"/>
          </a:p>
        </p:txBody>
      </p:sp>
      <p:pic>
        <p:nvPicPr>
          <p:cNvPr id="6" name="Image 5" descr="Une image contenant texte, cercle, Police, disque compact&#10;&#10;Le contenu généré par l’IA peut être incorrect.">
            <a:extLst>
              <a:ext uri="{FF2B5EF4-FFF2-40B4-BE49-F238E27FC236}">
                <a16:creationId xmlns:a16="http://schemas.microsoft.com/office/drawing/2014/main" id="{7BA3AA7F-1C65-B4EE-7BC3-EF7A104AEDCF}"/>
              </a:ext>
            </a:extLst>
          </p:cNvPr>
          <p:cNvPicPr>
            <a:picLocks noChangeAspect="1"/>
          </p:cNvPicPr>
          <p:nvPr/>
        </p:nvPicPr>
        <p:blipFill>
          <a:blip r:embed="rId2"/>
          <a:stretch>
            <a:fillRect/>
          </a:stretch>
        </p:blipFill>
        <p:spPr>
          <a:xfrm>
            <a:off x="2285681" y="1142681"/>
            <a:ext cx="4572638" cy="4572638"/>
          </a:xfrm>
          <a:prstGeom prst="rect">
            <a:avLst/>
          </a:prstGeom>
        </p:spPr>
      </p:pic>
    </p:spTree>
    <p:extLst>
      <p:ext uri="{BB962C8B-B14F-4D97-AF65-F5344CB8AC3E}">
        <p14:creationId xmlns:p14="http://schemas.microsoft.com/office/powerpoint/2010/main" val="1746833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B7445-89C2-7A61-67A6-37BFA1414E12}"/>
              </a:ext>
            </a:extLst>
          </p:cNvPr>
          <p:cNvSpPr>
            <a:spLocks noGrp="1"/>
          </p:cNvSpPr>
          <p:nvPr>
            <p:ph type="title"/>
          </p:nvPr>
        </p:nvSpPr>
        <p:spPr/>
        <p:txBody>
          <a:bodyPr/>
          <a:lstStyle/>
          <a:p>
            <a:r>
              <a:rPr lang="fr-FR" dirty="0"/>
              <a:t>Définition</a:t>
            </a:r>
          </a:p>
        </p:txBody>
      </p:sp>
      <p:sp>
        <p:nvSpPr>
          <p:cNvPr id="3" name="Espace réservé du contenu 2">
            <a:extLst>
              <a:ext uri="{FF2B5EF4-FFF2-40B4-BE49-F238E27FC236}">
                <a16:creationId xmlns:a16="http://schemas.microsoft.com/office/drawing/2014/main" id="{A8F50F5F-52DA-EA9B-481B-B61F1A9EC1A6}"/>
              </a:ext>
            </a:extLst>
          </p:cNvPr>
          <p:cNvSpPr>
            <a:spLocks noGrp="1"/>
          </p:cNvSpPr>
          <p:nvPr>
            <p:ph idx="1"/>
          </p:nvPr>
        </p:nvSpPr>
        <p:spPr/>
        <p:txBody>
          <a:bodyPr/>
          <a:lstStyle/>
          <a:p>
            <a:r>
              <a:rPr lang="fr-FR" dirty="0"/>
              <a:t>Gérer le déplacement et la consolidation des données au sein des applications et entre les organisations</a:t>
            </a:r>
          </a:p>
        </p:txBody>
      </p:sp>
    </p:spTree>
    <p:extLst>
      <p:ext uri="{BB962C8B-B14F-4D97-AF65-F5344CB8AC3E}">
        <p14:creationId xmlns:p14="http://schemas.microsoft.com/office/powerpoint/2010/main" val="20675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C635DD-F7BE-F10B-30FB-2CA6A55181DD}"/>
              </a:ext>
            </a:extLst>
          </p:cNvPr>
          <p:cNvSpPr>
            <a:spLocks noGrp="1"/>
          </p:cNvSpPr>
          <p:nvPr>
            <p:ph type="title"/>
          </p:nvPr>
        </p:nvSpPr>
        <p:spPr/>
        <p:txBody>
          <a:bodyPr/>
          <a:lstStyle/>
          <a:p>
            <a:r>
              <a:rPr lang="fr-FR" dirty="0"/>
              <a:t>Buts</a:t>
            </a:r>
          </a:p>
        </p:txBody>
      </p:sp>
      <p:sp>
        <p:nvSpPr>
          <p:cNvPr id="3" name="Espace réservé du contenu 2">
            <a:extLst>
              <a:ext uri="{FF2B5EF4-FFF2-40B4-BE49-F238E27FC236}">
                <a16:creationId xmlns:a16="http://schemas.microsoft.com/office/drawing/2014/main" id="{2A9568B6-73A1-39D5-AC35-E70C31ED9947}"/>
              </a:ext>
            </a:extLst>
          </p:cNvPr>
          <p:cNvSpPr>
            <a:spLocks noGrp="1"/>
          </p:cNvSpPr>
          <p:nvPr>
            <p:ph idx="1"/>
          </p:nvPr>
        </p:nvSpPr>
        <p:spPr/>
        <p:txBody>
          <a:bodyPr/>
          <a:lstStyle/>
          <a:p>
            <a:r>
              <a:rPr lang="fr-FR" dirty="0"/>
              <a:t>Fournir des données de manière sécurisée, conforme à la réglementation, au format et dans les délais requis</a:t>
            </a:r>
          </a:p>
          <a:p>
            <a:r>
              <a:rPr lang="fr-FR" dirty="0"/>
              <a:t>Réduire les coûts et la complexité de la gestion des solutions grâce au développement de modèles et d'interfaces partagés</a:t>
            </a:r>
          </a:p>
          <a:p>
            <a:r>
              <a:rPr lang="fr-FR" dirty="0"/>
              <a:t>Identifier les événements significatifs et déclencher automatiquement des alertes et des actions</a:t>
            </a:r>
          </a:p>
          <a:p>
            <a:r>
              <a:rPr lang="fr-FR" dirty="0"/>
              <a:t>Soutenir les efforts en matière de veille stratégique, d'analyse, de gestion des données de référence et d'efficacité opérationnelle</a:t>
            </a:r>
          </a:p>
        </p:txBody>
      </p:sp>
    </p:spTree>
    <p:extLst>
      <p:ext uri="{BB962C8B-B14F-4D97-AF65-F5344CB8AC3E}">
        <p14:creationId xmlns:p14="http://schemas.microsoft.com/office/powerpoint/2010/main" val="3245922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EBFF27-D818-19A3-9D28-E00FC84CB9C1}"/>
              </a:ext>
            </a:extLst>
          </p:cNvPr>
          <p:cNvSpPr>
            <a:spLocks noGrp="1"/>
          </p:cNvSpPr>
          <p:nvPr>
            <p:ph type="title"/>
          </p:nvPr>
        </p:nvSpPr>
        <p:spPr/>
        <p:txBody>
          <a:bodyPr/>
          <a:lstStyle/>
          <a:p>
            <a:r>
              <a:rPr lang="fr-FR" dirty="0"/>
              <a:t>Architecture générale</a:t>
            </a:r>
          </a:p>
        </p:txBody>
      </p:sp>
      <p:sp>
        <p:nvSpPr>
          <p:cNvPr id="3" name="Espace réservé du contenu 2">
            <a:extLst>
              <a:ext uri="{FF2B5EF4-FFF2-40B4-BE49-F238E27FC236}">
                <a16:creationId xmlns:a16="http://schemas.microsoft.com/office/drawing/2014/main" id="{75A4AAFF-5674-E456-A5D9-2EC1439921B8}"/>
              </a:ext>
            </a:extLst>
          </p:cNvPr>
          <p:cNvSpPr>
            <a:spLocks noGrp="1"/>
          </p:cNvSpPr>
          <p:nvPr>
            <p:ph idx="1"/>
          </p:nvPr>
        </p:nvSpPr>
        <p:spPr/>
        <p:txBody>
          <a:bodyPr/>
          <a:lstStyle/>
          <a:p>
            <a:endParaRPr lang="fr-FR"/>
          </a:p>
        </p:txBody>
      </p:sp>
      <p:pic>
        <p:nvPicPr>
          <p:cNvPr id="5" name="Image 4" descr="Une image contenant texte, capture d’écran, Police, document&#10;&#10;Le contenu généré par l’IA peut être incorrect.">
            <a:extLst>
              <a:ext uri="{FF2B5EF4-FFF2-40B4-BE49-F238E27FC236}">
                <a16:creationId xmlns:a16="http://schemas.microsoft.com/office/drawing/2014/main" id="{82376BD4-4BAB-60F7-6806-E7557B1A0E19}"/>
              </a:ext>
            </a:extLst>
          </p:cNvPr>
          <p:cNvPicPr>
            <a:picLocks noChangeAspect="1"/>
          </p:cNvPicPr>
          <p:nvPr/>
        </p:nvPicPr>
        <p:blipFill>
          <a:blip r:embed="rId2"/>
          <a:stretch>
            <a:fillRect/>
          </a:stretch>
        </p:blipFill>
        <p:spPr>
          <a:xfrm>
            <a:off x="2174733" y="980728"/>
            <a:ext cx="5754829" cy="5877272"/>
          </a:xfrm>
          <a:prstGeom prst="rect">
            <a:avLst/>
          </a:prstGeom>
        </p:spPr>
      </p:pic>
    </p:spTree>
    <p:extLst>
      <p:ext uri="{BB962C8B-B14F-4D97-AF65-F5344CB8AC3E}">
        <p14:creationId xmlns:p14="http://schemas.microsoft.com/office/powerpoint/2010/main" val="32007301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BE4116-B201-C25B-4D4E-EF15D9A4AE58}"/>
              </a:ext>
            </a:extLst>
          </p:cNvPr>
          <p:cNvSpPr>
            <a:spLocks noGrp="1"/>
          </p:cNvSpPr>
          <p:nvPr>
            <p:ph type="title"/>
          </p:nvPr>
        </p:nvSpPr>
        <p:spPr/>
        <p:txBody>
          <a:bodyPr/>
          <a:lstStyle/>
          <a:p>
            <a:r>
              <a:rPr lang="fr-FR" dirty="0"/>
              <a:t>ETL</a:t>
            </a:r>
          </a:p>
        </p:txBody>
      </p:sp>
      <p:sp>
        <p:nvSpPr>
          <p:cNvPr id="3" name="Espace réservé du contenu 2">
            <a:extLst>
              <a:ext uri="{FF2B5EF4-FFF2-40B4-BE49-F238E27FC236}">
                <a16:creationId xmlns:a16="http://schemas.microsoft.com/office/drawing/2014/main" id="{25B65886-1BF7-40F7-3036-F52783A7EAF2}"/>
              </a:ext>
            </a:extLst>
          </p:cNvPr>
          <p:cNvSpPr>
            <a:spLocks noGrp="1"/>
          </p:cNvSpPr>
          <p:nvPr>
            <p:ph idx="1"/>
          </p:nvPr>
        </p:nvSpPr>
        <p:spPr/>
        <p:txBody>
          <a:bodyPr/>
          <a:lstStyle/>
          <a:p>
            <a:r>
              <a:rPr lang="fr-FR" sz="2400" dirty="0" err="1"/>
              <a:t>Extract</a:t>
            </a:r>
            <a:r>
              <a:rPr lang="fr-FR" sz="2400" dirty="0"/>
              <a:t> </a:t>
            </a:r>
            <a:r>
              <a:rPr lang="fr-FR" sz="2400" dirty="0" err="1"/>
              <a:t>Transform</a:t>
            </a:r>
            <a:r>
              <a:rPr lang="fr-FR" sz="2400" dirty="0"/>
              <a:t> </a:t>
            </a:r>
            <a:r>
              <a:rPr lang="fr-FR" sz="2400" dirty="0" err="1"/>
              <a:t>Load</a:t>
            </a:r>
            <a:endParaRPr lang="fr-FR" sz="2400" dirty="0"/>
          </a:p>
          <a:p>
            <a:r>
              <a:rPr lang="fr-FR" sz="2400" dirty="0"/>
              <a:t>Au cœur de l'intégration et de l'interopérabilité des données se trouve le processus fondamental d'extraction, de transformation et de chargement (ETL)</a:t>
            </a:r>
          </a:p>
          <a:p>
            <a:pPr lvl="1"/>
            <a:r>
              <a:rPr lang="fr-FR" sz="2000" dirty="0"/>
              <a:t>Qu'il soit exécuté physiquement ou virtuellement, par lots ou en temps réel, ce processus constitue l'étape essentielle du déplacement des données entre les applications et les organisations.</a:t>
            </a:r>
          </a:p>
          <a:p>
            <a:pPr lvl="1"/>
            <a:r>
              <a:rPr lang="fr-FR" sz="2000" dirty="0"/>
              <a:t>Selon les exigences d'intégration des données, l'ETL peut être réalisé périodiquement (traitement par lots) ou à chaque disponibilité de nouvelles données (traitement en temps réel ou événementiel)</a:t>
            </a:r>
          </a:p>
          <a:p>
            <a:pPr lvl="1"/>
            <a:r>
              <a:rPr lang="fr-FR" sz="2000" dirty="0"/>
              <a:t>Le traitement des données opérationnelles s'effectue généralement en temps réel ou quasi réel, tandis que les données nécessaires à l'analyse ou à la production de rapports sont souvent traitées par lots.</a:t>
            </a:r>
            <a:endParaRPr lang="fr-FR" sz="1600" dirty="0"/>
          </a:p>
          <a:p>
            <a:pPr lvl="1"/>
            <a:endParaRPr lang="fr-FR" sz="2000" dirty="0"/>
          </a:p>
          <a:p>
            <a:endParaRPr lang="fr-FR" sz="2400" dirty="0"/>
          </a:p>
        </p:txBody>
      </p:sp>
    </p:spTree>
    <p:extLst>
      <p:ext uri="{BB962C8B-B14F-4D97-AF65-F5344CB8AC3E}">
        <p14:creationId xmlns:p14="http://schemas.microsoft.com/office/powerpoint/2010/main" val="3784841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EAE34C-CC06-3F31-D8B3-0D4DF3AF6390}"/>
              </a:ext>
            </a:extLst>
          </p:cNvPr>
          <p:cNvSpPr>
            <a:spLocks noGrp="1"/>
          </p:cNvSpPr>
          <p:nvPr>
            <p:ph type="title"/>
          </p:nvPr>
        </p:nvSpPr>
        <p:spPr/>
        <p:txBody>
          <a:bodyPr/>
          <a:lstStyle/>
          <a:p>
            <a:r>
              <a:rPr lang="fr-FR" dirty="0" err="1"/>
              <a:t>Extract</a:t>
            </a:r>
            <a:endParaRPr lang="fr-FR" dirty="0"/>
          </a:p>
        </p:txBody>
      </p:sp>
      <p:sp>
        <p:nvSpPr>
          <p:cNvPr id="3" name="Espace réservé du contenu 2">
            <a:extLst>
              <a:ext uri="{FF2B5EF4-FFF2-40B4-BE49-F238E27FC236}">
                <a16:creationId xmlns:a16="http://schemas.microsoft.com/office/drawing/2014/main" id="{6B803430-42F4-D2ED-807A-4D219AF24AD1}"/>
              </a:ext>
            </a:extLst>
          </p:cNvPr>
          <p:cNvSpPr>
            <a:spLocks noGrp="1"/>
          </p:cNvSpPr>
          <p:nvPr>
            <p:ph idx="1"/>
          </p:nvPr>
        </p:nvSpPr>
        <p:spPr/>
        <p:txBody>
          <a:bodyPr/>
          <a:lstStyle/>
          <a:p>
            <a:r>
              <a:rPr lang="fr-FR" dirty="0"/>
              <a:t>Le processus d'extraction comprend la sélection des données requises et leur extraction de leur source</a:t>
            </a:r>
          </a:p>
          <a:p>
            <a:pPr lvl="1"/>
            <a:r>
              <a:rPr lang="fr-FR" dirty="0"/>
              <a:t>Les données extraites sont ensuite stockées temporairement, soit physiquement sur disque, soit en mémoire</a:t>
            </a:r>
          </a:p>
          <a:p>
            <a:pPr lvl="1"/>
            <a:r>
              <a:rPr lang="fr-FR" dirty="0"/>
              <a:t>Si le stockage est effectué sur disque, le système de stockage temporaire peut être situé au même endroit que le système de stockage source, le système de stockage cible, ou les deux</a:t>
            </a:r>
          </a:p>
        </p:txBody>
      </p:sp>
    </p:spTree>
    <p:extLst>
      <p:ext uri="{BB962C8B-B14F-4D97-AF65-F5344CB8AC3E}">
        <p14:creationId xmlns:p14="http://schemas.microsoft.com/office/powerpoint/2010/main" val="26724650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881B8F-6317-F52C-F2E7-F9567E0A23B1}"/>
              </a:ext>
            </a:extLst>
          </p:cNvPr>
          <p:cNvSpPr>
            <a:spLocks noGrp="1"/>
          </p:cNvSpPr>
          <p:nvPr>
            <p:ph type="title"/>
          </p:nvPr>
        </p:nvSpPr>
        <p:spPr/>
        <p:txBody>
          <a:bodyPr/>
          <a:lstStyle/>
          <a:p>
            <a:r>
              <a:rPr lang="fr-FR" dirty="0" err="1"/>
              <a:t>Transform</a:t>
            </a:r>
            <a:endParaRPr lang="fr-FR" dirty="0"/>
          </a:p>
        </p:txBody>
      </p:sp>
      <p:sp>
        <p:nvSpPr>
          <p:cNvPr id="3" name="Espace réservé du contenu 2">
            <a:extLst>
              <a:ext uri="{FF2B5EF4-FFF2-40B4-BE49-F238E27FC236}">
                <a16:creationId xmlns:a16="http://schemas.microsoft.com/office/drawing/2014/main" id="{9E5178E7-FEB0-616B-9775-4C913F24029D}"/>
              </a:ext>
            </a:extLst>
          </p:cNvPr>
          <p:cNvSpPr>
            <a:spLocks noGrp="1"/>
          </p:cNvSpPr>
          <p:nvPr>
            <p:ph idx="1"/>
          </p:nvPr>
        </p:nvSpPr>
        <p:spPr/>
        <p:txBody>
          <a:bodyPr/>
          <a:lstStyle/>
          <a:p>
            <a:r>
              <a:rPr lang="fr-FR" dirty="0"/>
              <a:t>Le processus de transformation rend les données sélectionnées compatibles avec la structure du système de stockage de données cible</a:t>
            </a:r>
          </a:p>
          <a:p>
            <a:pPr lvl="1"/>
            <a:r>
              <a:rPr lang="fr-FR" dirty="0"/>
              <a:t>La transformation inclut les cas où des données sont supprimées de la source lors de leur transfert vers la cible, où des données sont copiées vers plusieurs cibles et où les données sont utilisées pour déclencher des événements sans être conservées</a:t>
            </a:r>
          </a:p>
        </p:txBody>
      </p:sp>
    </p:spTree>
    <p:extLst>
      <p:ext uri="{BB962C8B-B14F-4D97-AF65-F5344CB8AC3E}">
        <p14:creationId xmlns:p14="http://schemas.microsoft.com/office/powerpoint/2010/main" val="4130529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5D1CFF-1A05-9381-6B96-1CC43EFB3E7F}"/>
              </a:ext>
            </a:extLst>
          </p:cNvPr>
          <p:cNvSpPr>
            <a:spLocks noGrp="1"/>
          </p:cNvSpPr>
          <p:nvPr>
            <p:ph type="title"/>
          </p:nvPr>
        </p:nvSpPr>
        <p:spPr/>
        <p:txBody>
          <a:bodyPr/>
          <a:lstStyle/>
          <a:p>
            <a:r>
              <a:rPr lang="fr-FR" dirty="0"/>
              <a:t>Exemples de transformation</a:t>
            </a:r>
          </a:p>
        </p:txBody>
      </p:sp>
      <p:sp>
        <p:nvSpPr>
          <p:cNvPr id="3" name="Espace réservé du contenu 2">
            <a:extLst>
              <a:ext uri="{FF2B5EF4-FFF2-40B4-BE49-F238E27FC236}">
                <a16:creationId xmlns:a16="http://schemas.microsoft.com/office/drawing/2014/main" id="{DE222C7B-74A6-269E-5760-643F128584AE}"/>
              </a:ext>
            </a:extLst>
          </p:cNvPr>
          <p:cNvSpPr>
            <a:spLocks noGrp="1"/>
          </p:cNvSpPr>
          <p:nvPr>
            <p:ph idx="1"/>
          </p:nvPr>
        </p:nvSpPr>
        <p:spPr/>
        <p:txBody>
          <a:bodyPr/>
          <a:lstStyle/>
          <a:p>
            <a:r>
              <a:rPr lang="fr-FR" sz="2000" dirty="0"/>
              <a:t>Conversion du format technique des données ; par exemple, du format EBCDIC au format ASCII.</a:t>
            </a:r>
          </a:p>
          <a:p>
            <a:r>
              <a:rPr lang="fr-FR" sz="2000" dirty="0"/>
              <a:t>Modifications de la structure des données ; par exemple, passage d’enregistrements dénormalisés à des enregistrements normalisés.</a:t>
            </a:r>
          </a:p>
          <a:p>
            <a:r>
              <a:rPr lang="fr-FR" sz="2000" dirty="0"/>
              <a:t>Conversion des valeurs des données afin de maintenir une représentation sémantique cohérente. Par exemple, les codes de genre de la source peuvent être 0, 1, 2 et 3, tandis que les codes de genre de la cible peuvent être représentés par INCONNU, FÉMININ, MASCULIN ou NON FOURNI</a:t>
            </a:r>
          </a:p>
          <a:p>
            <a:r>
              <a:rPr lang="fr-FR" sz="2000" dirty="0"/>
              <a:t>Déduplication : S’assurer que, si les règles exigent des valeurs clés ou des enregistrements uniques, un mécanisme de balayage de la cible, de détection et de suppression des lignes dupliquées est prévu.</a:t>
            </a:r>
          </a:p>
          <a:p>
            <a:r>
              <a:rPr lang="fr-FR" sz="2000" dirty="0"/>
              <a:t>Réorganisation : Modifier l’ordre des éléments de données ou des enregistrements pour correspondre à un modèle défini.</a:t>
            </a:r>
          </a:p>
          <a:p>
            <a:endParaRPr lang="fr-FR" dirty="0"/>
          </a:p>
        </p:txBody>
      </p:sp>
    </p:spTree>
    <p:extLst>
      <p:ext uri="{BB962C8B-B14F-4D97-AF65-F5344CB8AC3E}">
        <p14:creationId xmlns:p14="http://schemas.microsoft.com/office/powerpoint/2010/main" val="20716628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820BDE-AB81-4AB4-20D3-87EC840961B9}"/>
              </a:ext>
            </a:extLst>
          </p:cNvPr>
          <p:cNvSpPr>
            <a:spLocks noGrp="1"/>
          </p:cNvSpPr>
          <p:nvPr>
            <p:ph type="title"/>
          </p:nvPr>
        </p:nvSpPr>
        <p:spPr/>
        <p:txBody>
          <a:bodyPr/>
          <a:lstStyle/>
          <a:p>
            <a:r>
              <a:rPr lang="fr-FR" dirty="0" err="1"/>
              <a:t>Load</a:t>
            </a:r>
            <a:endParaRPr lang="fr-FR" dirty="0"/>
          </a:p>
        </p:txBody>
      </p:sp>
      <p:sp>
        <p:nvSpPr>
          <p:cNvPr id="3" name="Espace réservé du contenu 2">
            <a:extLst>
              <a:ext uri="{FF2B5EF4-FFF2-40B4-BE49-F238E27FC236}">
                <a16:creationId xmlns:a16="http://schemas.microsoft.com/office/drawing/2014/main" id="{281E54FA-FDD0-EEF6-896F-7CE45EEFCB6B}"/>
              </a:ext>
            </a:extLst>
          </p:cNvPr>
          <p:cNvSpPr>
            <a:spLocks noGrp="1"/>
          </p:cNvSpPr>
          <p:nvPr>
            <p:ph idx="1"/>
          </p:nvPr>
        </p:nvSpPr>
        <p:spPr/>
        <p:txBody>
          <a:bodyPr/>
          <a:lstStyle/>
          <a:p>
            <a:r>
              <a:rPr lang="fr-FR" dirty="0"/>
              <a:t>L'étape de chargement d'un processus ETL consiste à stocker ou à présenter physiquement le résultat des transformations dans le système cible</a:t>
            </a:r>
          </a:p>
          <a:p>
            <a:r>
              <a:rPr lang="fr-FR" dirty="0"/>
              <a:t>Selon les transformations effectuées, la finalité du système cible et l'utilisation prévue, les données peuvent nécessiter un traitement supplémentaire pour être intégrées à d'autres données, ou être sous une forme finale, prêtes à être présentées aux utilisateurs finaux.</a:t>
            </a:r>
          </a:p>
        </p:txBody>
      </p:sp>
    </p:spTree>
    <p:extLst>
      <p:ext uri="{BB962C8B-B14F-4D97-AF65-F5344CB8AC3E}">
        <p14:creationId xmlns:p14="http://schemas.microsoft.com/office/powerpoint/2010/main" val="3827844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B477CC-C334-02D6-069A-436BEC4A3ACD}"/>
              </a:ext>
            </a:extLst>
          </p:cNvPr>
          <p:cNvSpPr>
            <a:spLocks noGrp="1"/>
          </p:cNvSpPr>
          <p:nvPr>
            <p:ph type="title"/>
          </p:nvPr>
        </p:nvSpPr>
        <p:spPr/>
        <p:txBody>
          <a:bodyPr/>
          <a:lstStyle/>
          <a:p>
            <a:r>
              <a:rPr lang="fr-FR" dirty="0"/>
              <a:t>ETL Flow</a:t>
            </a:r>
          </a:p>
        </p:txBody>
      </p:sp>
      <p:sp>
        <p:nvSpPr>
          <p:cNvPr id="3" name="Espace réservé du contenu 2">
            <a:extLst>
              <a:ext uri="{FF2B5EF4-FFF2-40B4-BE49-F238E27FC236}">
                <a16:creationId xmlns:a16="http://schemas.microsoft.com/office/drawing/2014/main" id="{B1261F57-F671-1118-BC36-E7E9EB670C75}"/>
              </a:ext>
            </a:extLst>
          </p:cNvPr>
          <p:cNvSpPr>
            <a:spLocks noGrp="1"/>
          </p:cNvSpPr>
          <p:nvPr>
            <p:ph idx="1"/>
          </p:nvPr>
        </p:nvSpPr>
        <p:spPr/>
        <p:txBody>
          <a:bodyPr/>
          <a:lstStyle/>
          <a:p>
            <a:endParaRPr lang="fr-FR"/>
          </a:p>
        </p:txBody>
      </p:sp>
      <p:pic>
        <p:nvPicPr>
          <p:cNvPr id="5" name="Image 4" descr="Une image contenant texte, capture d’écran, Police&#10;&#10;Le contenu généré par l’IA peut être incorrect.">
            <a:extLst>
              <a:ext uri="{FF2B5EF4-FFF2-40B4-BE49-F238E27FC236}">
                <a16:creationId xmlns:a16="http://schemas.microsoft.com/office/drawing/2014/main" id="{84179759-B570-B6E4-2637-742F840BF732}"/>
              </a:ext>
            </a:extLst>
          </p:cNvPr>
          <p:cNvPicPr>
            <a:picLocks noChangeAspect="1"/>
          </p:cNvPicPr>
          <p:nvPr/>
        </p:nvPicPr>
        <p:blipFill>
          <a:blip r:embed="rId2"/>
          <a:stretch>
            <a:fillRect/>
          </a:stretch>
        </p:blipFill>
        <p:spPr>
          <a:xfrm>
            <a:off x="1695048" y="1204602"/>
            <a:ext cx="5753903" cy="4448796"/>
          </a:xfrm>
          <a:prstGeom prst="rect">
            <a:avLst/>
          </a:prstGeom>
        </p:spPr>
      </p:pic>
    </p:spTree>
    <p:extLst>
      <p:ext uri="{BB962C8B-B14F-4D97-AF65-F5344CB8AC3E}">
        <p14:creationId xmlns:p14="http://schemas.microsoft.com/office/powerpoint/2010/main" val="52938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4FE90F-D25E-22BB-BE1A-E094D0D86C25}"/>
              </a:ext>
            </a:extLst>
          </p:cNvPr>
          <p:cNvSpPr>
            <a:spLocks noGrp="1"/>
          </p:cNvSpPr>
          <p:nvPr>
            <p:ph type="title"/>
          </p:nvPr>
        </p:nvSpPr>
        <p:spPr/>
        <p:txBody>
          <a:bodyPr/>
          <a:lstStyle/>
          <a:p>
            <a:r>
              <a:rPr lang="fr-FR" dirty="0"/>
              <a:t>Outils ETL</a:t>
            </a:r>
          </a:p>
        </p:txBody>
      </p:sp>
      <p:sp>
        <p:nvSpPr>
          <p:cNvPr id="3" name="Espace réservé du contenu 2">
            <a:extLst>
              <a:ext uri="{FF2B5EF4-FFF2-40B4-BE49-F238E27FC236}">
                <a16:creationId xmlns:a16="http://schemas.microsoft.com/office/drawing/2014/main" id="{A47AE0B7-6621-4618-CCAE-C1D25D450934}"/>
              </a:ext>
            </a:extLst>
          </p:cNvPr>
          <p:cNvSpPr>
            <a:spLocks noGrp="1"/>
          </p:cNvSpPr>
          <p:nvPr>
            <p:ph idx="1"/>
          </p:nvPr>
        </p:nvSpPr>
        <p:spPr/>
        <p:txBody>
          <a:bodyPr/>
          <a:lstStyle/>
          <a:p>
            <a:r>
              <a:rPr lang="fr-FR" dirty="0"/>
              <a:t>3 grandes familles d'outils</a:t>
            </a:r>
          </a:p>
          <a:p>
            <a:pPr lvl="1"/>
            <a:r>
              <a:rPr lang="fr-FR" dirty="0"/>
              <a:t>Les logiciels d'ETL dédiés</a:t>
            </a:r>
          </a:p>
          <a:p>
            <a:pPr lvl="1"/>
            <a:r>
              <a:rPr lang="fr-FR" dirty="0"/>
              <a:t>Les ETL liés à aux SGBDR ou aux </a:t>
            </a:r>
            <a:r>
              <a:rPr lang="fr-FR" dirty="0" err="1"/>
              <a:t>BIs</a:t>
            </a:r>
            <a:endParaRPr lang="fr-FR" dirty="0"/>
          </a:p>
          <a:p>
            <a:pPr lvl="1"/>
            <a:r>
              <a:rPr lang="fr-FR" dirty="0"/>
              <a:t>La programmation</a:t>
            </a:r>
          </a:p>
          <a:p>
            <a:pPr lvl="1"/>
            <a:r>
              <a:rPr lang="fr-FR" dirty="0"/>
              <a:t>Et le mix des 3</a:t>
            </a:r>
          </a:p>
        </p:txBody>
      </p:sp>
    </p:spTree>
    <p:extLst>
      <p:ext uri="{BB962C8B-B14F-4D97-AF65-F5344CB8AC3E}">
        <p14:creationId xmlns:p14="http://schemas.microsoft.com/office/powerpoint/2010/main" val="76344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F2F907-1B65-3190-2C7F-8B6CA22335E7}"/>
              </a:ext>
            </a:extLst>
          </p:cNvPr>
          <p:cNvSpPr>
            <a:spLocks noGrp="1"/>
          </p:cNvSpPr>
          <p:nvPr>
            <p:ph type="title"/>
          </p:nvPr>
        </p:nvSpPr>
        <p:spPr/>
        <p:txBody>
          <a:bodyPr/>
          <a:lstStyle/>
          <a:p>
            <a:r>
              <a:rPr lang="fr-FR" dirty="0"/>
              <a:t>Les logiciels d'ETL</a:t>
            </a:r>
          </a:p>
        </p:txBody>
      </p:sp>
      <p:sp>
        <p:nvSpPr>
          <p:cNvPr id="3" name="Espace réservé du contenu 2">
            <a:extLst>
              <a:ext uri="{FF2B5EF4-FFF2-40B4-BE49-F238E27FC236}">
                <a16:creationId xmlns:a16="http://schemas.microsoft.com/office/drawing/2014/main" id="{3A4E511E-3EA9-87EF-6FC7-81D35F7A23C9}"/>
              </a:ext>
            </a:extLst>
          </p:cNvPr>
          <p:cNvSpPr>
            <a:spLocks noGrp="1"/>
          </p:cNvSpPr>
          <p:nvPr>
            <p:ph idx="1"/>
          </p:nvPr>
        </p:nvSpPr>
        <p:spPr/>
        <p:txBody>
          <a:bodyPr/>
          <a:lstStyle/>
          <a:p>
            <a:r>
              <a:rPr lang="fr-FR" dirty="0"/>
              <a:t>Talend, </a:t>
            </a:r>
            <a:r>
              <a:rPr lang="fr-FR" dirty="0" err="1"/>
              <a:t>Hevo</a:t>
            </a:r>
            <a:r>
              <a:rPr lang="fr-FR" dirty="0"/>
              <a:t>, </a:t>
            </a:r>
            <a:r>
              <a:rPr lang="fr-FR" dirty="0" err="1"/>
              <a:t>DataDDO</a:t>
            </a:r>
            <a:endParaRPr lang="fr-FR" dirty="0"/>
          </a:p>
          <a:p>
            <a:r>
              <a:rPr lang="fr-FR" dirty="0"/>
              <a:t>Avantages</a:t>
            </a:r>
          </a:p>
          <a:p>
            <a:pPr lvl="1"/>
            <a:r>
              <a:rPr lang="fr-FR" dirty="0"/>
              <a:t>No code, Full ETL + BI, … </a:t>
            </a:r>
          </a:p>
          <a:p>
            <a:r>
              <a:rPr lang="fr-FR" dirty="0" err="1"/>
              <a:t>Defauts</a:t>
            </a:r>
            <a:endParaRPr lang="fr-FR" dirty="0"/>
          </a:p>
          <a:p>
            <a:pPr lvl="1"/>
            <a:r>
              <a:rPr lang="fr-FR" dirty="0"/>
              <a:t>Chères, peu spécialisé vers votre SI</a:t>
            </a:r>
          </a:p>
        </p:txBody>
      </p:sp>
      <p:pic>
        <p:nvPicPr>
          <p:cNvPr id="5" name="Image 4" descr="Une image contenant texte, capture d’écran, nombre, conception&#10;&#10;Le contenu généré par l’IA peut être incorrect.">
            <a:extLst>
              <a:ext uri="{FF2B5EF4-FFF2-40B4-BE49-F238E27FC236}">
                <a16:creationId xmlns:a16="http://schemas.microsoft.com/office/drawing/2014/main" id="{4AE65671-030C-D8CD-E320-AD1EB1E4A5A0}"/>
              </a:ext>
            </a:extLst>
          </p:cNvPr>
          <p:cNvPicPr>
            <a:picLocks noChangeAspect="1"/>
          </p:cNvPicPr>
          <p:nvPr/>
        </p:nvPicPr>
        <p:blipFill>
          <a:blip r:embed="rId2"/>
          <a:stretch>
            <a:fillRect/>
          </a:stretch>
        </p:blipFill>
        <p:spPr>
          <a:xfrm>
            <a:off x="1979712" y="3959112"/>
            <a:ext cx="4764924" cy="2974602"/>
          </a:xfrm>
          <a:prstGeom prst="rect">
            <a:avLst/>
          </a:prstGeom>
        </p:spPr>
      </p:pic>
    </p:spTree>
    <p:extLst>
      <p:ext uri="{BB962C8B-B14F-4D97-AF65-F5344CB8AC3E}">
        <p14:creationId xmlns:p14="http://schemas.microsoft.com/office/powerpoint/2010/main" val="2211737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F0EFDE-87AF-C8F3-4A59-E76D81572439}"/>
              </a:ext>
            </a:extLst>
          </p:cNvPr>
          <p:cNvSpPr>
            <a:spLocks noGrp="1"/>
          </p:cNvSpPr>
          <p:nvPr>
            <p:ph type="title"/>
          </p:nvPr>
        </p:nvSpPr>
        <p:spPr/>
        <p:txBody>
          <a:bodyPr/>
          <a:lstStyle/>
          <a:p>
            <a:r>
              <a:rPr lang="fr-FR" dirty="0"/>
              <a:t>Les ETL liés aux BD</a:t>
            </a:r>
          </a:p>
        </p:txBody>
      </p:sp>
      <p:sp>
        <p:nvSpPr>
          <p:cNvPr id="3" name="Espace réservé du contenu 2">
            <a:extLst>
              <a:ext uri="{FF2B5EF4-FFF2-40B4-BE49-F238E27FC236}">
                <a16:creationId xmlns:a16="http://schemas.microsoft.com/office/drawing/2014/main" id="{0158606F-A330-CB42-AF83-1E3CD2D72EB1}"/>
              </a:ext>
            </a:extLst>
          </p:cNvPr>
          <p:cNvSpPr>
            <a:spLocks noGrp="1"/>
          </p:cNvSpPr>
          <p:nvPr>
            <p:ph idx="1"/>
          </p:nvPr>
        </p:nvSpPr>
        <p:spPr/>
        <p:txBody>
          <a:bodyPr/>
          <a:lstStyle/>
          <a:p>
            <a:r>
              <a:rPr lang="fr-FR" dirty="0"/>
              <a:t>Microsoft </a:t>
            </a:r>
            <a:r>
              <a:rPr lang="fr-FR" dirty="0" err="1"/>
              <a:t>Sql</a:t>
            </a:r>
            <a:r>
              <a:rPr lang="fr-FR" dirty="0"/>
              <a:t> Server, Oracle, …</a:t>
            </a:r>
          </a:p>
          <a:p>
            <a:r>
              <a:rPr lang="fr-FR" dirty="0"/>
              <a:t>Avantages</a:t>
            </a:r>
          </a:p>
          <a:p>
            <a:pPr lvl="1"/>
            <a:r>
              <a:rPr lang="fr-FR" dirty="0"/>
              <a:t>Intégration forte à la BD, peu de code</a:t>
            </a:r>
          </a:p>
          <a:p>
            <a:r>
              <a:rPr lang="fr-FR" dirty="0"/>
              <a:t>Défauts</a:t>
            </a:r>
          </a:p>
          <a:p>
            <a:pPr lvl="1"/>
            <a:r>
              <a:rPr lang="fr-FR" dirty="0"/>
              <a:t>Propriétaire</a:t>
            </a:r>
          </a:p>
        </p:txBody>
      </p:sp>
    </p:spTree>
    <p:extLst>
      <p:ext uri="{BB962C8B-B14F-4D97-AF65-F5344CB8AC3E}">
        <p14:creationId xmlns:p14="http://schemas.microsoft.com/office/powerpoint/2010/main" val="25846740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250080-8AB9-B5DB-3DED-DA5DDE1341BF}"/>
              </a:ext>
            </a:extLst>
          </p:cNvPr>
          <p:cNvSpPr>
            <a:spLocks noGrp="1"/>
          </p:cNvSpPr>
          <p:nvPr>
            <p:ph type="title"/>
          </p:nvPr>
        </p:nvSpPr>
        <p:spPr/>
        <p:txBody>
          <a:bodyPr/>
          <a:lstStyle/>
          <a:p>
            <a:r>
              <a:rPr lang="fr-FR" dirty="0"/>
              <a:t>Full code</a:t>
            </a:r>
          </a:p>
        </p:txBody>
      </p:sp>
      <p:sp>
        <p:nvSpPr>
          <p:cNvPr id="3" name="Espace réservé du contenu 2">
            <a:extLst>
              <a:ext uri="{FF2B5EF4-FFF2-40B4-BE49-F238E27FC236}">
                <a16:creationId xmlns:a16="http://schemas.microsoft.com/office/drawing/2014/main" id="{B9B9BFD8-714C-0C61-EC8B-74B6AAED8EEF}"/>
              </a:ext>
            </a:extLst>
          </p:cNvPr>
          <p:cNvSpPr>
            <a:spLocks noGrp="1"/>
          </p:cNvSpPr>
          <p:nvPr>
            <p:ph idx="1"/>
          </p:nvPr>
        </p:nvSpPr>
        <p:spPr/>
        <p:txBody>
          <a:bodyPr/>
          <a:lstStyle/>
          <a:p>
            <a:r>
              <a:rPr lang="fr-FR" dirty="0"/>
              <a:t>Programmé dans le lange de votre choix</a:t>
            </a:r>
          </a:p>
          <a:p>
            <a:pPr lvl="1"/>
            <a:r>
              <a:rPr lang="fr-FR" dirty="0"/>
              <a:t>Par exemple Python Pandas</a:t>
            </a:r>
          </a:p>
          <a:p>
            <a:r>
              <a:rPr lang="fr-FR" dirty="0"/>
              <a:t>Avantage</a:t>
            </a:r>
          </a:p>
          <a:p>
            <a:pPr lvl="1"/>
            <a:r>
              <a:rPr lang="fr-FR" dirty="0"/>
              <a:t>Très souple, interopérable</a:t>
            </a:r>
          </a:p>
          <a:p>
            <a:r>
              <a:rPr lang="fr-FR" dirty="0"/>
              <a:t>Défaut</a:t>
            </a:r>
          </a:p>
          <a:p>
            <a:pPr lvl="1"/>
            <a:r>
              <a:rPr lang="fr-FR" dirty="0"/>
              <a:t>Nécessite des compétences de programmation</a:t>
            </a:r>
          </a:p>
        </p:txBody>
      </p:sp>
    </p:spTree>
    <p:extLst>
      <p:ext uri="{BB962C8B-B14F-4D97-AF65-F5344CB8AC3E}">
        <p14:creationId xmlns:p14="http://schemas.microsoft.com/office/powerpoint/2010/main" val="1191708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24B2CC-4344-C6CC-8526-BE7D26027562}"/>
              </a:ext>
            </a:extLst>
          </p:cNvPr>
          <p:cNvSpPr>
            <a:spLocks noGrp="1"/>
          </p:cNvSpPr>
          <p:nvPr>
            <p:ph type="title"/>
          </p:nvPr>
        </p:nvSpPr>
        <p:spPr/>
        <p:txBody>
          <a:bodyPr/>
          <a:lstStyle/>
          <a:p>
            <a:r>
              <a:rPr lang="fr-FR" dirty="0"/>
              <a:t>API</a:t>
            </a:r>
          </a:p>
        </p:txBody>
      </p:sp>
      <p:sp>
        <p:nvSpPr>
          <p:cNvPr id="3" name="Espace réservé du contenu 2">
            <a:extLst>
              <a:ext uri="{FF2B5EF4-FFF2-40B4-BE49-F238E27FC236}">
                <a16:creationId xmlns:a16="http://schemas.microsoft.com/office/drawing/2014/main" id="{235694D3-4A80-7C01-8A13-782B6DFC07DD}"/>
              </a:ext>
            </a:extLst>
          </p:cNvPr>
          <p:cNvSpPr>
            <a:spLocks noGrp="1"/>
          </p:cNvSpPr>
          <p:nvPr>
            <p:ph idx="1"/>
          </p:nvPr>
        </p:nvSpPr>
        <p:spPr/>
        <p:txBody>
          <a:bodyPr/>
          <a:lstStyle/>
          <a:p>
            <a:r>
              <a:rPr lang="fr-FR" dirty="0"/>
              <a:t>Application </a:t>
            </a:r>
            <a:r>
              <a:rPr lang="fr-FR" dirty="0" err="1"/>
              <a:t>Programming</a:t>
            </a:r>
            <a:r>
              <a:rPr lang="fr-FR" dirty="0"/>
              <a:t> Interface</a:t>
            </a:r>
          </a:p>
          <a:p>
            <a:pPr lvl="1"/>
            <a:r>
              <a:rPr lang="fr-FR" dirty="0"/>
              <a:t>Permet d'accéder à une application par programmation</a:t>
            </a:r>
          </a:p>
          <a:p>
            <a:pPr lvl="1"/>
            <a:r>
              <a:rPr lang="fr-FR" dirty="0"/>
              <a:t>Orienté Service</a:t>
            </a:r>
          </a:p>
        </p:txBody>
      </p:sp>
      <p:pic>
        <p:nvPicPr>
          <p:cNvPr id="5" name="Image 4" descr="Une image contenant texte, capture d’écran, dessin humoristique, jauge&#10;&#10;Le contenu généré par l’IA peut être incorrect.">
            <a:extLst>
              <a:ext uri="{FF2B5EF4-FFF2-40B4-BE49-F238E27FC236}">
                <a16:creationId xmlns:a16="http://schemas.microsoft.com/office/drawing/2014/main" id="{9C0F15D0-FD6A-A41B-1E30-B40F9B5DC8C1}"/>
              </a:ext>
            </a:extLst>
          </p:cNvPr>
          <p:cNvPicPr>
            <a:picLocks noChangeAspect="1"/>
          </p:cNvPicPr>
          <p:nvPr/>
        </p:nvPicPr>
        <p:blipFill>
          <a:blip r:embed="rId2"/>
          <a:stretch>
            <a:fillRect/>
          </a:stretch>
        </p:blipFill>
        <p:spPr>
          <a:xfrm>
            <a:off x="2390534" y="3645024"/>
            <a:ext cx="4344006" cy="2448267"/>
          </a:xfrm>
          <a:prstGeom prst="rect">
            <a:avLst/>
          </a:prstGeom>
        </p:spPr>
      </p:pic>
    </p:spTree>
    <p:extLst>
      <p:ext uri="{BB962C8B-B14F-4D97-AF65-F5344CB8AC3E}">
        <p14:creationId xmlns:p14="http://schemas.microsoft.com/office/powerpoint/2010/main" val="489364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00C469-B588-4186-D637-99E356789D98}"/>
              </a:ext>
            </a:extLst>
          </p:cNvPr>
          <p:cNvSpPr>
            <a:spLocks noGrp="1"/>
          </p:cNvSpPr>
          <p:nvPr>
            <p:ph type="title"/>
          </p:nvPr>
        </p:nvSpPr>
        <p:spPr/>
        <p:txBody>
          <a:bodyPr/>
          <a:lstStyle/>
          <a:p>
            <a:r>
              <a:rPr lang="fr-FR" dirty="0"/>
              <a:t>TP</a:t>
            </a:r>
          </a:p>
        </p:txBody>
      </p:sp>
      <p:sp>
        <p:nvSpPr>
          <p:cNvPr id="3" name="Espace réservé du contenu 2">
            <a:extLst>
              <a:ext uri="{FF2B5EF4-FFF2-40B4-BE49-F238E27FC236}">
                <a16:creationId xmlns:a16="http://schemas.microsoft.com/office/drawing/2014/main" id="{169E147E-B6F1-7BD7-CD61-8FF820087257}"/>
              </a:ext>
            </a:extLst>
          </p:cNvPr>
          <p:cNvSpPr>
            <a:spLocks noGrp="1"/>
          </p:cNvSpPr>
          <p:nvPr>
            <p:ph idx="1"/>
          </p:nvPr>
        </p:nvSpPr>
        <p:spPr/>
        <p:txBody>
          <a:bodyPr/>
          <a:lstStyle/>
          <a:p>
            <a:r>
              <a:rPr lang="fr-FR" dirty="0"/>
              <a:t>Charger des données CSV en Python Pandas</a:t>
            </a:r>
          </a:p>
          <a:p>
            <a:r>
              <a:rPr lang="fr-FR" dirty="0"/>
              <a:t>Enregistrer dans SQLite</a:t>
            </a:r>
          </a:p>
          <a:p>
            <a:r>
              <a:rPr lang="fr-FR" dirty="0"/>
              <a:t>Démo d'une Web </a:t>
            </a:r>
            <a:r>
              <a:rPr lang="fr-FR"/>
              <a:t>API Flask</a:t>
            </a:r>
            <a:endParaRPr lang="fr-FR" dirty="0"/>
          </a:p>
        </p:txBody>
      </p:sp>
    </p:spTree>
    <p:extLst>
      <p:ext uri="{BB962C8B-B14F-4D97-AF65-F5344CB8AC3E}">
        <p14:creationId xmlns:p14="http://schemas.microsoft.com/office/powerpoint/2010/main" val="3506203612"/>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4895</TotalTime>
  <Words>692</Words>
  <Application>Microsoft Office PowerPoint</Application>
  <PresentationFormat>Affichage à l'écran (4:3)</PresentationFormat>
  <Paragraphs>68</Paragraphs>
  <Slides>17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Arial</vt:lpstr>
      <vt:lpstr>Monotype Sorts</vt:lpstr>
      <vt:lpstr>Times New Roman</vt:lpstr>
      <vt:lpstr>cvc</vt:lpstr>
      <vt:lpstr>Présentation PowerPoint</vt:lpstr>
      <vt:lpstr>Intégration et interopérabilité</vt:lpstr>
      <vt:lpstr>Définition</vt:lpstr>
      <vt:lpstr>Buts</vt:lpstr>
      <vt:lpstr>Architecture générale</vt:lpstr>
      <vt:lpstr>ETL</vt:lpstr>
      <vt:lpstr>Extract</vt:lpstr>
      <vt:lpstr>Transform</vt:lpstr>
      <vt:lpstr>Exemples de transformation</vt:lpstr>
      <vt:lpstr>Load</vt:lpstr>
      <vt:lpstr>ETL Flow</vt:lpstr>
      <vt:lpstr>Outils ETL</vt:lpstr>
      <vt:lpstr>Les logiciels d'ETL</vt:lpstr>
      <vt:lpstr>Les ETL liés aux BD</vt:lpstr>
      <vt:lpstr>Full code</vt:lpstr>
      <vt:lpstr>API</vt:lpstr>
      <vt:lpstr>TP</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257</cp:revision>
  <dcterms:created xsi:type="dcterms:W3CDTF">2000-04-10T19:33:12Z</dcterms:created>
  <dcterms:modified xsi:type="dcterms:W3CDTF">2025-12-30T11:12:25Z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